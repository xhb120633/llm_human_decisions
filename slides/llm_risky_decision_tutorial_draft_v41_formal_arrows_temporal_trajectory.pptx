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c0a295dd2a4380" /><Relationship Type="http://schemas.openxmlformats.org/officeDocument/2006/relationships/extended-properties" Target="/docProps/app.xml" Id="R5f21847ce045401f" /><Relationship Type="http://schemas.openxmlformats.org/officeDocument/2006/relationships/officeDocument" Target="/ppt/presentation.xml" Id="Rceca3caa087740ed" /></Relationships>
</file>

<file path=ppt/presentation.xml><?xml version="1.0" encoding="utf-8"?>
<p:presentation xmlns:p="http://schemas.openxmlformats.org/presentationml/2006/main">
  <p:sldMasterIdLst>
    <p:sldMasterId xmlns:r="http://schemas.openxmlformats.org/officeDocument/2006/relationships" id="2147483648" r:id="Reffa290b94a6447f"/>
  </p:sldMasterIdLst>
  <p:notesMasterIdLst>
    <p:notesMasterId xmlns:r="http://schemas.openxmlformats.org/officeDocument/2006/relationships" r:id="Rfbcfed04c34145ff"/>
  </p:notesMasterIdLst>
  <p:sldIdLst>
    <p:sldId xmlns:r="http://schemas.openxmlformats.org/officeDocument/2006/relationships" id="256" r:id="R0fe35069ffac422a"/>
    <p:sldId xmlns:r="http://schemas.openxmlformats.org/officeDocument/2006/relationships" id="257" r:id="Rc97410de66284370"/>
    <p:sldId xmlns:r="http://schemas.openxmlformats.org/officeDocument/2006/relationships" id="258" r:id="Rfc240d6c1a334b7a"/>
    <p:sldId xmlns:r="http://schemas.openxmlformats.org/officeDocument/2006/relationships" id="259" r:id="R0cd74def6f61404e"/>
    <p:sldId xmlns:r="http://schemas.openxmlformats.org/officeDocument/2006/relationships" id="260" r:id="R03cd6adcad4243e5"/>
    <p:sldId xmlns:r="http://schemas.openxmlformats.org/officeDocument/2006/relationships" id="261" r:id="R383f538193a74e7d"/>
    <p:sldId xmlns:r="http://schemas.openxmlformats.org/officeDocument/2006/relationships" id="262" r:id="R24143fc0f5a44933"/>
    <p:sldId xmlns:r="http://schemas.openxmlformats.org/officeDocument/2006/relationships" id="263" r:id="Rab8b4c20be1c434a"/>
    <p:sldId xmlns:r="http://schemas.openxmlformats.org/officeDocument/2006/relationships" id="264" r:id="Re911e59a147541e8"/>
    <p:sldId xmlns:r="http://schemas.openxmlformats.org/officeDocument/2006/relationships" id="265" r:id="R384d9285683941c5"/>
    <p:sldId xmlns:r="http://schemas.openxmlformats.org/officeDocument/2006/relationships" id="266" r:id="Rf213d0393c70473f"/>
    <p:sldId xmlns:r="http://schemas.openxmlformats.org/officeDocument/2006/relationships" id="267" r:id="R106be959aee34b3f"/>
    <p:sldId xmlns:r="http://schemas.openxmlformats.org/officeDocument/2006/relationships" id="268" r:id="R4350ff9b113f447b"/>
    <p:sldId xmlns:r="http://schemas.openxmlformats.org/officeDocument/2006/relationships" id="269" r:id="R3547cacb408f4457"/>
    <p:sldId xmlns:r="http://schemas.openxmlformats.org/officeDocument/2006/relationships" id="270" r:id="R8150d74c45fe4615"/>
    <p:sldId xmlns:r="http://schemas.openxmlformats.org/officeDocument/2006/relationships" id="271" r:id="R4924cbf6336e47de"/>
    <p:sldId xmlns:r="http://schemas.openxmlformats.org/officeDocument/2006/relationships" id="272" r:id="R75065142677547ee"/>
    <p:sldId xmlns:r="http://schemas.openxmlformats.org/officeDocument/2006/relationships" id="273" r:id="R2330277dd7794894"/>
    <p:sldId xmlns:r="http://schemas.openxmlformats.org/officeDocument/2006/relationships" id="274" r:id="R2f297ef52a864399"/>
    <p:sldId xmlns:r="http://schemas.openxmlformats.org/officeDocument/2006/relationships" id="275" r:id="Rde77323971da4fa0"/>
    <p:sldId xmlns:r="http://schemas.openxmlformats.org/officeDocument/2006/relationships" id="276" r:id="Rf3e8dcc4a9034b94"/>
    <p:sldId xmlns:r="http://schemas.openxmlformats.org/officeDocument/2006/relationships" id="277" r:id="Rb02f5fd2933742d9"/>
    <p:sldId xmlns:r="http://schemas.openxmlformats.org/officeDocument/2006/relationships" id="278" r:id="Rbb28c7327eb14f23"/>
    <p:sldId xmlns:r="http://schemas.openxmlformats.org/officeDocument/2006/relationships" id="279" r:id="R31eb2cda20d342ce"/>
    <p:sldId xmlns:r="http://schemas.openxmlformats.org/officeDocument/2006/relationships" id="280" r:id="R26016d7f3ab14157"/>
    <p:sldId xmlns:r="http://schemas.openxmlformats.org/officeDocument/2006/relationships" id="281" r:id="R439ec99f3e474534"/>
    <p:sldId xmlns:r="http://schemas.openxmlformats.org/officeDocument/2006/relationships" id="282" r:id="Rd3e64a5e17814277"/>
    <p:sldId xmlns:r="http://schemas.openxmlformats.org/officeDocument/2006/relationships" id="283" r:id="R49a5acaa648b4f91"/>
    <p:sldId xmlns:r="http://schemas.openxmlformats.org/officeDocument/2006/relationships" id="284" r:id="R06bf7123ef424f8a"/>
    <p:sldId xmlns:r="http://schemas.openxmlformats.org/officeDocument/2006/relationships" id="285" r:id="R389a073bac964503"/>
    <p:sldId xmlns:r="http://schemas.openxmlformats.org/officeDocument/2006/relationships" id="286" r:id="Ra358137b748b4cc2"/>
    <p:sldId xmlns:r="http://schemas.openxmlformats.org/officeDocument/2006/relationships" id="287" r:id="R34b73a69535e4e71"/>
    <p:sldId xmlns:r="http://schemas.openxmlformats.org/officeDocument/2006/relationships" id="288" r:id="R45a6a817703a4f6f"/>
    <p:sldId xmlns:r="http://schemas.openxmlformats.org/officeDocument/2006/relationships" id="289" r:id="R459d36f80f554e61"/>
    <p:sldId xmlns:r="http://schemas.openxmlformats.org/officeDocument/2006/relationships" id="290" r:id="Rae0317266edb41f9"/>
    <p:sldId xmlns:r="http://schemas.openxmlformats.org/officeDocument/2006/relationships" id="291" r:id="Rb2a908058ad0439c"/>
    <p:sldId xmlns:r="http://schemas.openxmlformats.org/officeDocument/2006/relationships" id="292" r:id="Rc6ef38e702d247d6"/>
    <p:sldId xmlns:r="http://schemas.openxmlformats.org/officeDocument/2006/relationships" id="293" r:id="R2d103d53ea5940f7"/>
    <p:sldId xmlns:r="http://schemas.openxmlformats.org/officeDocument/2006/relationships" id="294" r:id="Rcd7ae04b3fdc4697"/>
    <p:sldId xmlns:r="http://schemas.openxmlformats.org/officeDocument/2006/relationships" id="295" r:id="R0b1b245aa38d4a6e"/>
    <p:sldId xmlns:r="http://schemas.openxmlformats.org/officeDocument/2006/relationships" id="296" r:id="R697535b96c8c4031"/>
    <p:sldId xmlns:r="http://schemas.openxmlformats.org/officeDocument/2006/relationships" id="297" r:id="R09d2b6f626db42c8"/>
    <p:sldId xmlns:r="http://schemas.openxmlformats.org/officeDocument/2006/relationships" id="298" r:id="R98f61b73ec7e47f5"/>
    <p:sldId xmlns:r="http://schemas.openxmlformats.org/officeDocument/2006/relationships" id="299" r:id="R5534e81ba1ff4556"/>
    <p:sldId xmlns:r="http://schemas.openxmlformats.org/officeDocument/2006/relationships" id="300" r:id="R8c55f6040aef436e"/>
    <p:sldId xmlns:r="http://schemas.openxmlformats.org/officeDocument/2006/relationships" id="301" r:id="Rf132a3c24e634dca"/>
    <p:sldId xmlns:r="http://schemas.openxmlformats.org/officeDocument/2006/relationships" id="302" r:id="Rd3722ac4d07b4095"/>
    <p:sldId xmlns:r="http://schemas.openxmlformats.org/officeDocument/2006/relationships" id="303" r:id="R5c066914ddb048f5"/>
    <p:sldId xmlns:r="http://schemas.openxmlformats.org/officeDocument/2006/relationships" id="304" r:id="R503ce39853764c09"/>
    <p:sldId xmlns:r="http://schemas.openxmlformats.org/officeDocument/2006/relationships" id="305" r:id="Rfe8c635fe7564f27"/>
    <p:sldId xmlns:r="http://schemas.openxmlformats.org/officeDocument/2006/relationships" id="306" r:id="R1c9af6f7f4634ca8"/>
    <p:sldId xmlns:r="http://schemas.openxmlformats.org/officeDocument/2006/relationships" id="307" r:id="Rd62409db902b4447"/>
    <p:sldId xmlns:r="http://schemas.openxmlformats.org/officeDocument/2006/relationships" id="308" r:id="R2aba482088d64db8"/>
    <p:sldId xmlns:r="http://schemas.openxmlformats.org/officeDocument/2006/relationships" id="309" r:id="Rcf878a79022241d2"/>
    <p:sldId xmlns:r="http://schemas.openxmlformats.org/officeDocument/2006/relationships" id="310" r:id="R2e328e31f9b04cad"/>
    <p:sldId xmlns:r="http://schemas.openxmlformats.org/officeDocument/2006/relationships" id="311" r:id="Rad423f9ad67440e5"/>
    <p:sldId xmlns:r="http://schemas.openxmlformats.org/officeDocument/2006/relationships" id="312" r:id="R9d013826e62f471f"/>
    <p:sldId xmlns:r="http://schemas.openxmlformats.org/officeDocument/2006/relationships" id="313" r:id="Re228a2d83b4a4b0e"/>
    <p:sldId xmlns:r="http://schemas.openxmlformats.org/officeDocument/2006/relationships" id="314" r:id="R9ab6a28855b34e87"/>
    <p:sldId xmlns:r="http://schemas.openxmlformats.org/officeDocument/2006/relationships" id="315" r:id="R4caf40d333504c26"/>
    <p:sldId xmlns:r="http://schemas.openxmlformats.org/officeDocument/2006/relationships" id="316" r:id="R269a10c212a747fa"/>
    <p:sldId xmlns:r="http://schemas.openxmlformats.org/officeDocument/2006/relationships" id="317" r:id="R012df302887242f8"/>
    <p:sldId xmlns:r="http://schemas.openxmlformats.org/officeDocument/2006/relationships" id="318" r:id="R5ff5dd91ae8548c8"/>
    <p:sldId xmlns:r="http://schemas.openxmlformats.org/officeDocument/2006/relationships" id="319" r:id="R6501969aed414fdb"/>
    <p:sldId xmlns:r="http://schemas.openxmlformats.org/officeDocument/2006/relationships" id="320" r:id="R14e031918dbd4506"/>
    <p:sldId xmlns:r="http://schemas.openxmlformats.org/officeDocument/2006/relationships" id="321" r:id="R1d462dcdfc60492e"/>
    <p:sldId xmlns:r="http://schemas.openxmlformats.org/officeDocument/2006/relationships" id="322" r:id="R18e34e1c44e941ad"/>
    <p:sldId xmlns:r="http://schemas.openxmlformats.org/officeDocument/2006/relationships" id="323" r:id="R8d40583b864748e8"/>
    <p:sldId xmlns:r="http://schemas.openxmlformats.org/officeDocument/2006/relationships" id="324" r:id="Rc3819c447ff74bc8"/>
    <p:sldId xmlns:r="http://schemas.openxmlformats.org/officeDocument/2006/relationships" id="325" r:id="Rb9509a48e3fc46ed"/>
    <p:sldId xmlns:r="http://schemas.openxmlformats.org/officeDocument/2006/relationships" id="326" r:id="Rf3308d511eec4f03"/>
    <p:sldId xmlns:r="http://schemas.openxmlformats.org/officeDocument/2006/relationships" id="327" r:id="Re8be4c958b714fbb"/>
    <p:sldId xmlns:r="http://schemas.openxmlformats.org/officeDocument/2006/relationships" id="328" r:id="R22fa1db1088e4b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8b52ba9bad4b5d" /><Relationship Type="http://schemas.openxmlformats.org/officeDocument/2006/relationships/slideMaster" Target="/ppt/slideMasters/slideMaster1.xml" Id="Reffa290b94a6447f" /><Relationship Type="http://schemas.openxmlformats.org/officeDocument/2006/relationships/notesMaster" Target="/ppt/notesMasters/notesMaster1.xml" Id="Rfbcfed04c34145ff" /><Relationship Type="http://schemas.openxmlformats.org/officeDocument/2006/relationships/presProps" Target="/ppt/presProps.xml" Id="R5e6c5153e4dc43e1" /><Relationship Type="http://schemas.openxmlformats.org/officeDocument/2006/relationships/tableStyles" Target="/ppt/tableStyles.xml" Id="Rc9c3eaf01b574f05" /><Relationship Type="http://schemas.openxmlformats.org/officeDocument/2006/relationships/slide" Target="/ppt/slides/slide1.xml" Id="R0fe35069ffac422a" /><Relationship Type="http://schemas.openxmlformats.org/officeDocument/2006/relationships/slide" Target="/ppt/slides/slide2.xml" Id="Rc97410de66284370" /><Relationship Type="http://schemas.openxmlformats.org/officeDocument/2006/relationships/slide" Target="/ppt/slides/slide3.xml" Id="Rfc240d6c1a334b7a" /><Relationship Type="http://schemas.openxmlformats.org/officeDocument/2006/relationships/slide" Target="/ppt/slides/slide4.xml" Id="R0cd74def6f61404e" /><Relationship Type="http://schemas.openxmlformats.org/officeDocument/2006/relationships/slide" Target="/ppt/slides/slide5.xml" Id="R03cd6adcad4243e5" /><Relationship Type="http://schemas.openxmlformats.org/officeDocument/2006/relationships/slide" Target="/ppt/slides/slide6.xml" Id="R383f538193a74e7d" /><Relationship Type="http://schemas.openxmlformats.org/officeDocument/2006/relationships/slide" Target="/ppt/slides/slide7.xml" Id="R24143fc0f5a44933" /><Relationship Type="http://schemas.openxmlformats.org/officeDocument/2006/relationships/slide" Target="/ppt/slides/slide8.xml" Id="Rab8b4c20be1c434a" /><Relationship Type="http://schemas.openxmlformats.org/officeDocument/2006/relationships/slide" Target="/ppt/slides/slide9.xml" Id="Re911e59a147541e8" /><Relationship Type="http://schemas.openxmlformats.org/officeDocument/2006/relationships/slide" Target="/ppt/slides/slide10.xml" Id="R384d9285683941c5" /><Relationship Type="http://schemas.openxmlformats.org/officeDocument/2006/relationships/slide" Target="/ppt/slides/slide11.xml" Id="Rf213d0393c70473f" /><Relationship Type="http://schemas.openxmlformats.org/officeDocument/2006/relationships/slide" Target="/ppt/slides/slide12.xml" Id="R106be959aee34b3f" /><Relationship Type="http://schemas.openxmlformats.org/officeDocument/2006/relationships/slide" Target="/ppt/slides/slide13.xml" Id="R4350ff9b113f447b" /><Relationship Type="http://schemas.openxmlformats.org/officeDocument/2006/relationships/slide" Target="/ppt/slides/slide14.xml" Id="R3547cacb408f4457" /><Relationship Type="http://schemas.openxmlformats.org/officeDocument/2006/relationships/slide" Target="/ppt/slides/slide15.xml" Id="R8150d74c45fe4615" /><Relationship Type="http://schemas.openxmlformats.org/officeDocument/2006/relationships/slide" Target="/ppt/slides/slide16.xml" Id="R4924cbf6336e47de" /><Relationship Type="http://schemas.openxmlformats.org/officeDocument/2006/relationships/slide" Target="/ppt/slides/slide17.xml" Id="R75065142677547ee" /><Relationship Type="http://schemas.openxmlformats.org/officeDocument/2006/relationships/slide" Target="/ppt/slides/slide18.xml" Id="R2330277dd7794894" /><Relationship Type="http://schemas.openxmlformats.org/officeDocument/2006/relationships/slide" Target="/ppt/slides/slide19.xml" Id="R2f297ef52a864399" /><Relationship Type="http://schemas.openxmlformats.org/officeDocument/2006/relationships/slide" Target="/ppt/slides/slide20.xml" Id="Rde77323971da4fa0" /><Relationship Type="http://schemas.openxmlformats.org/officeDocument/2006/relationships/slide" Target="/ppt/slides/slide21.xml" Id="Rf3e8dcc4a9034b94" /><Relationship Type="http://schemas.openxmlformats.org/officeDocument/2006/relationships/slide" Target="/ppt/slides/slide22.xml" Id="Rb02f5fd2933742d9" /><Relationship Type="http://schemas.openxmlformats.org/officeDocument/2006/relationships/slide" Target="/ppt/slides/slide23.xml" Id="Rbb28c7327eb14f23" /><Relationship Type="http://schemas.openxmlformats.org/officeDocument/2006/relationships/slide" Target="/ppt/slides/slide24.xml" Id="R31eb2cda20d342ce" /><Relationship Type="http://schemas.openxmlformats.org/officeDocument/2006/relationships/slide" Target="/ppt/slides/slide25.xml" Id="R26016d7f3ab14157" /><Relationship Type="http://schemas.openxmlformats.org/officeDocument/2006/relationships/slide" Target="/ppt/slides/slide26.xml" Id="R439ec99f3e474534" /><Relationship Type="http://schemas.openxmlformats.org/officeDocument/2006/relationships/slide" Target="/ppt/slides/slide27.xml" Id="Rd3e64a5e17814277" /><Relationship Type="http://schemas.openxmlformats.org/officeDocument/2006/relationships/slide" Target="/ppt/slides/slide28.xml" Id="R49a5acaa648b4f91" /><Relationship Type="http://schemas.openxmlformats.org/officeDocument/2006/relationships/slide" Target="/ppt/slides/slide29.xml" Id="R06bf7123ef424f8a" /><Relationship Type="http://schemas.openxmlformats.org/officeDocument/2006/relationships/slide" Target="/ppt/slides/slide30.xml" Id="R389a073bac964503" /><Relationship Type="http://schemas.openxmlformats.org/officeDocument/2006/relationships/slide" Target="/ppt/slides/slide31.xml" Id="Ra358137b748b4cc2" /><Relationship Type="http://schemas.openxmlformats.org/officeDocument/2006/relationships/slide" Target="/ppt/slides/slide32.xml" Id="R34b73a69535e4e71" /><Relationship Type="http://schemas.openxmlformats.org/officeDocument/2006/relationships/slide" Target="/ppt/slides/slide33.xml" Id="R45a6a817703a4f6f" /><Relationship Type="http://schemas.openxmlformats.org/officeDocument/2006/relationships/slide" Target="/ppt/slides/slide34.xml" Id="R459d36f80f554e61" /><Relationship Type="http://schemas.openxmlformats.org/officeDocument/2006/relationships/slide" Target="/ppt/slides/slide35.xml" Id="Rae0317266edb41f9" /><Relationship Type="http://schemas.openxmlformats.org/officeDocument/2006/relationships/slide" Target="/ppt/slides/slide36.xml" Id="Rb2a908058ad0439c" /><Relationship Type="http://schemas.openxmlformats.org/officeDocument/2006/relationships/slide" Target="/ppt/slides/slide37.xml" Id="Rc6ef38e702d247d6" /><Relationship Type="http://schemas.openxmlformats.org/officeDocument/2006/relationships/slide" Target="/ppt/slides/slide38.xml" Id="R2d103d53ea5940f7" /><Relationship Type="http://schemas.openxmlformats.org/officeDocument/2006/relationships/slide" Target="/ppt/slides/slide39.xml" Id="Rcd7ae04b3fdc4697" /><Relationship Type="http://schemas.openxmlformats.org/officeDocument/2006/relationships/slide" Target="/ppt/slides/slide40.xml" Id="R0b1b245aa38d4a6e" /><Relationship Type="http://schemas.openxmlformats.org/officeDocument/2006/relationships/slide" Target="/ppt/slides/slide41.xml" Id="R697535b96c8c4031" /><Relationship Type="http://schemas.openxmlformats.org/officeDocument/2006/relationships/slide" Target="/ppt/slides/slide42.xml" Id="R09d2b6f626db42c8" /><Relationship Type="http://schemas.openxmlformats.org/officeDocument/2006/relationships/slide" Target="/ppt/slides/slide43.xml" Id="R98f61b73ec7e47f5" /><Relationship Type="http://schemas.openxmlformats.org/officeDocument/2006/relationships/slide" Target="/ppt/slides/slide44.xml" Id="R5534e81ba1ff4556" /><Relationship Type="http://schemas.openxmlformats.org/officeDocument/2006/relationships/slide" Target="/ppt/slides/slide45.xml" Id="R8c55f6040aef436e" /><Relationship Type="http://schemas.openxmlformats.org/officeDocument/2006/relationships/slide" Target="/ppt/slides/slide46.xml" Id="Rf132a3c24e634dca" /><Relationship Type="http://schemas.openxmlformats.org/officeDocument/2006/relationships/slide" Target="/ppt/slides/slide47.xml" Id="Rd3722ac4d07b4095" /><Relationship Type="http://schemas.openxmlformats.org/officeDocument/2006/relationships/slide" Target="/ppt/slides/slide48.xml" Id="R5c066914ddb048f5" /><Relationship Type="http://schemas.openxmlformats.org/officeDocument/2006/relationships/slide" Target="/ppt/slides/slide49.xml" Id="R503ce39853764c09" /><Relationship Type="http://schemas.openxmlformats.org/officeDocument/2006/relationships/slide" Target="/ppt/slides/slide50.xml" Id="Rfe8c635fe7564f27" /><Relationship Type="http://schemas.openxmlformats.org/officeDocument/2006/relationships/slide" Target="/ppt/slides/slide51.xml" Id="R1c9af6f7f4634ca8" /><Relationship Type="http://schemas.openxmlformats.org/officeDocument/2006/relationships/slide" Target="/ppt/slides/slide52.xml" Id="Rd62409db902b4447" /><Relationship Type="http://schemas.openxmlformats.org/officeDocument/2006/relationships/slide" Target="/ppt/slides/slide53.xml" Id="R2aba482088d64db8" /><Relationship Type="http://schemas.openxmlformats.org/officeDocument/2006/relationships/slide" Target="/ppt/slides/slide54.xml" Id="Rcf878a79022241d2" /><Relationship Type="http://schemas.openxmlformats.org/officeDocument/2006/relationships/slide" Target="/ppt/slides/slide55.xml" Id="R2e328e31f9b04cad" /><Relationship Type="http://schemas.openxmlformats.org/officeDocument/2006/relationships/slide" Target="/ppt/slides/slide56.xml" Id="Rad423f9ad67440e5" /><Relationship Type="http://schemas.openxmlformats.org/officeDocument/2006/relationships/slide" Target="/ppt/slides/slide57.xml" Id="R9d013826e62f471f" /><Relationship Type="http://schemas.openxmlformats.org/officeDocument/2006/relationships/slide" Target="/ppt/slides/slide58.xml" Id="Re228a2d83b4a4b0e" /><Relationship Type="http://schemas.openxmlformats.org/officeDocument/2006/relationships/slide" Target="/ppt/slides/slide59.xml" Id="R9ab6a28855b34e87" /><Relationship Type="http://schemas.openxmlformats.org/officeDocument/2006/relationships/slide" Target="/ppt/slides/slide60.xml" Id="R4caf40d333504c26" /><Relationship Type="http://schemas.openxmlformats.org/officeDocument/2006/relationships/slide" Target="/ppt/slides/slide61.xml" Id="R269a10c212a747fa" /><Relationship Type="http://schemas.openxmlformats.org/officeDocument/2006/relationships/slide" Target="/ppt/slides/slide62.xml" Id="R012df302887242f8" /><Relationship Type="http://schemas.openxmlformats.org/officeDocument/2006/relationships/slide" Target="/ppt/slides/slide63.xml" Id="R5ff5dd91ae8548c8" /><Relationship Type="http://schemas.openxmlformats.org/officeDocument/2006/relationships/slide" Target="/ppt/slides/slide64.xml" Id="R6501969aed414fdb" /><Relationship Type="http://schemas.openxmlformats.org/officeDocument/2006/relationships/slide" Target="/ppt/slides/slide65.xml" Id="R14e031918dbd4506" /><Relationship Type="http://schemas.openxmlformats.org/officeDocument/2006/relationships/slide" Target="/ppt/slides/slide66.xml" Id="R1d462dcdfc60492e" /><Relationship Type="http://schemas.openxmlformats.org/officeDocument/2006/relationships/slide" Target="/ppt/slides/slide67.xml" Id="R18e34e1c44e941ad" /><Relationship Type="http://schemas.openxmlformats.org/officeDocument/2006/relationships/slide" Target="/ppt/slides/slide68.xml" Id="R8d40583b864748e8" /><Relationship Type="http://schemas.openxmlformats.org/officeDocument/2006/relationships/slide" Target="/ppt/slides/slide69.xml" Id="Rc3819c447ff74bc8" /><Relationship Type="http://schemas.openxmlformats.org/officeDocument/2006/relationships/slide" Target="/ppt/slides/slide70.xml" Id="Rb9509a48e3fc46ed" /><Relationship Type="http://schemas.openxmlformats.org/officeDocument/2006/relationships/slide" Target="/ppt/slides/slide71.xml" Id="Rf3308d511eec4f03" /><Relationship Type="http://schemas.openxmlformats.org/officeDocument/2006/relationships/slide" Target="/ppt/slides/slide72.xml" Id="Re8be4c958b714fbb" /><Relationship Type="http://schemas.openxmlformats.org/officeDocument/2006/relationships/slide" Target="/ppt/slides/slide73.xml" Id="R22fa1db1088e4b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5b3746641c4f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a01cf4ab53468f" /><Relationship Type="http://schemas.openxmlformats.org/officeDocument/2006/relationships/notesMaster" Target="/ppt/notesMasters/notesMaster1.xml" Id="Re75cad1e5bd248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6d1a6685aa477c" /><Relationship Type="http://schemas.openxmlformats.org/officeDocument/2006/relationships/notesMaster" Target="/ppt/notesMasters/notesMaster1.xml" Id="R5ca4fe21ec864e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06efa2cc544e8e" /><Relationship Type="http://schemas.openxmlformats.org/officeDocument/2006/relationships/notesMaster" Target="/ppt/notesMasters/notesMaster1.xml" Id="R2c5ab419916742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bb699c144143d0" /><Relationship Type="http://schemas.openxmlformats.org/officeDocument/2006/relationships/notesMaster" Target="/ppt/notesMasters/notesMaster1.xml" Id="R1184efe9526d4e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42c5d24c0d483d" /><Relationship Type="http://schemas.openxmlformats.org/officeDocument/2006/relationships/notesMaster" Target="/ppt/notesMasters/notesMaster1.xml" Id="Rc367ac9afbf3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2a2bd95c5f4bbd" /><Relationship Type="http://schemas.openxmlformats.org/officeDocument/2006/relationships/notesMaster" Target="/ppt/notesMasters/notesMaster1.xml" Id="R937d12329f6c4f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e85f41feb54381" /><Relationship Type="http://schemas.openxmlformats.org/officeDocument/2006/relationships/notesMaster" Target="/ppt/notesMasters/notesMaster1.xml" Id="R1b9dde97e68349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90df8fbfc94026" /><Relationship Type="http://schemas.openxmlformats.org/officeDocument/2006/relationships/notesMaster" Target="/ppt/notesMasters/notesMaster1.xml" Id="Ra8b4b8910bf34f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48c99d4db94cbc" /><Relationship Type="http://schemas.openxmlformats.org/officeDocument/2006/relationships/notesMaster" Target="/ppt/notesMasters/notesMaster1.xml" Id="Rce8a2e90baa844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a1eac1865d40fc" /><Relationship Type="http://schemas.openxmlformats.org/officeDocument/2006/relationships/notesMaster" Target="/ppt/notesMasters/notesMaster1.xml" Id="R6960897fac854d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45c52487f04167" /><Relationship Type="http://schemas.openxmlformats.org/officeDocument/2006/relationships/notesMaster" Target="/ppt/notesMasters/notesMaster1.xml" Id="R5b52e004ca1543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7bb1a4eefc4a1e" /><Relationship Type="http://schemas.openxmlformats.org/officeDocument/2006/relationships/notesMaster" Target="/ppt/notesMasters/notesMaster1.xml" Id="R068177545a9c46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8b7d47cfee4605" /><Relationship Type="http://schemas.openxmlformats.org/officeDocument/2006/relationships/notesMaster" Target="/ppt/notesMasters/notesMaster1.xml" Id="R627ad7ac6e5c4d0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0f61e1793b459e" /><Relationship Type="http://schemas.openxmlformats.org/officeDocument/2006/relationships/notesMaster" Target="/ppt/notesMasters/notesMaster1.xml" Id="R058caa73c4584f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45965e75694e34" /><Relationship Type="http://schemas.openxmlformats.org/officeDocument/2006/relationships/notesMaster" Target="/ppt/notesMasters/notesMaster1.xml" Id="Rdb5bfbb62e2546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ce728063f524594" /><Relationship Type="http://schemas.openxmlformats.org/officeDocument/2006/relationships/notesMaster" Target="/ppt/notesMasters/notesMaster1.xml" Id="Ra339ae39b5d54b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4141d3a05a43c7" /><Relationship Type="http://schemas.openxmlformats.org/officeDocument/2006/relationships/notesMaster" Target="/ppt/notesMasters/notesMaster1.xml" Id="R7eba6086ecdb44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c5385174c74adb" /><Relationship Type="http://schemas.openxmlformats.org/officeDocument/2006/relationships/notesMaster" Target="/ppt/notesMasters/notesMaster1.xml" Id="R853633f5856940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69de5ec0ab141f2" /><Relationship Type="http://schemas.openxmlformats.org/officeDocument/2006/relationships/notesMaster" Target="/ppt/notesMasters/notesMaster1.xml" Id="R437d5bc426844b7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ceaf17e40449d4" /><Relationship Type="http://schemas.openxmlformats.org/officeDocument/2006/relationships/notesMaster" Target="/ppt/notesMasters/notesMaster1.xml" Id="Rf42b7fe354c140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aa6bc5119444f7d" /><Relationship Type="http://schemas.openxmlformats.org/officeDocument/2006/relationships/notesMaster" Target="/ppt/notesMasters/notesMaster1.xml" Id="R260df9b1ac75458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73755bd6b5481c" /><Relationship Type="http://schemas.openxmlformats.org/officeDocument/2006/relationships/notesMaster" Target="/ppt/notesMasters/notesMaster1.xml" Id="R4e3d38b2822447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13b73188a6493a" /><Relationship Type="http://schemas.openxmlformats.org/officeDocument/2006/relationships/notesMaster" Target="/ppt/notesMasters/notesMaster1.xml" Id="Ref4b5e6711bb45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504e9c3b4d64581" /><Relationship Type="http://schemas.openxmlformats.org/officeDocument/2006/relationships/notesMaster" Target="/ppt/notesMasters/notesMaster1.xml" Id="R84f5f9211df6439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5139855d2ef4796" /><Relationship Type="http://schemas.openxmlformats.org/officeDocument/2006/relationships/notesMaster" Target="/ppt/notesMasters/notesMaster1.xml" Id="R017b76243c844c7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2bc27adcf404cf9" /><Relationship Type="http://schemas.openxmlformats.org/officeDocument/2006/relationships/notesMaster" Target="/ppt/notesMasters/notesMaster1.xml" Id="R25a120857258457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f7f7bc0e7744284" /><Relationship Type="http://schemas.openxmlformats.org/officeDocument/2006/relationships/notesMaster" Target="/ppt/notesMasters/notesMaster1.xml" Id="Rd3aebe4daa27462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3d34ae039914a0d" /><Relationship Type="http://schemas.openxmlformats.org/officeDocument/2006/relationships/notesMaster" Target="/ppt/notesMasters/notesMaster1.xml" Id="R49847d5d451e4a8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096f52c3c14613" /><Relationship Type="http://schemas.openxmlformats.org/officeDocument/2006/relationships/notesMaster" Target="/ppt/notesMasters/notesMaster1.xml" Id="R87b384318f7748a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402fc28d63d47a4" /><Relationship Type="http://schemas.openxmlformats.org/officeDocument/2006/relationships/notesMaster" Target="/ppt/notesMasters/notesMaster1.xml" Id="R3d5439600bea488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c3fe50862924f57" /><Relationship Type="http://schemas.openxmlformats.org/officeDocument/2006/relationships/notesMaster" Target="/ppt/notesMasters/notesMaster1.xml" Id="Rb540f54cb25b416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17ab60040ee4f8c" /><Relationship Type="http://schemas.openxmlformats.org/officeDocument/2006/relationships/notesMaster" Target="/ppt/notesMasters/notesMaster1.xml" Id="R6ca60c652aee44c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d186169513549ff" /><Relationship Type="http://schemas.openxmlformats.org/officeDocument/2006/relationships/notesMaster" Target="/ppt/notesMasters/notesMaster1.xml" Id="Rb9d4d91d9fb6489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8df5457c1fc49ab" /><Relationship Type="http://schemas.openxmlformats.org/officeDocument/2006/relationships/notesMaster" Target="/ppt/notesMasters/notesMaster1.xml" Id="R285cbc528be8404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973fb0eb73642dc" /><Relationship Type="http://schemas.openxmlformats.org/officeDocument/2006/relationships/notesMaster" Target="/ppt/notesMasters/notesMaster1.xml" Id="R6c6de5d7d8ad4e2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b8c548af2b54666" /><Relationship Type="http://schemas.openxmlformats.org/officeDocument/2006/relationships/notesMaster" Target="/ppt/notesMasters/notesMaster1.xml" Id="R922effe8c029472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44797e2dd3a4015" /><Relationship Type="http://schemas.openxmlformats.org/officeDocument/2006/relationships/notesMaster" Target="/ppt/notesMasters/notesMaster1.xml" Id="Rdf5f5c2109b4469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c7d9b3b7ecf44ab" /><Relationship Type="http://schemas.openxmlformats.org/officeDocument/2006/relationships/notesMaster" Target="/ppt/notesMasters/notesMaster1.xml" Id="R9a1ac9bb375a4e0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a87602ffa514aab" /><Relationship Type="http://schemas.openxmlformats.org/officeDocument/2006/relationships/notesMaster" Target="/ppt/notesMasters/notesMaster1.xml" Id="R1177049e31b9481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bb3963557694a55" /><Relationship Type="http://schemas.openxmlformats.org/officeDocument/2006/relationships/notesMaster" Target="/ppt/notesMasters/notesMaster1.xml" Id="Rfe4e7a48de2649e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30c795b79d94ef0" /><Relationship Type="http://schemas.openxmlformats.org/officeDocument/2006/relationships/notesMaster" Target="/ppt/notesMasters/notesMaster1.xml" Id="R3575418c90d9490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0e4171c668844aa" /><Relationship Type="http://schemas.openxmlformats.org/officeDocument/2006/relationships/notesMaster" Target="/ppt/notesMasters/notesMaster1.xml" Id="Rb054e4c1dd4c47b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773385646e864d77" /><Relationship Type="http://schemas.openxmlformats.org/officeDocument/2006/relationships/notesMaster" Target="/ppt/notesMasters/notesMaster1.xml" Id="R3f24f71a79ee4de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9a3eda5cbba4bf1" /><Relationship Type="http://schemas.openxmlformats.org/officeDocument/2006/relationships/notesMaster" Target="/ppt/notesMasters/notesMaster1.xml" Id="Rf345bd5e724741d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f6d9cd103c342f4" /><Relationship Type="http://schemas.openxmlformats.org/officeDocument/2006/relationships/notesMaster" Target="/ppt/notesMasters/notesMaster1.xml" Id="R45231c63aa904c3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37534bfcd6c4888" /><Relationship Type="http://schemas.openxmlformats.org/officeDocument/2006/relationships/notesMaster" Target="/ppt/notesMasters/notesMaster1.xml" Id="R184eb7dd2555430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2f98cdb76774dbd" /><Relationship Type="http://schemas.openxmlformats.org/officeDocument/2006/relationships/notesMaster" Target="/ppt/notesMasters/notesMaster1.xml" Id="R37f6f54c5450451d"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ce208a8c14d4925" /><Relationship Type="http://schemas.openxmlformats.org/officeDocument/2006/relationships/notesMaster" Target="/ppt/notesMasters/notesMaster1.xml" Id="R59e3013e26684d0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21595d8c21e41fd" /><Relationship Type="http://schemas.openxmlformats.org/officeDocument/2006/relationships/notesMaster" Target="/ppt/notesMasters/notesMaster1.xml" Id="R0dfa926471b94c3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9801cccae5e4f47" /><Relationship Type="http://schemas.openxmlformats.org/officeDocument/2006/relationships/notesMaster" Target="/ppt/notesMasters/notesMaster1.xml" Id="R8db94c5067b54b2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590d4f3a19248cc" /><Relationship Type="http://schemas.openxmlformats.org/officeDocument/2006/relationships/notesMaster" Target="/ppt/notesMasters/notesMaster1.xml" Id="R7a3b9fa4be14445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e03721cf08244e6" /><Relationship Type="http://schemas.openxmlformats.org/officeDocument/2006/relationships/notesMaster" Target="/ppt/notesMasters/notesMaster1.xml" Id="R7746fbb9eb2d456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3ad047387394a62" /><Relationship Type="http://schemas.openxmlformats.org/officeDocument/2006/relationships/notesMaster" Target="/ppt/notesMasters/notesMaster1.xml" Id="R3adedb9acebc4e7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1a8ed0b9b09494a" /><Relationship Type="http://schemas.openxmlformats.org/officeDocument/2006/relationships/notesMaster" Target="/ppt/notesMasters/notesMaster1.xml" Id="R23d073f6a36c4a4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c79fd6897234d06" /><Relationship Type="http://schemas.openxmlformats.org/officeDocument/2006/relationships/notesMaster" Target="/ppt/notesMasters/notesMaster1.xml" Id="R5f3e55eb8cea446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e1df92ec21f44db" /><Relationship Type="http://schemas.openxmlformats.org/officeDocument/2006/relationships/notesMaster" Target="/ppt/notesMasters/notesMaster1.xml" Id="R8363bdf64fa64cc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01e28e1be8049e6" /><Relationship Type="http://schemas.openxmlformats.org/officeDocument/2006/relationships/notesMaster" Target="/ppt/notesMasters/notesMaster1.xml" Id="R0a24627320674e9c"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5ae0f8e686640c5" /><Relationship Type="http://schemas.openxmlformats.org/officeDocument/2006/relationships/notesMaster" Target="/ppt/notesMasters/notesMaster1.xml" Id="R025cf738188f430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5f59722d43d4e24" /><Relationship Type="http://schemas.openxmlformats.org/officeDocument/2006/relationships/notesMaster" Target="/ppt/notesMasters/notesMaster1.xml" Id="R7a5ffb41932447f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e31cd012fcc4fcf" /><Relationship Type="http://schemas.openxmlformats.org/officeDocument/2006/relationships/notesMaster" Target="/ppt/notesMasters/notesMaster1.xml" Id="R9f8a79b7864f4304"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db6ed53c9fc14deb" /><Relationship Type="http://schemas.openxmlformats.org/officeDocument/2006/relationships/notesMaster" Target="/ppt/notesMasters/notesMaster1.xml" Id="R42fa005fbccc439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c1ae0da2672e4db8" /><Relationship Type="http://schemas.openxmlformats.org/officeDocument/2006/relationships/notesMaster" Target="/ppt/notesMasters/notesMaster1.xml" Id="R204480664c2345c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0d8d31dca5343c1" /><Relationship Type="http://schemas.openxmlformats.org/officeDocument/2006/relationships/notesMaster" Target="/ppt/notesMasters/notesMaster1.xml" Id="R86b4a07cc84f48b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5de49463e244bcc" /><Relationship Type="http://schemas.openxmlformats.org/officeDocument/2006/relationships/notesMaster" Target="/ppt/notesMasters/notesMaster1.xml" Id="R79fbccf3de13433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fc905ca7e47747d6" /><Relationship Type="http://schemas.openxmlformats.org/officeDocument/2006/relationships/notesMaster" Target="/ppt/notesMasters/notesMaster1.xml" Id="Rc6eb71ebe32846d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5475081ad31e490e" /><Relationship Type="http://schemas.openxmlformats.org/officeDocument/2006/relationships/notesMaster" Target="/ppt/notesMasters/notesMaster1.xml" Id="R49d7dbc665f7413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cd65cf7006684ee8" /><Relationship Type="http://schemas.openxmlformats.org/officeDocument/2006/relationships/notesMaster" Target="/ppt/notesMasters/notesMaster1.xml" Id="R4691d0f6a4da419f"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eb1bf256ba3e4d5f" /><Relationship Type="http://schemas.openxmlformats.org/officeDocument/2006/relationships/notesMaster" Target="/ppt/notesMasters/notesMaster1.xml" Id="Raa95094b89ab41a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238066be1604964" /><Relationship Type="http://schemas.openxmlformats.org/officeDocument/2006/relationships/notesMaster" Target="/ppt/notesMasters/notesMaster1.xml" Id="R2990a8b0d381499f"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5778009646a41ba" /><Relationship Type="http://schemas.openxmlformats.org/officeDocument/2006/relationships/notesMaster" Target="/ppt/notesMasters/notesMaster1.xml" Id="Rb93c5532f1564398"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37026bf907d4746" /><Relationship Type="http://schemas.openxmlformats.org/officeDocument/2006/relationships/notesMaster" Target="/ppt/notesMasters/notesMaster1.xml" Id="Re38e786349e94526"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d43dbc57041a4d9c" /><Relationship Type="http://schemas.openxmlformats.org/officeDocument/2006/relationships/notesMaster" Target="/ppt/notesMasters/notesMaster1.xml" Id="R3e7d5cd9b6eb439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b99f49447fc342fe" /><Relationship Type="http://schemas.openxmlformats.org/officeDocument/2006/relationships/notesMaster" Target="/ppt/notesMasters/notesMaster1.xml" Id="Rce9452d33e5246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one running risky-choice example. The first half builds prediction step by step; the second half asks what improved prediction can support scientifically.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introduce the research program rather than giving a full biography.</a:t>
            </a:r>
          </a:p>
          <a:p xmlns:a="http://schemas.openxmlformats.org/drawingml/2006/main">
            <a:r>
              <a:t>The four papers motivate the tutorial's progression from prediction to explanation and model discovery.</a:t>
            </a:r>
          </a:p>
          <a:p xmlns:a="http://schemas.openxmlformats.org/drawingml/2006/main">
            <a:r>
              <a:t>[Sources]</a:t>
            </a:r>
          </a:p>
          <a:p xmlns:a="http://schemas.openxmlformats.org/drawingml/2006/main">
            <a:r>
              <a:t>- https://openreview.net/forum?id=coJPBEZ9Te</a:t>
            </a:r>
          </a:p>
          <a:p xmlns:a="http://schemas.openxmlformats.org/drawingml/2006/main">
            <a:r>
              <a:t>- https://arxiv.org/abs/2605.05091 (conference status: CCN 2026, confirmed by the presenter)</a:t>
            </a:r>
          </a:p>
          <a:p xmlns:a="http://schemas.openxmlformats.org/drawingml/2006/main">
            <a:r>
              <a:t>- https://openreview.net/forum?id=1Tny4KgGO2</a:t>
            </a:r>
          </a:p>
          <a:p xmlns:a="http://schemas.openxmlformats.org/drawingml/2006/main">
            <a:r>
              <a:t>- https://openreview.net/forum?id=fEoemPDicz</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a quick vote. Keep the choice visible as the running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conceptual map for the entire tutorial.</a:t>
            </a:r>
          </a:p>
          <a:p xmlns:a="http://schemas.openxmlformats.org/drawingml/2006/main">
            <a:r>
              <a:t>Each level supports a stronger scientific claim and therefore needs stronger evidence.</a:t>
            </a:r>
          </a:p>
          <a:p xmlns:a="http://schemas.openxmlformats.org/drawingml/2006/main">
            <a:r>
              <a:t>Prediction supplies a disciplined starting point; representation, explanation, and mechanism require additional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P025 is an anonymized participant in the bundled public teaching slice. Trial 21 stays fixed through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1.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after the forward data flow. Advance once to reveal how generation repeats the same prediction step.</a:t>
            </a:r>
          </a:p>
          <a:p xmlns:a="http://schemas.openxmlformats.org/drawingml/2006/main">
            <a:r>
              <a:t>Treat the model blocks as a black box here; the teaching goal is the data flow, not Transformer internals.</a:t>
            </a:r>
          </a:p>
          <a:p xmlns:a="http://schemas.openxmlformats.org/drawingml/2006/main">
            <a:r>
              <a:t>[Sources]</a:t>
            </a:r>
          </a:p>
          <a:p xmlns:a="http://schemas.openxmlformats.org/drawingml/2006/main">
            <a:r>
              <a:t>- Vaswani et al. (2017), Attention Is All You Need.</a:t>
            </a:r>
          </a:p>
          <a:p xmlns:a="http://schemas.openxmlformats.org/drawingml/2006/main">
            <a:r>
              <a:t>- Holtzman et al. (2020), The Curious Case of Neural Text Degeneration.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build reveals the autoregressive generation routine.</a:t>
            </a:r>
          </a:p>
          <a:p xmlns:a="http://schemas.openxmlformats.org/drawingml/2006/main">
            <a:r>
              <a:t>Treat the model blocks as a black box here; the teaching goal is the data flow, not Transformer internals.</a:t>
            </a:r>
          </a:p>
          <a:p xmlns:a="http://schemas.openxmlformats.org/drawingml/2006/main">
            <a:r>
              <a:t>[Sources]</a:t>
            </a:r>
          </a:p>
          <a:p xmlns:a="http://schemas.openxmlformats.org/drawingml/2006/main">
            <a:r>
              <a:t>- Vaswani et al. (2017), Attention Is All You Need.</a:t>
            </a:r>
          </a:p>
          <a:p xmlns:a="http://schemas.openxmlformats.org/drawingml/2006/main">
            <a:r>
              <a:t>- Holtzman et al. (2020), The Curious Case of Neural Text Degeneration.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tokenization is model-specific. Do not imply that the illustrative pieces are DeepSeek's exact output.</a:t>
            </a:r>
          </a:p>
          <a:p xmlns:a="http://schemas.openxmlformats.org/drawingml/2006/main">
            <a:r>
              <a:t>Connect directly to later A/B probability extraction: a label that spans multiple tokens requires sequence probability rather than one next-token log probability.</a:t>
            </a:r>
          </a:p>
          <a:p xmlns:a="http://schemas.openxmlformats.org/drawingml/2006/main">
            <a:r>
              <a:t>[Sources]</a:t>
            </a:r>
          </a:p>
          <a:p xmlns:a="http://schemas.openxmlformats.org/drawingml/2006/main">
            <a:r>
              <a:t>- Sennrich, Haddow, &amp; Birch (2016), Neural Machine Translation of Rare Words with Subword Units. arXiv:1508.07909.</a:t>
            </a:r>
          </a:p>
          <a:p xmlns:a="http://schemas.openxmlformats.org/drawingml/2006/main">
            <a:r>
              <a:t>- Kudo &amp; Richardson (2018), SentencePiece. EMNLP 2018.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numbers in the vector are illustrative.</a:t>
            </a:r>
          </a:p>
          <a:p xmlns:a="http://schemas.openxmlformats.org/drawingml/2006/main">
            <a:r>
              <a:t>Clarify the distinction between the input embedding table here and later use of sentence embeddings as research features.</a:t>
            </a:r>
          </a:p>
          <a:p xmlns:a="http://schemas.openxmlformats.org/drawingml/2006/main">
            <a:r>
              <a:t>[Sources]</a:t>
            </a:r>
          </a:p>
          <a:p xmlns:a="http://schemas.openxmlformats.org/drawingml/2006/main">
            <a:r>
              <a:t>- Vaswani et al. (2017), Attention Is All You Need. arXiv:1706.03762.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attention and feed-forward layers at the black-box level. The instructional target is the residual stream as the evolving carrier of information.</a:t>
            </a:r>
          </a:p>
          <a:p xmlns:a="http://schemas.openxmlformats.org/drawingml/2006/main">
            <a:r>
              <a:t>Use the risky-choice connection verbally: later states can combine payoff, probability, task instruction, and participant history before producing next-token scores.</a:t>
            </a:r>
          </a:p>
          <a:p xmlns:a="http://schemas.openxmlformats.org/drawingml/2006/main">
            <a:r>
              <a:t>[Sources]</a:t>
            </a:r>
          </a:p>
          <a:p xmlns:a="http://schemas.openxmlformats.org/drawingml/2006/main">
            <a:r>
              <a:t>- Vaswani et al. (2017), Attention Is All You Need. arXiv:1706.03762.</a:t>
            </a:r>
          </a:p>
          <a:p xmlns:a="http://schemas.openxmlformats.org/drawingml/2006/main">
            <a:r>
              <a:t>- Elhage et al. (2021), A Mathematical Framework for Transformer Circuits.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this as an illustrative top-five model response. The values shown are from the live zero-shot call used in Notebook 1; tokens and values vary by model and prompt. The later probability slide keeps only the A and B label tokens and re-normalizes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the model scores and the procedure used to sample a completion.</a:t>
            </a:r>
          </a:p>
          <a:p xmlns:a="http://schemas.openxmlformats.org/drawingml/2006/main">
            <a:r>
              <a:t>Temperature probabilities are illustrative and rounded; they show the qualitative effect of applying different temperatures to a fixed logit vector.</a:t>
            </a:r>
          </a:p>
          <a:p xmlns:a="http://schemas.openxmlformats.org/drawingml/2006/main">
            <a:r>
              <a:t>Top-k and top-p truncate the candidate set before sampling. Penalties modify token scores based on prior output.</a:t>
            </a:r>
          </a:p>
          <a:p xmlns:a="http://schemas.openxmlformats.org/drawingml/2006/main">
            <a:r>
              <a:t>[Sources]</a:t>
            </a:r>
          </a:p>
          <a:p xmlns:a="http://schemas.openxmlformats.org/drawingml/2006/main">
            <a:r>
              <a:t>- Holtzman et al. (2020), The Curious Case of Neural Text Degeneration. ICLR 2020.</a:t>
            </a:r>
          </a:p>
          <a:p xmlns:a="http://schemas.openxmlformats.org/drawingml/2006/main">
            <a:r>
              <a:t>- Fan, Lewis, &amp; Dauphin (2018), Hierarchical Neural Story Generation. ACL 2018.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2.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current-trial baseline. Advance once to reveal personal history and parameter updating.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technique tests a different source of predictive information: option-level regularities, within-person adaptation, or task-level population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exact anonymized trial is used in Notebook 1. Keep the observed human choice hidden until after probability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the output interface is part of the measurement. The target is the next-token distribution, not a self-reported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choice-prediction study needs a fixed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1.</a:t>
            </a:r>
          </a:p>
          <a:p xmlns:a="http://schemas.openxmlformats.org/drawingml/2006/main">
            <a:r>
              <a:t>Resume the deck at: Map token surface forms to labels, then normalize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sampled label was B. For behavioral modeling, use argmax or the normalized probability, not one stochastic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measurement for one trial: prompt, label logprobs, normalized choice probability, held-out human choice, and loss.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call consumed a long reasoning budget. Treat trace length and final-answer completion as part of the model-calling protocol, not as hidden ground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conceptual bridge from a demonstration to behavioral modeling.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step 2: Test whether personal history reveals individual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different earlier trials from P025, not repeats of the target trial. The notebook varies history length across 0, 1, 2, 5, 10, and 20 earlier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2x2 matrix asks whether improvement depends on the participant identity and on correct trial-choice correspondence. The target trial and response remain held out in every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determines the personalization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1.</a:t>
            </a:r>
          </a:p>
          <a:p xmlns:a="http://schemas.openxmlformats.org/drawingml/2006/main">
            <a:r>
              <a:t>Resume the deck at: A first attempt produces a suspicious learning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failed pilot. The 87.5% B target slice conflicts with the A-heavy histories and motivates balancing before interpreting history length. The chart is generated directly from the six recorded mean log-loss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aggregate curve obscures heterogeneous trajectories. Each participant has eight fixed balanced targets. For non-zero history lengths, each point pools those targets across three independently selected balanced histories. Both panels are generated directly from the recorded data series.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step 3: Test whether training participants reveal task-level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Fine-tuning targets task-level choice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History and task training test different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Evaluate every method on the same held-out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next lever from the failure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bridge from prediction to representation and mechanism. Every candidate driver implies a different manipulation.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3.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two routes to separate behavioral equivalence from representational equivalence. Define representation functionally: information in a state that downstream computation can use. This does not yet imply interpretation or causality.
[Sources]
- Local tutorial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record from the local synthetic dataset, lightly reformatted for readability. Choice 0 corresponds to Option A. Be explicit that these are synthetic GPT-4 data, not human observations. For representation analysis, the action claim is masked as Option X and the persona label is withheld.
[Sources]
- notebooks/results/representation/text2decision_multiscale_log_trajectories/sentence_decision_states.csv, trial_row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argument in order: observations are available, a measurement model supplies the inferential bridge, and the result remains model-dependent. The final build specializes the argument to language and Qwen.
[Sources]
- Local tutorial framework.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argument in order: observations are available, a measurement model supplies the inferential bridge, and the result remains model-dependent. The final build specializes the argument to language and Qwen.
[Sources]
- Local tutorial framework.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exact record from the previous slide. The transformation is explicit: retain the task, question, and cumulative reasoning; hide the persona and replace the final A/B claim with Option X. The resulting state belongs to Qwen and is a model-dependent measurement of information expressed in the observed reasoning.
[Sources]
- scripts/extract_qwen35_sentence_states.py.
- notebooks/results/representation/text2decision_multiscale_log_trajectories/sentence_decision_states.csv, trial_row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Sentence 2 is not embedded by itself: its state includes the instruction, question, sentence 1, and sentence 2. Advance once to reveal the saved boundaries and layerwise state.
[Sources]
- docs/qwen35_sentence_states.md.
- scripts/extract_qwen35_sentence_states.py.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one evidence gate at a time. The choice probe asks whether the masked choice is linearly decodable from Qwen's final state at each layer. Standardization and logistic regression are fitted inside the training split, and complete questions are held out. A successful probe establishes accessibility, not mechanism or causal use.
[Sources]
- scripts/analyze_layerwise_choice_decoding.py.
- notebooks/results/representation/layerwise_choice_decoding_v2/layerwise_probe_report.json.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evidence gate. The masked reasoning is informative about choice. Layer 15 is selected because its linear readout generalizes best to held-out questions; it is not a universal decision layer.
[Sources]
- notebooks/results/representation/qwen35_choice_recovery/qwen35_bf16_choice_eval_report.json.
- notebooks/results/representation/layerwise_choice_decoding_v2/layerwise_probe_report.json.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cumulative rather than isolated sentence embeddings. Because the model is causal, each sentence-end state summarizes only the question and reasoning available so far.
[Sources]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embeds the exact PNG generated by the analysis script rather than reconstructing the MDS paths as a PowerPoint scatter chart. The left panel shows all 72 cumulative trajectories; the right panel shows the five persona averages. The orange star is the identical question-only onset. MDS is descriptive rather than a cognitive coordinate system, so the next slide validates separation in the original high-dimensional space.
[Sources]
- notebooks/results/representation/sentence_trajectories_q04/Q04_sentence_trajectories.png.
- notebooks/results/representation/sentence_trajectories_q04/Q04_trajectory_report.json.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now performs two jobs that belong together. First, validate the preceding MDS visualization in the original layer-15 state space. Second, state the unresolved interpretive problem: distance reveals separation but not decision semantics. This creates the need for Text2Decision without repeating the divergence claim on a separate slide.
[Sources]
- notebooks/results/representation/sentence_trajectories_q04/Q04_trajectory_report.json.
- scripts/prepare_c13k_text2decision.py.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build contains only the supervised training contract. Advance once to reveal the out-of-domain transfer to cumulative reasoning states.
[Sources]
- scripts/train_qwen_text2decision.py.
- artifacts/text2decision/qwen35_layer15_text2decision_multiscale_log/training_report.json.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performance on the held-out problem split, not the training set. Every target reaches test R2 above 0.879 and the mean is 0.949. This establishes that the readout performs its training task. It does not yet validate applying the map to GPT-4 reasoning states.
[Sources]
- artifacts/text2decision/qwen35_layer15_text2decision_multiscale_log/training_report.json.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persona's endpoint change after subtracting the question-by-progress mean, so comparisons are within the same decision problem and stage. Risk-seeking has strong positive changes in maximum gain, minimum gain, and entropy. Outcome-focused and risk-averse partly emphasize loss-related coordinates. Rational and probability-weighted do not cleanly reduce to their labels. Treat this as an exploratory semantic signature rather than a recovered mechanism.
[Sources]
- notebooks/results/representation/text2decision_multiscale_log_trajectories/persona_dimension_trends/persona_dimension_endpoint.csv.
- notebooks/results/representation/text2decision_multiscale_log_trajectories/persona_dimension_trends/persona_dimension_report.json.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external test for the interpreted representation. The 12-dimensional state contains cross-question choice information. The simple distance to isolated option anchors is weak, so do not interpret the trajectory as moving directly toward A or B.
[Sources]
- notebooks/results/representation/text2decision_multiscale_log_trajectories/choice_prediction_by_progress.csv.
- notebooks/results/representation/text2decision_multiscale_log_trajectories/analysis_report.json.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2.</a:t>
            </a:r>
          </a:p>
          <a:p xmlns:a="http://schemas.openxmlformats.org/drawingml/2006/main">
            <a:r>
              <a:t>Resume the deck at: Next: turn representational hypotheses into discriminative explanations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4.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explanation is another observation channel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one record. The final preference statement is excluded before downstream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codebook separates information, operations, and evidential role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transparent lexical codebook recovers persona information above chance across held-out questions. The persona prompt is known only because this is synthetic validation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Continuous states and discrete annotations test each 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one optional bridge from validated annotation to a bounded model specification. Discovery can instead begin from behavior or prior theory. In the offline result, the annotation-guided option model did not outperform EV-only.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readouts hold out entire questions. Explicit preference claims were removed before annotation. This is predictive evidence, not causal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the boundary explicitly. Annotation converts reports into testable variables. Model discovery searches over executable accounts and may begin from behavior, theory, process data, or interventions. Notebook 3 demonstrates an annotation-guided route, not a required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hybrid is only one candidate. The scientific value comes from choosing a trial on which surviving executable accounts disagree.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surrogate lesson, but express it with two task regions rather than a decorative hand-drawn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level of success before running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Notebook 3 demonstrates one annotation-guided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explicitly to the opening vote and show how each later question was motivated.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four practical rules that map directly onto the tutorial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final minutes for discussion and application to participants' own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0c915b7d0c45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a8df80590442fd" /><Relationship Type="http://schemas.openxmlformats.org/officeDocument/2006/relationships/slideLayout" Target="/ppt/slideLayouts/slideLayout1.xml" Id="Rc9f8b28c3d074c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f8b28c3d074c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f2d70af19c4448" /><Relationship Type="http://schemas.openxmlformats.org/officeDocument/2006/relationships/notesSlide" Target="/ppt/notesSlides/notesSlide1.xml" Id="Rb515aa2aec1848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c2058a32394b42" /><Relationship Type="http://schemas.openxmlformats.org/officeDocument/2006/relationships/notesSlide" Target="/ppt/notesSlides/notesSlide2.xml" Id="R235ba286eacf47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c04a610716a40d8" /><Relationship Type="http://schemas.openxmlformats.org/officeDocument/2006/relationships/notesSlide" Target="/ppt/notesSlides/notesSlide3.xml" Id="R0b4c4e9f399d47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0ab7cebd52444a" /><Relationship Type="http://schemas.openxmlformats.org/officeDocument/2006/relationships/notesSlide" Target="/ppt/notesSlides/notesSlide4.xml" Id="Ra78349b9813241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3df0f9e34f459c" /><Relationship Type="http://schemas.openxmlformats.org/officeDocument/2006/relationships/notesSlide" Target="/ppt/notesSlides/notesSlide5.xml" Id="Rf34f86cb712049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a5dc0667fe442a" /><Relationship Type="http://schemas.openxmlformats.org/officeDocument/2006/relationships/notesSlide" Target="/ppt/notesSlides/notesSlide6.xml" Id="R242a5d841f5249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2a1087fc99418b" /><Relationship Type="http://schemas.openxmlformats.org/officeDocument/2006/relationships/notesSlide" Target="/ppt/notesSlides/notesSlide7.xml" Id="Rc8f51ff24e6346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1bf7b9cc3a4d39" /><Relationship Type="http://schemas.openxmlformats.org/officeDocument/2006/relationships/notesSlide" Target="/ppt/notesSlides/notesSlide8.xml" Id="R014f3ee56e7944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dd61ea9b34444d" /><Relationship Type="http://schemas.openxmlformats.org/officeDocument/2006/relationships/notesSlide" Target="/ppt/notesSlides/notesSlide9.xml" Id="Rc50d3e7a9b2d45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c1bb68762654274" /><Relationship Type="http://schemas.openxmlformats.org/officeDocument/2006/relationships/notesSlide" Target="/ppt/notesSlides/notesSlide10.xml" Id="Rf9e5347ec1f440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23a2176a9584607" /><Relationship Type="http://schemas.openxmlformats.org/officeDocument/2006/relationships/notesSlide" Target="/ppt/notesSlides/notesSlide11.xml" Id="R68c6f8c9033440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1b9951691d4481a" /><Relationship Type="http://schemas.openxmlformats.org/officeDocument/2006/relationships/notesSlide" Target="/ppt/notesSlides/notesSlide12.xml" Id="Rc989575eac35486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c29c0321014fb9" /><Relationship Type="http://schemas.openxmlformats.org/officeDocument/2006/relationships/notesSlide" Target="/ppt/notesSlides/notesSlide13.xml" Id="R065d02602a8d44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6c93ef25ff43dc" /><Relationship Type="http://schemas.openxmlformats.org/officeDocument/2006/relationships/notesSlide" Target="/ppt/notesSlides/notesSlide14.xml" Id="Ra9c51a9e27c847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aca064cea684fc9" /><Relationship Type="http://schemas.openxmlformats.org/officeDocument/2006/relationships/notesSlide" Target="/ppt/notesSlides/notesSlide15.xml" Id="Rade192508c6d45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03df59a42c54829" /><Relationship Type="http://schemas.openxmlformats.org/officeDocument/2006/relationships/notesSlide" Target="/ppt/notesSlides/notesSlide16.xml" Id="R373f074e091245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de917cb133e4f91" /><Relationship Type="http://schemas.openxmlformats.org/officeDocument/2006/relationships/notesSlide" Target="/ppt/notesSlides/notesSlide17.xml" Id="Rf36f472ac4c5451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6522d5435e14c08" /><Relationship Type="http://schemas.openxmlformats.org/officeDocument/2006/relationships/notesSlide" Target="/ppt/notesSlides/notesSlide18.xml" Id="Re69accdc3f78445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9ca1f2dd0a54993" /><Relationship Type="http://schemas.openxmlformats.org/officeDocument/2006/relationships/notesSlide" Target="/ppt/notesSlides/notesSlide19.xml" Id="Raac65a4b3ba148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217df0e64fa459f" /><Relationship Type="http://schemas.openxmlformats.org/officeDocument/2006/relationships/notesSlide" Target="/ppt/notesSlides/notesSlide20.xml" Id="R7b1caccd560b4f7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a31244f7ca745da" /><Relationship Type="http://schemas.openxmlformats.org/officeDocument/2006/relationships/notesSlide" Target="/ppt/notesSlides/notesSlide21.xml" Id="R7500911ad068425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278dfa7bd434dca" /><Relationship Type="http://schemas.openxmlformats.org/officeDocument/2006/relationships/notesSlide" Target="/ppt/notesSlides/notesSlide22.xml" Id="R265695c1b44d46e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44d442cc6f94c83" /><Relationship Type="http://schemas.openxmlformats.org/officeDocument/2006/relationships/notesSlide" Target="/ppt/notesSlides/notesSlide23.xml" Id="Rca1547676db54a2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c2edbc418af426a" /><Relationship Type="http://schemas.openxmlformats.org/officeDocument/2006/relationships/notesSlide" Target="/ppt/notesSlides/notesSlide24.xml" Id="R343b1d79c93e44d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437b75bc8d648a3" /><Relationship Type="http://schemas.openxmlformats.org/officeDocument/2006/relationships/notesSlide" Target="/ppt/notesSlides/notesSlide25.xml" Id="R37d5868935ac428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a28915dada44258" /><Relationship Type="http://schemas.openxmlformats.org/officeDocument/2006/relationships/notesSlide" Target="/ppt/notesSlides/notesSlide26.xml" Id="R43c1a68f8f6a42b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cd3da2ae9714ae0" /><Relationship Type="http://schemas.openxmlformats.org/officeDocument/2006/relationships/notesSlide" Target="/ppt/notesSlides/notesSlide27.xml" Id="R1fa881f624e1412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c3f43bbee704315" /><Relationship Type="http://schemas.openxmlformats.org/officeDocument/2006/relationships/notesSlide" Target="/ppt/notesSlides/notesSlide28.xml" Id="Rffce0565b8a2483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627a6ba233a40f3" /><Relationship Type="http://schemas.openxmlformats.org/officeDocument/2006/relationships/notesSlide" Target="/ppt/notesSlides/notesSlide29.xml" Id="R9b659771d6204e1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beea3bcff2d4765" /><Relationship Type="http://schemas.openxmlformats.org/officeDocument/2006/relationships/image" Target="/ppt/media/image.png" Id="R8c4e3bcd527e4fc3" /><Relationship Type="http://schemas.openxmlformats.org/officeDocument/2006/relationships/notesSlide" Target="/ppt/notesSlides/notesSlide30.xml" Id="R5250f3c3dfc94a8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ae6b70be68343ad" /><Relationship Type="http://schemas.openxmlformats.org/officeDocument/2006/relationships/image" Target="/ppt/media/image2.png" Id="Rea8dcec5c50c4e09" /><Relationship Type="http://schemas.openxmlformats.org/officeDocument/2006/relationships/image" Target="/ppt/media/image3.png" Id="Rdbc9db7d48c2445f" /><Relationship Type="http://schemas.openxmlformats.org/officeDocument/2006/relationships/notesSlide" Target="/ppt/notesSlides/notesSlide31.xml" Id="R948d79d1022043c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4c1b7b70e434d5e" /><Relationship Type="http://schemas.openxmlformats.org/officeDocument/2006/relationships/notesSlide" Target="/ppt/notesSlides/notesSlide32.xml" Id="Rb5b2139e09284ea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cb520cb92a84281" /><Relationship Type="http://schemas.openxmlformats.org/officeDocument/2006/relationships/notesSlide" Target="/ppt/notesSlides/notesSlide33.xml" Id="Ra64ef27257534e0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46d997e95da4920" /><Relationship Type="http://schemas.openxmlformats.org/officeDocument/2006/relationships/notesSlide" Target="/ppt/notesSlides/notesSlide34.xml" Id="Re3fbc05b4eed4b4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919803929e048c3" /><Relationship Type="http://schemas.openxmlformats.org/officeDocument/2006/relationships/notesSlide" Target="/ppt/notesSlides/notesSlide35.xml" Id="R0c108f8375d044f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3efc7d05c67485c" /><Relationship Type="http://schemas.openxmlformats.org/officeDocument/2006/relationships/notesSlide" Target="/ppt/notesSlides/notesSlide36.xml" Id="R2d2a9606dc43422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b221426d07b4665" /><Relationship Type="http://schemas.openxmlformats.org/officeDocument/2006/relationships/notesSlide" Target="/ppt/notesSlides/notesSlide37.xml" Id="R2741a3732f144e6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3698662add843b5" /><Relationship Type="http://schemas.openxmlformats.org/officeDocument/2006/relationships/notesSlide" Target="/ppt/notesSlides/notesSlide38.xml" Id="R40b794256589474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c2269fdc79747db" /><Relationship Type="http://schemas.openxmlformats.org/officeDocument/2006/relationships/notesSlide" Target="/ppt/notesSlides/notesSlide39.xml" Id="Rae29e591518048e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8f0468fac58f432a" /><Relationship Type="http://schemas.openxmlformats.org/officeDocument/2006/relationships/notesSlide" Target="/ppt/notesSlides/notesSlide40.xml" Id="Rab20ab7d3b6f4d9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1c953a5f4cb450b" /><Relationship Type="http://schemas.openxmlformats.org/officeDocument/2006/relationships/notesSlide" Target="/ppt/notesSlides/notesSlide41.xml" Id="R474bbae0b3364ff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4d6ecdb588342a3" /><Relationship Type="http://schemas.openxmlformats.org/officeDocument/2006/relationships/notesSlide" Target="/ppt/notesSlides/notesSlide42.xml" Id="R44a488a6c11e414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3b7587b54444186" /><Relationship Type="http://schemas.openxmlformats.org/officeDocument/2006/relationships/notesSlide" Target="/ppt/notesSlides/notesSlide43.xml" Id="Rb4c0419f9913444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f63e18bc61874fc7" /><Relationship Type="http://schemas.openxmlformats.org/officeDocument/2006/relationships/notesSlide" Target="/ppt/notesSlides/notesSlide44.xml" Id="R4b723065987e4b0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e21292e87be547f1" /><Relationship Type="http://schemas.openxmlformats.org/officeDocument/2006/relationships/notesSlide" Target="/ppt/notesSlides/notesSlide45.xml" Id="R428fb1c5f92a492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a62db0cd3bb44a1" /><Relationship Type="http://schemas.openxmlformats.org/officeDocument/2006/relationships/notesSlide" Target="/ppt/notesSlides/notesSlide46.xml" Id="R012ccd54edc746c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ff832d99b7b48f9" /><Relationship Type="http://schemas.openxmlformats.org/officeDocument/2006/relationships/image" Target="/ppt/media/image4.png" Id="Rd1de72f35d1241b1" /><Relationship Type="http://schemas.openxmlformats.org/officeDocument/2006/relationships/notesSlide" Target="/ppt/notesSlides/notesSlide47.xml" Id="Rc725cc8338fc4ba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d01cc99bd3940da" /><Relationship Type="http://schemas.openxmlformats.org/officeDocument/2006/relationships/notesSlide" Target="/ppt/notesSlides/notesSlide48.xml" Id="R49b83ae6f2734800"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01fe9467f7324521" /><Relationship Type="http://schemas.openxmlformats.org/officeDocument/2006/relationships/image" Target="/ppt/media/image5.png" Id="Refd2b4ddab5f4230" /><Relationship Type="http://schemas.openxmlformats.org/officeDocument/2006/relationships/notesSlide" Target="/ppt/notesSlides/notesSlide49.xml" Id="Rc561237b79dd44a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70ea791407b848d5" /><Relationship Type="http://schemas.openxmlformats.org/officeDocument/2006/relationships/image" Target="/ppt/media/image6.png" Id="Rc52fa107046547dd" /><Relationship Type="http://schemas.openxmlformats.org/officeDocument/2006/relationships/notesSlide" Target="/ppt/notesSlides/notesSlide50.xml" Id="Rb564e6483cb844a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adbfd9aaed24317" /><Relationship Type="http://schemas.openxmlformats.org/officeDocument/2006/relationships/notesSlide" Target="/ppt/notesSlides/notesSlide51.xml" Id="R5183ecaf5174422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8ce216d6432484e" /><Relationship Type="http://schemas.openxmlformats.org/officeDocument/2006/relationships/notesSlide" Target="/ppt/notesSlides/notesSlide52.xml" Id="Rf51ee7a8830f4b0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a0d80def4f14387" /><Relationship Type="http://schemas.openxmlformats.org/officeDocument/2006/relationships/notesSlide" Target="/ppt/notesSlides/notesSlide53.xml" Id="Ra1ae263736934d7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56be976cd7142df" /><Relationship Type="http://schemas.openxmlformats.org/officeDocument/2006/relationships/image" Target="/ppt/media/image7.png" Id="R0c9dafcb9cc547cf" /><Relationship Type="http://schemas.openxmlformats.org/officeDocument/2006/relationships/notesSlide" Target="/ppt/notesSlides/notesSlide54.xml" Id="R45b464f8c038403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d56e5fe0853b49fa" /><Relationship Type="http://schemas.openxmlformats.org/officeDocument/2006/relationships/notesSlide" Target="/ppt/notesSlides/notesSlide55.xml" Id="R38659c7fc45f4cb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47042c1f36d43a2" /><Relationship Type="http://schemas.openxmlformats.org/officeDocument/2006/relationships/notesSlide" Target="/ppt/notesSlides/notesSlide56.xml" Id="Re72b99dd4d3e44b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da6c71955f5471b" /><Relationship Type="http://schemas.openxmlformats.org/officeDocument/2006/relationships/notesSlide" Target="/ppt/notesSlides/notesSlide57.xml" Id="R90e17ae08e9c428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efeab622d5fe4fff" /><Relationship Type="http://schemas.openxmlformats.org/officeDocument/2006/relationships/notesSlide" Target="/ppt/notesSlides/notesSlide58.xml" Id="Rf324847fc695449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a561f1fc6bdc4fa4" /><Relationship Type="http://schemas.openxmlformats.org/officeDocument/2006/relationships/notesSlide" Target="/ppt/notesSlides/notesSlide59.xml" Id="R75364e4cb4e04a7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b6565b644f304c19" /><Relationship Type="http://schemas.openxmlformats.org/officeDocument/2006/relationships/notesSlide" Target="/ppt/notesSlides/notesSlide60.xml" Id="Refaffd178e1f46e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16acbaefeb2c4ecc" /><Relationship Type="http://schemas.openxmlformats.org/officeDocument/2006/relationships/notesSlide" Target="/ppt/notesSlides/notesSlide61.xml" Id="Rcd3ee9f0a95c449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f6dc464bb15e4805" /><Relationship Type="http://schemas.openxmlformats.org/officeDocument/2006/relationships/notesSlide" Target="/ppt/notesSlides/notesSlide62.xml" Id="R9bac0b37bc6d43e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75fb3c10359e45c0" /><Relationship Type="http://schemas.openxmlformats.org/officeDocument/2006/relationships/notesSlide" Target="/ppt/notesSlides/notesSlide63.xml" Id="R1adcef1d8d654a9f"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86627f99fc294c92" /><Relationship Type="http://schemas.openxmlformats.org/officeDocument/2006/relationships/notesSlide" Target="/ppt/notesSlides/notesSlide64.xml" Id="R8b018d857db34170"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a0f7d0b2ec8c430e" /><Relationship Type="http://schemas.openxmlformats.org/officeDocument/2006/relationships/notesSlide" Target="/ppt/notesSlides/notesSlide65.xml" Id="R81e1953cef8b494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f2ac4ab422db43a6" /><Relationship Type="http://schemas.openxmlformats.org/officeDocument/2006/relationships/notesSlide" Target="/ppt/notesSlides/notesSlide66.xml" Id="R7c749838ef2e4544"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6076231eb87d4ba1" /><Relationship Type="http://schemas.openxmlformats.org/officeDocument/2006/relationships/notesSlide" Target="/ppt/notesSlides/notesSlide67.xml" Id="R5837df3d64b84cb2"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4bfa37a2743b47cf" /><Relationship Type="http://schemas.openxmlformats.org/officeDocument/2006/relationships/notesSlide" Target="/ppt/notesSlides/notesSlide68.xml" Id="R7deb34dff8d44d5e"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f25024dedce74608" /><Relationship Type="http://schemas.openxmlformats.org/officeDocument/2006/relationships/notesSlide" Target="/ppt/notesSlides/notesSlide69.xml" Id="R2390b13eaf44457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1c5f8127c4da4aa9" /><Relationship Type="http://schemas.openxmlformats.org/officeDocument/2006/relationships/notesSlide" Target="/ppt/notesSlides/notesSlide70.xml" Id="R58591b29095b4fdc"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e19100a0d7f34ae7" /><Relationship Type="http://schemas.openxmlformats.org/officeDocument/2006/relationships/notesSlide" Target="/ppt/notesSlides/notesSlide71.xml" Id="R9933cf04d82a4e71"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223136e38b6b4ae3" /><Relationship Type="http://schemas.openxmlformats.org/officeDocument/2006/relationships/notesSlide" Target="/ppt/notesSlides/notesSlide72.xml" Id="R20710c95b0f648b1"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f0ec7ac4f68a4811" /><Relationship Type="http://schemas.openxmlformats.org/officeDocument/2006/relationships/notesSlide" Target="/ppt/notesSlides/notesSlide73.xml" Id="Rf53a26363b664c5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6C4E0C-A9CF-4548-8E37-9694590A78EA}"/>
              </a:ext>
            </a:extLst>
          </p:cNvPr>
          <p:cNvSpPr>
            <a:spLocks xmlns:a="http://schemas.openxmlformats.org/drawingml/2006/main" noGrp="1"/>
          </p:cNvSpPr>
          <p:nvPr/>
        </p:nvSpPr>
        <p:spPr>
          <a:xfrm xmlns:a="http://schemas.openxmlformats.org/drawingml/2006/main">
            <a:off x="800100" y="6477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Decision Neuroscience Summer School</a:t>
            </a:r>
          </a:p>
        </p:txBody>
      </p:sp>
      <p:sp>
        <p:nvSpPr>
          <p:cNvPr id="2" name="">
            <a:extLst xmlns:a="http://schemas.openxmlformats.org/drawingml/2006/main">
              <a:ext uri="{FF2B5EF4-FFF2-40B4-BE49-F238E27FC236}">
                <a16:creationId xmlns:a16="http://schemas.microsoft.com/office/drawing/2014/main" id="{5FF3E06D-9693-404A-973E-2D3785D6B920}"/>
              </a:ext>
            </a:extLst>
          </p:cNvPr>
          <p:cNvSpPr>
            <a:spLocks xmlns:a="http://schemas.openxmlformats.org/drawingml/2006/main" noGrp="1"/>
          </p:cNvSpPr>
          <p:nvPr/>
        </p:nvSpPr>
        <p:spPr>
          <a:xfrm xmlns:a="http://schemas.openxmlformats.org/drawingml/2006/main">
            <a:off x="9144000" y="6477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425" b="0" i="0">
                <a:solidFill>
                  <a:srgbClr val="667085"/>
                </a:solidFill>
                <a:latin typeface="Arial"/>
                <a:ea typeface="Arial"/>
                <a:cs typeface="Arial"/>
              </a:defRPr>
            </a:pPr>
            <a:r>
              <a:rPr sz="1425" b="0" i="0">
                <a:solidFill>
                  <a:srgbClr val="667085"/>
                </a:solidFill>
                <a:latin typeface="Arial"/>
                <a:ea typeface="Arial"/>
                <a:cs typeface="Arial"/>
              </a:rPr>
              <a:t>3-hour tutorial</a:t>
            </a:r>
          </a:p>
        </p:txBody>
      </p:sp>
      <p:sp>
        <p:nvSpPr>
          <p:cNvPr id="3" name="">
            <a:extLst xmlns:a="http://schemas.openxmlformats.org/drawingml/2006/main">
              <a:ext uri="{FF2B5EF4-FFF2-40B4-BE49-F238E27FC236}">
                <a16:creationId xmlns:a16="http://schemas.microsoft.com/office/drawing/2014/main" id="{F73ECEC6-923B-4584-B6AA-24833B291613}"/>
              </a:ext>
            </a:extLst>
          </p:cNvPr>
          <p:cNvSpPr>
            <a:spLocks xmlns:a="http://schemas.openxmlformats.org/drawingml/2006/main" noGrp="1"/>
          </p:cNvSpPr>
          <p:nvPr/>
        </p:nvSpPr>
        <p:spPr>
          <a:xfrm xmlns:a="http://schemas.openxmlformats.org/drawingml/2006/main">
            <a:off x="800100" y="1504950"/>
            <a:ext cx="105918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Using Large Language Models to Understand Human Decision-Making</a:t>
            </a:r>
          </a:p>
        </p:txBody>
      </p:sp>
      <p:sp>
        <p:nvSpPr>
          <p:cNvPr id="4" name="">
            <a:extLst xmlns:a="http://schemas.openxmlformats.org/drawingml/2006/main">
              <a:ext uri="{FF2B5EF4-FFF2-40B4-BE49-F238E27FC236}">
                <a16:creationId xmlns:a16="http://schemas.microsoft.com/office/drawing/2014/main" id="{D6D498AA-9E0D-4C11-B58F-B0278BD332E3}"/>
              </a:ext>
            </a:extLst>
          </p:cNvPr>
          <p:cNvSpPr>
            <a:spLocks xmlns:a="http://schemas.openxmlformats.org/drawingml/2006/main" noGrp="1"/>
          </p:cNvSpPr>
          <p:nvPr/>
        </p:nvSpPr>
        <p:spPr>
          <a:xfrm xmlns:a="http://schemas.openxmlformats.org/drawingml/2006/main">
            <a:off x="800100" y="3295650"/>
            <a:ext cx="12573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999A829-6B2A-461B-99FC-B76C9961129C}"/>
              </a:ext>
            </a:extLst>
          </p:cNvPr>
          <p:cNvSpPr>
            <a:spLocks xmlns:a="http://schemas.openxmlformats.org/drawingml/2006/main" noGrp="1"/>
          </p:cNvSpPr>
          <p:nvPr/>
        </p:nvSpPr>
        <p:spPr>
          <a:xfrm xmlns:a="http://schemas.openxmlformats.org/drawingml/2006/main">
            <a:off x="800100" y="36385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0" i="0">
                <a:solidFill>
                  <a:srgbClr val="283643"/>
                </a:solidFill>
                <a:latin typeface="Arial"/>
                <a:ea typeface="Arial"/>
                <a:cs typeface="Arial"/>
              </a:defRPr>
            </a:pPr>
            <a:r>
              <a:rPr sz="2175" b="0" i="0">
                <a:solidFill>
                  <a:srgbClr val="283643"/>
                </a:solidFill>
                <a:latin typeface="Arial"/>
                <a:ea typeface="Arial"/>
                <a:cs typeface="Arial"/>
              </a:rPr>
              <a:t>Prediction, representation, explanation, and model discovery</a:t>
            </a:r>
          </a:p>
        </p:txBody>
      </p:sp>
      <p:sp>
        <p:nvSpPr>
          <p:cNvPr id="6" name="">
            <a:extLst xmlns:a="http://schemas.openxmlformats.org/drawingml/2006/main">
              <a:ext uri="{FF2B5EF4-FFF2-40B4-BE49-F238E27FC236}">
                <a16:creationId xmlns:a16="http://schemas.microsoft.com/office/drawing/2014/main" id="{CD51EB1E-F2A8-4532-9931-0C849BD5D779}"/>
              </a:ext>
            </a:extLst>
          </p:cNvPr>
          <p:cNvSpPr>
            <a:spLocks xmlns:a="http://schemas.openxmlformats.org/drawingml/2006/main" noGrp="1"/>
          </p:cNvSpPr>
          <p:nvPr/>
        </p:nvSpPr>
        <p:spPr>
          <a:xfrm xmlns:a="http://schemas.openxmlformats.org/drawingml/2006/main">
            <a:off x="800100" y="51244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Hanbo Xie</a:t>
            </a:r>
          </a:p>
        </p:txBody>
      </p:sp>
      <p:sp>
        <p:nvSpPr>
          <p:cNvPr id="7" name="">
            <a:extLst xmlns:a="http://schemas.openxmlformats.org/drawingml/2006/main">
              <a:ext uri="{FF2B5EF4-FFF2-40B4-BE49-F238E27FC236}">
                <a16:creationId xmlns:a16="http://schemas.microsoft.com/office/drawing/2014/main" id="{FA7F4C8E-C001-4AA4-B086-2F36A902BF17}"/>
              </a:ext>
            </a:extLst>
          </p:cNvPr>
          <p:cNvSpPr>
            <a:spLocks xmlns:a="http://schemas.openxmlformats.org/drawingml/2006/main" noGrp="1"/>
          </p:cNvSpPr>
          <p:nvPr/>
        </p:nvSpPr>
        <p:spPr>
          <a:xfrm xmlns:a="http://schemas.openxmlformats.org/drawingml/2006/main">
            <a:off x="800100" y="55054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667085"/>
                </a:solidFill>
                <a:latin typeface="Arial"/>
                <a:ea typeface="Arial"/>
                <a:cs typeface="Arial"/>
              </a:defRPr>
            </a:pPr>
            <a:r>
              <a:rPr sz="1575" b="0" i="0">
                <a:solidFill>
                  <a:srgbClr val="667085"/>
                </a:solidFill>
                <a:latin typeface="Arial"/>
                <a:ea typeface="Arial"/>
                <a:cs typeface="Arial"/>
              </a:rPr>
              <a:t>Georgia Institute of Technology</a:t>
            </a:r>
          </a:p>
        </p:txBody>
      </p:sp>
    </p:spTree>
    <p:extLst>
      <p:ext uri="{BB962C8B-B14F-4D97-AF65-F5344CB8AC3E}">
        <p14:creationId xmlns:p14="http://schemas.microsoft.com/office/powerpoint/2010/main" val="18532705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BF3DADC-F5CA-44AE-96F2-1F0B77C034C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About me</a:t>
            </a:r>
          </a:p>
        </p:txBody>
      </p:sp>
      <p:sp>
        <p:nvSpPr>
          <p:cNvPr id="2" name="">
            <a:extLst xmlns:a="http://schemas.openxmlformats.org/drawingml/2006/main">
              <a:ext uri="{FF2B5EF4-FFF2-40B4-BE49-F238E27FC236}">
                <a16:creationId xmlns:a16="http://schemas.microsoft.com/office/drawing/2014/main" id="{22BF77A1-FBFF-4F5E-BADA-F0842E71DA0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D8B25B27-8F04-46B8-864D-9668571E2E6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ED63577-E1CF-45FF-AEF3-62AAD9C2495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A53C42E-AED0-41DE-92FC-DC398F738A0A}"/>
              </a:ext>
            </a:extLst>
          </p:cNvPr>
          <p:cNvSpPr>
            <a:spLocks xmlns:a="http://schemas.openxmlformats.org/drawingml/2006/main" noGrp="1"/>
          </p:cNvSpPr>
          <p:nvPr/>
        </p:nvSpPr>
        <p:spPr>
          <a:xfrm xmlns:a="http://schemas.openxmlformats.org/drawingml/2006/main">
            <a:off x="800100" y="213360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55"/>
          </a:bodyPr>
          <a:lstStyle xmlns:a="http://schemas.openxmlformats.org/drawingml/2006/main"/>
          <a:p xmlns:a="http://schemas.openxmlformats.org/drawingml/2006/main">
            <a:pPr algn="l">
              <a:lnSpc>
                <a:spcPct val="108000"/>
              </a:lnSpc>
              <a:buNone/>
              <a:defRPr sz="2550" b="1" i="0">
                <a:solidFill>
                  <a:srgbClr val="111827"/>
                </a:solidFill>
                <a:latin typeface="Arial"/>
                <a:ea typeface="Arial"/>
                <a:cs typeface="Arial"/>
              </a:defRPr>
            </a:pPr>
            <a:r>
              <a:rPr sz="2550" b="1" i="0">
                <a:solidFill>
                  <a:srgbClr val="111827"/>
                </a:solidFill>
                <a:latin typeface="Arial"/>
                <a:ea typeface="Arial"/>
                <a:cs typeface="Arial"/>
              </a:rPr>
              <a:t>Hanbo Xie</a:t>
            </a:r>
          </a:p>
        </p:txBody>
      </p:sp>
      <p:sp>
        <p:nvSpPr>
          <p:cNvPr id="6" name="">
            <a:extLst xmlns:a="http://schemas.openxmlformats.org/drawingml/2006/main">
              <a:ext uri="{FF2B5EF4-FFF2-40B4-BE49-F238E27FC236}">
                <a16:creationId xmlns:a16="http://schemas.microsoft.com/office/drawing/2014/main" id="{697F5607-C181-4E85-BDCE-42A1C942EF51}"/>
              </a:ext>
            </a:extLst>
          </p:cNvPr>
          <p:cNvSpPr>
            <a:spLocks xmlns:a="http://schemas.openxmlformats.org/drawingml/2006/main" noGrp="1"/>
          </p:cNvSpPr>
          <p:nvPr/>
        </p:nvSpPr>
        <p:spPr>
          <a:xfrm xmlns:a="http://schemas.openxmlformats.org/drawingml/2006/main">
            <a:off x="800100" y="26479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667085"/>
                </a:solidFill>
                <a:latin typeface="Arial"/>
                <a:ea typeface="Arial"/>
                <a:cs typeface="Arial"/>
              </a:defRPr>
            </a:pPr>
            <a:r>
              <a:rPr sz="1650" b="0" i="0">
                <a:solidFill>
                  <a:srgbClr val="667085"/>
                </a:solidFill>
                <a:latin typeface="Arial"/>
                <a:ea typeface="Arial"/>
                <a:cs typeface="Arial"/>
              </a:rPr>
              <a:t>Georgia Institute of Technology</a:t>
            </a:r>
          </a:p>
        </p:txBody>
      </p:sp>
      <p:sp>
        <p:nvSpPr>
          <p:cNvPr id="7" name="">
            <a:extLst xmlns:a="http://schemas.openxmlformats.org/drawingml/2006/main">
              <a:ext uri="{FF2B5EF4-FFF2-40B4-BE49-F238E27FC236}">
                <a16:creationId xmlns:a16="http://schemas.microsoft.com/office/drawing/2014/main" id="{94B07C67-8A43-455E-AA82-A2AF3D8314BD}"/>
              </a:ext>
            </a:extLst>
          </p:cNvPr>
          <p:cNvSpPr>
            <a:spLocks xmlns:a="http://schemas.openxmlformats.org/drawingml/2006/main" noGrp="1"/>
          </p:cNvSpPr>
          <p:nvPr/>
        </p:nvSpPr>
        <p:spPr>
          <a:xfrm xmlns:a="http://schemas.openxmlformats.org/drawingml/2006/main">
            <a:off x="800100" y="3390900"/>
            <a:ext cx="4095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24"/>
          </a:bodyPr>
          <a:lstStyle xmlns:a="http://schemas.openxmlformats.org/drawingml/2006/main"/>
          <a:p xmlns:a="http://schemas.openxmlformats.org/drawingml/2006/main">
            <a:pPr algn="l">
              <a:lnSpc>
                <a:spcPct val="116000"/>
              </a:lnSpc>
              <a:buNone/>
              <a:defRPr sz="2025" b="0" i="0">
                <a:solidFill>
                  <a:srgbClr val="283643"/>
                </a:solidFill>
                <a:latin typeface="Arial"/>
                <a:ea typeface="Arial"/>
                <a:cs typeface="Arial"/>
              </a:defRPr>
            </a:pPr>
            <a:r>
              <a:rPr sz="2025" b="0" i="0">
                <a:solidFill>
                  <a:srgbClr val="283643"/>
                </a:solidFill>
                <a:latin typeface="Arial"/>
                <a:ea typeface="Arial"/>
                <a:cs typeface="Arial"/>
              </a:rPr>
              <a:t>I study how language models can help us predict, explain, and discover models of human decision-making.</a:t>
            </a:r>
          </a:p>
        </p:txBody>
      </p:sp>
      <p:sp>
        <p:nvSpPr>
          <p:cNvPr id="8" name="">
            <a:extLst xmlns:a="http://schemas.openxmlformats.org/drawingml/2006/main">
              <a:ext uri="{FF2B5EF4-FFF2-40B4-BE49-F238E27FC236}">
                <a16:creationId xmlns:a16="http://schemas.microsoft.com/office/drawing/2014/main" id="{0575FCE3-CF78-47D8-AC55-94FD1A8A10B2}"/>
              </a:ext>
            </a:extLst>
          </p:cNvPr>
          <p:cNvSpPr>
            <a:spLocks xmlns:a="http://schemas.openxmlformats.org/drawingml/2006/main" noGrp="1"/>
          </p:cNvSpPr>
          <p:nvPr/>
        </p:nvSpPr>
        <p:spPr>
          <a:xfrm xmlns:a="http://schemas.openxmlformats.org/drawingml/2006/main">
            <a:off x="800100" y="504825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Prediction  →  Explanation  →  Model discovery</a:t>
            </a:r>
          </a:p>
        </p:txBody>
      </p:sp>
      <p:sp>
        <p:nvSpPr>
          <p:cNvPr id="9" name="">
            <a:extLst xmlns:a="http://schemas.openxmlformats.org/drawingml/2006/main">
              <a:ext uri="{FF2B5EF4-FFF2-40B4-BE49-F238E27FC236}">
                <a16:creationId xmlns:a16="http://schemas.microsoft.com/office/drawing/2014/main" id="{059960FA-BD73-41F8-A1E3-661BA0FA6CAE}"/>
              </a:ext>
            </a:extLst>
          </p:cNvPr>
          <p:cNvSpPr>
            <a:spLocks xmlns:a="http://schemas.openxmlformats.org/drawingml/2006/main" noGrp="1"/>
          </p:cNvSpPr>
          <p:nvPr/>
        </p:nvSpPr>
        <p:spPr>
          <a:xfrm xmlns:a="http://schemas.openxmlformats.org/drawingml/2006/main">
            <a:off x="5391150" y="2038350"/>
            <a:ext cx="11906" cy="35814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003B56-ABAB-4B77-B419-5BCF06B68C2C}"/>
              </a:ext>
            </a:extLst>
          </p:cNvPr>
          <p:cNvSpPr>
            <a:spLocks xmlns:a="http://schemas.openxmlformats.org/drawingml/2006/main" noGrp="1"/>
          </p:cNvSpPr>
          <p:nvPr/>
        </p:nvSpPr>
        <p:spPr>
          <a:xfrm xmlns:a="http://schemas.openxmlformats.org/drawingml/2006/main">
            <a:off x="5905500" y="196215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111827"/>
                </a:solidFill>
                <a:latin typeface="Arial"/>
                <a:ea typeface="Arial"/>
                <a:cs typeface="Arial"/>
              </a:defRPr>
            </a:pPr>
            <a:r>
              <a:rPr sz="1950" b="1" i="0">
                <a:solidFill>
                  <a:srgbClr val="111827"/>
                </a:solidFill>
                <a:latin typeface="Arial"/>
                <a:ea typeface="Arial"/>
                <a:cs typeface="Arial"/>
              </a:rPr>
              <a:t>Selected work behind this tutorial</a:t>
            </a:r>
          </a:p>
        </p:txBody>
      </p:sp>
      <p:sp>
        <p:nvSpPr>
          <p:cNvPr id="11" name="">
            <a:extLst xmlns:a="http://schemas.openxmlformats.org/drawingml/2006/main">
              <a:ext uri="{FF2B5EF4-FFF2-40B4-BE49-F238E27FC236}">
                <a16:creationId xmlns:a16="http://schemas.microsoft.com/office/drawing/2014/main" id="{1053FA95-A696-494B-ADDE-8D9591406EC5}"/>
              </a:ext>
            </a:extLst>
          </p:cNvPr>
          <p:cNvSpPr>
            <a:spLocks xmlns:a="http://schemas.openxmlformats.org/drawingml/2006/main" noGrp="1"/>
          </p:cNvSpPr>
          <p:nvPr/>
        </p:nvSpPr>
        <p:spPr>
          <a:xfrm xmlns:a="http://schemas.openxmlformats.org/drawingml/2006/main">
            <a:off x="5905500" y="253365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ICLR 2026</a:t>
            </a:r>
          </a:p>
        </p:txBody>
      </p:sp>
      <p:sp>
        <p:nvSpPr>
          <p:cNvPr id="12" name="">
            <a:extLst xmlns:a="http://schemas.openxmlformats.org/drawingml/2006/main">
              <a:ext uri="{FF2B5EF4-FFF2-40B4-BE49-F238E27FC236}">
                <a16:creationId xmlns:a16="http://schemas.microsoft.com/office/drawing/2014/main" id="{EE565292-C4EC-4F16-82D3-BE93B8DC0BD1}"/>
              </a:ext>
            </a:extLst>
          </p:cNvPr>
          <p:cNvSpPr>
            <a:spLocks xmlns:a="http://schemas.openxmlformats.org/drawingml/2006/main" noGrp="1"/>
          </p:cNvSpPr>
          <p:nvPr/>
        </p:nvSpPr>
        <p:spPr>
          <a:xfrm xmlns:a="http://schemas.openxmlformats.org/drawingml/2006/main">
            <a:off x="8058150" y="2533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Zhu*, Xie* et al.</a:t>
            </a:r>
          </a:p>
        </p:txBody>
      </p:sp>
      <p:sp>
        <p:nvSpPr>
          <p:cNvPr id="13" name="">
            <a:extLst xmlns:a="http://schemas.openxmlformats.org/drawingml/2006/main">
              <a:ext uri="{FF2B5EF4-FFF2-40B4-BE49-F238E27FC236}">
                <a16:creationId xmlns:a16="http://schemas.microsoft.com/office/drawing/2014/main" id="{4CCA494D-2E39-4109-85E6-8145C6CB7460}"/>
              </a:ext>
            </a:extLst>
          </p:cNvPr>
          <p:cNvSpPr>
            <a:spLocks xmlns:a="http://schemas.openxmlformats.org/drawingml/2006/main" noGrp="1"/>
          </p:cNvSpPr>
          <p:nvPr/>
        </p:nvSpPr>
        <p:spPr>
          <a:xfrm xmlns:a="http://schemas.openxmlformats.org/drawingml/2006/main">
            <a:off x="5905500" y="27908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Using Reinforcement Learning to Train Large Language Models to Explain Human Decisions</a:t>
            </a:r>
          </a:p>
        </p:txBody>
      </p:sp>
      <p:sp>
        <p:nvSpPr>
          <p:cNvPr id="14" name="">
            <a:extLst xmlns:a="http://schemas.openxmlformats.org/drawingml/2006/main">
              <a:ext uri="{FF2B5EF4-FFF2-40B4-BE49-F238E27FC236}">
                <a16:creationId xmlns:a16="http://schemas.microsoft.com/office/drawing/2014/main" id="{4417B6C3-DA5D-4A10-9AE7-A046EDA4093B}"/>
              </a:ext>
            </a:extLst>
          </p:cNvPr>
          <p:cNvSpPr>
            <a:spLocks xmlns:a="http://schemas.openxmlformats.org/drawingml/2006/main" noGrp="1"/>
          </p:cNvSpPr>
          <p:nvPr/>
        </p:nvSpPr>
        <p:spPr>
          <a:xfrm xmlns:a="http://schemas.openxmlformats.org/drawingml/2006/main">
            <a:off x="5905500" y="331470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CCN 2026</a:t>
            </a:r>
          </a:p>
        </p:txBody>
      </p:sp>
      <p:sp>
        <p:nvSpPr>
          <p:cNvPr id="15" name="">
            <a:extLst xmlns:a="http://schemas.openxmlformats.org/drawingml/2006/main">
              <a:ext uri="{FF2B5EF4-FFF2-40B4-BE49-F238E27FC236}">
                <a16:creationId xmlns:a16="http://schemas.microsoft.com/office/drawing/2014/main" id="{4190A38A-0144-4DDC-A8D6-5E952042E82B}"/>
              </a:ext>
            </a:extLst>
          </p:cNvPr>
          <p:cNvSpPr>
            <a:spLocks xmlns:a="http://schemas.openxmlformats.org/drawingml/2006/main" noGrp="1"/>
          </p:cNvSpPr>
          <p:nvPr/>
        </p:nvSpPr>
        <p:spPr>
          <a:xfrm xmlns:a="http://schemas.openxmlformats.org/drawingml/2006/main">
            <a:off x="8058150" y="33147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et al.</a:t>
            </a:r>
          </a:p>
        </p:txBody>
      </p:sp>
      <p:sp>
        <p:nvSpPr>
          <p:cNvPr id="16" name="">
            <a:extLst xmlns:a="http://schemas.openxmlformats.org/drawingml/2006/main">
              <a:ext uri="{FF2B5EF4-FFF2-40B4-BE49-F238E27FC236}">
                <a16:creationId xmlns:a16="http://schemas.microsoft.com/office/drawing/2014/main" id="{049C8641-7B4D-4424-9597-4108185F0C3B}"/>
              </a:ext>
            </a:extLst>
          </p:cNvPr>
          <p:cNvSpPr>
            <a:spLocks xmlns:a="http://schemas.openxmlformats.org/drawingml/2006/main" noGrp="1"/>
          </p:cNvSpPr>
          <p:nvPr/>
        </p:nvSpPr>
        <p:spPr>
          <a:xfrm xmlns:a="http://schemas.openxmlformats.org/drawingml/2006/main">
            <a:off x="5905500" y="357187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Think-Aloud Reshapes Automated Cognitive Model Discovery Beyond Behavior</a:t>
            </a:r>
          </a:p>
        </p:txBody>
      </p:sp>
      <p:sp>
        <p:nvSpPr>
          <p:cNvPr id="17" name="">
            <a:extLst xmlns:a="http://schemas.openxmlformats.org/drawingml/2006/main">
              <a:ext uri="{FF2B5EF4-FFF2-40B4-BE49-F238E27FC236}">
                <a16:creationId xmlns:a16="http://schemas.microsoft.com/office/drawing/2014/main" id="{E738A46A-2F9A-48E4-8C47-81B55788FC11}"/>
              </a:ext>
            </a:extLst>
          </p:cNvPr>
          <p:cNvSpPr>
            <a:spLocks xmlns:a="http://schemas.openxmlformats.org/drawingml/2006/main" noGrp="1"/>
          </p:cNvSpPr>
          <p:nvPr/>
        </p:nvSpPr>
        <p:spPr>
          <a:xfrm xmlns:a="http://schemas.openxmlformats.org/drawingml/2006/main">
            <a:off x="5905500" y="409575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COLM 2024</a:t>
            </a:r>
          </a:p>
        </p:txBody>
      </p:sp>
      <p:sp>
        <p:nvSpPr>
          <p:cNvPr id="18" name="">
            <a:extLst xmlns:a="http://schemas.openxmlformats.org/drawingml/2006/main">
              <a:ext uri="{FF2B5EF4-FFF2-40B4-BE49-F238E27FC236}">
                <a16:creationId xmlns:a16="http://schemas.microsoft.com/office/drawing/2014/main" id="{6BBD47A1-9F28-4E8B-A225-A53DF61501E9}"/>
              </a:ext>
            </a:extLst>
          </p:cNvPr>
          <p:cNvSpPr>
            <a:spLocks xmlns:a="http://schemas.openxmlformats.org/drawingml/2006/main" noGrp="1"/>
          </p:cNvSpPr>
          <p:nvPr/>
        </p:nvSpPr>
        <p:spPr>
          <a:xfrm xmlns:a="http://schemas.openxmlformats.org/drawingml/2006/main">
            <a:off x="8058150" y="4095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et al.</a:t>
            </a:r>
          </a:p>
        </p:txBody>
      </p:sp>
      <p:sp>
        <p:nvSpPr>
          <p:cNvPr id="19" name="">
            <a:extLst xmlns:a="http://schemas.openxmlformats.org/drawingml/2006/main">
              <a:ext uri="{FF2B5EF4-FFF2-40B4-BE49-F238E27FC236}">
                <a16:creationId xmlns:a16="http://schemas.microsoft.com/office/drawing/2014/main" id="{E62335EC-B394-4E3E-89F8-E4EB6725084A}"/>
              </a:ext>
            </a:extLst>
          </p:cNvPr>
          <p:cNvSpPr>
            <a:spLocks xmlns:a="http://schemas.openxmlformats.org/drawingml/2006/main" noGrp="1"/>
          </p:cNvSpPr>
          <p:nvPr/>
        </p:nvSpPr>
        <p:spPr>
          <a:xfrm xmlns:a="http://schemas.openxmlformats.org/drawingml/2006/main">
            <a:off x="5905500" y="43529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From Strategic Narratives to Code-Like Cognitive Models</a:t>
            </a:r>
          </a:p>
        </p:txBody>
      </p:sp>
      <p:sp>
        <p:nvSpPr>
          <p:cNvPr id="20" name="">
            <a:extLst xmlns:a="http://schemas.openxmlformats.org/drawingml/2006/main">
              <a:ext uri="{FF2B5EF4-FFF2-40B4-BE49-F238E27FC236}">
                <a16:creationId xmlns:a16="http://schemas.microsoft.com/office/drawing/2014/main" id="{20B9B51E-A1DF-4022-89DD-21D8178FF7A6}"/>
              </a:ext>
            </a:extLst>
          </p:cNvPr>
          <p:cNvSpPr>
            <a:spLocks xmlns:a="http://schemas.openxmlformats.org/drawingml/2006/main" noGrp="1"/>
          </p:cNvSpPr>
          <p:nvPr/>
        </p:nvSpPr>
        <p:spPr>
          <a:xfrm xmlns:a="http://schemas.openxmlformats.org/drawingml/2006/main">
            <a:off x="5905500" y="487680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NeurIPS 2023 AI4Science</a:t>
            </a:r>
          </a:p>
        </p:txBody>
      </p:sp>
      <p:sp>
        <p:nvSpPr>
          <p:cNvPr id="21" name="">
            <a:extLst xmlns:a="http://schemas.openxmlformats.org/drawingml/2006/main">
              <a:ext uri="{FF2B5EF4-FFF2-40B4-BE49-F238E27FC236}">
                <a16:creationId xmlns:a16="http://schemas.microsoft.com/office/drawing/2014/main" id="{C1296EB4-1D5B-4416-B87B-432EA5611091}"/>
              </a:ext>
            </a:extLst>
          </p:cNvPr>
          <p:cNvSpPr>
            <a:spLocks xmlns:a="http://schemas.openxmlformats.org/drawingml/2006/main" noGrp="1"/>
          </p:cNvSpPr>
          <p:nvPr/>
        </p:nvSpPr>
        <p:spPr>
          <a:xfrm xmlns:a="http://schemas.openxmlformats.org/drawingml/2006/main">
            <a:off x="8058150" y="48768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Xiong, &amp; Wilson</a:t>
            </a:r>
          </a:p>
        </p:txBody>
      </p:sp>
      <p:sp>
        <p:nvSpPr>
          <p:cNvPr id="22" name="">
            <a:extLst xmlns:a="http://schemas.openxmlformats.org/drawingml/2006/main">
              <a:ext uri="{FF2B5EF4-FFF2-40B4-BE49-F238E27FC236}">
                <a16:creationId xmlns:a16="http://schemas.microsoft.com/office/drawing/2014/main" id="{E0246FEA-2C07-4A27-84B1-B49811F447E6}"/>
              </a:ext>
            </a:extLst>
          </p:cNvPr>
          <p:cNvSpPr>
            <a:spLocks xmlns:a="http://schemas.openxmlformats.org/drawingml/2006/main" noGrp="1"/>
          </p:cNvSpPr>
          <p:nvPr/>
        </p:nvSpPr>
        <p:spPr>
          <a:xfrm xmlns:a="http://schemas.openxmlformats.org/drawingml/2006/main">
            <a:off x="5905500" y="513397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Text2Decision: Decoding Latent Variables in Risky Decision Making from Think Aloud Text</a:t>
            </a:r>
          </a:p>
        </p:txBody>
      </p:sp>
    </p:spTree>
    <p:extLst>
      <p:ext uri="{BB962C8B-B14F-4D97-AF65-F5344CB8AC3E}">
        <p14:creationId xmlns:p14="http://schemas.microsoft.com/office/powerpoint/2010/main" val="20198242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05BE9A-91BA-4336-B029-7A00028576C9}"/>
              </a:ext>
            </a:extLst>
          </p:cNvPr>
          <p:cNvSpPr>
            <a:spLocks xmlns:a="http://schemas.openxmlformats.org/drawingml/2006/main" noGrp="1"/>
          </p:cNvSpPr>
          <p:nvPr/>
        </p:nvSpPr>
        <p:spPr>
          <a:xfrm xmlns:a="http://schemas.openxmlformats.org/drawingml/2006/main">
            <a:off x="1524000" y="8763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315F63"/>
                </a:solidFill>
                <a:latin typeface="Arial"/>
                <a:ea typeface="Arial"/>
                <a:cs typeface="Arial"/>
              </a:defRPr>
            </a:pPr>
            <a:r>
              <a:rPr sz="1050" b="1" i="0">
                <a:solidFill>
                  <a:srgbClr val="315F63"/>
                </a:solidFill>
                <a:latin typeface="Arial"/>
                <a:ea typeface="Arial"/>
                <a:cs typeface="Arial"/>
              </a:rPr>
              <a:t>OPENING QUESTION</a:t>
            </a:r>
          </a:p>
        </p:txBody>
      </p:sp>
      <p:sp>
        <p:nvSpPr>
          <p:cNvPr id="2" name="">
            <a:extLst xmlns:a="http://schemas.openxmlformats.org/drawingml/2006/main">
              <a:ext uri="{FF2B5EF4-FFF2-40B4-BE49-F238E27FC236}">
                <a16:creationId xmlns:a16="http://schemas.microsoft.com/office/drawing/2014/main" id="{46206875-80A6-4E31-A934-784DFEFF1CC8}"/>
              </a:ext>
            </a:extLst>
          </p:cNvPr>
          <p:cNvSpPr>
            <a:spLocks xmlns:a="http://schemas.openxmlformats.org/drawingml/2006/main" noGrp="1"/>
          </p:cNvSpPr>
          <p:nvPr/>
        </p:nvSpPr>
        <p:spPr>
          <a:xfrm xmlns:a="http://schemas.openxmlformats.org/drawingml/2006/main">
            <a:off x="1524000" y="1238250"/>
            <a:ext cx="9144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3" name="">
            <a:extLst xmlns:a="http://schemas.openxmlformats.org/drawingml/2006/main">
              <a:ext uri="{FF2B5EF4-FFF2-40B4-BE49-F238E27FC236}">
                <a16:creationId xmlns:a16="http://schemas.microsoft.com/office/drawing/2014/main" id="{DEDA90AC-AFE6-44A8-9A07-4958CE1DB130}"/>
              </a:ext>
            </a:extLst>
          </p:cNvPr>
          <p:cNvSpPr>
            <a:spLocks xmlns:a="http://schemas.openxmlformats.org/drawingml/2006/main" noGrp="1"/>
          </p:cNvSpPr>
          <p:nvPr/>
        </p:nvSpPr>
        <p:spPr>
          <a:xfrm xmlns:a="http://schemas.openxmlformats.org/drawingml/2006/main">
            <a:off x="1943100" y="165735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Please choose one option.</a:t>
            </a:r>
          </a:p>
        </p:txBody>
      </p:sp>
      <p:sp>
        <p:nvSpPr>
          <p:cNvPr id="4" name="">
            <a:extLst xmlns:a="http://schemas.openxmlformats.org/drawingml/2006/main">
              <a:ext uri="{FF2B5EF4-FFF2-40B4-BE49-F238E27FC236}">
                <a16:creationId xmlns:a16="http://schemas.microsoft.com/office/drawing/2014/main" id="{DF1A3DA3-1A2D-44A5-9FD5-15FD7A27B821}"/>
              </a:ext>
            </a:extLst>
          </p:cNvPr>
          <p:cNvSpPr>
            <a:spLocks xmlns:a="http://schemas.openxmlformats.org/drawingml/2006/main" noGrp="1"/>
          </p:cNvSpPr>
          <p:nvPr/>
        </p:nvSpPr>
        <p:spPr>
          <a:xfrm xmlns:a="http://schemas.openxmlformats.org/drawingml/2006/main">
            <a:off x="1943100" y="21336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You will receive the outcome of the option you choose.</a:t>
            </a:r>
          </a:p>
        </p:txBody>
      </p:sp>
      <p:sp>
        <p:nvSpPr>
          <p:cNvPr id="5" name="">
            <a:extLst xmlns:a="http://schemas.openxmlformats.org/drawingml/2006/main">
              <a:ext uri="{FF2B5EF4-FFF2-40B4-BE49-F238E27FC236}">
                <a16:creationId xmlns:a16="http://schemas.microsoft.com/office/drawing/2014/main" id="{774DC701-34E7-40FD-9360-75E3C2A03A3C}"/>
              </a:ext>
            </a:extLst>
          </p:cNvPr>
          <p:cNvSpPr>
            <a:spLocks xmlns:a="http://schemas.openxmlformats.org/drawingml/2006/main" noGrp="1"/>
          </p:cNvSpPr>
          <p:nvPr/>
        </p:nvSpPr>
        <p:spPr>
          <a:xfrm xmlns:a="http://schemas.openxmlformats.org/drawingml/2006/main">
            <a:off x="2286000" y="2857500"/>
            <a:ext cx="723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100" b="1" i="0">
                <a:solidFill>
                  <a:srgbClr val="234E70"/>
                </a:solidFill>
                <a:latin typeface="Arial"/>
                <a:ea typeface="Arial"/>
                <a:cs typeface="Arial"/>
              </a:defRPr>
            </a:pPr>
            <a:r>
              <a:rPr sz="2100" b="1" i="0">
                <a:solidFill>
                  <a:srgbClr val="234E70"/>
                </a:solidFill>
                <a:latin typeface="Arial"/>
                <a:ea typeface="Arial"/>
                <a:cs typeface="Arial"/>
              </a:rPr>
              <a:t>( )  Option A</a:t>
            </a:r>
          </a:p>
          <a:p xmlns:a="http://schemas.openxmlformats.org/drawingml/2006/main">
            <a:pPr algn="l">
              <a:lnSpc>
                <a:spcPct val="106000"/>
              </a:lnSpc>
              <a:buNone/>
              <a:defRPr sz="2100" b="1" i="0">
                <a:solidFill>
                  <a:srgbClr val="234E70"/>
                </a:solidFill>
                <a:latin typeface="Arial"/>
                <a:ea typeface="Arial"/>
                <a:cs typeface="Arial"/>
              </a:defRPr>
            </a:pPr>
            <a:r>
              <a:rPr sz="2100" b="1" i="0">
                <a:solidFill>
                  <a:srgbClr val="234E70"/>
                </a:solidFill>
                <a:latin typeface="Arial"/>
                <a:ea typeface="Arial"/>
                <a:cs typeface="Arial"/>
              </a:rPr>
              <a:t>    100% chance of receiving $40</a:t>
            </a:r>
          </a:p>
        </p:txBody>
      </p:sp>
      <p:sp>
        <p:nvSpPr>
          <p:cNvPr id="6" name="">
            <a:extLst xmlns:a="http://schemas.openxmlformats.org/drawingml/2006/main">
              <a:ext uri="{FF2B5EF4-FFF2-40B4-BE49-F238E27FC236}">
                <a16:creationId xmlns:a16="http://schemas.microsoft.com/office/drawing/2014/main" id="{00337D18-66A9-490A-86CB-9C4BC61331F2}"/>
              </a:ext>
            </a:extLst>
          </p:cNvPr>
          <p:cNvSpPr>
            <a:spLocks xmlns:a="http://schemas.openxmlformats.org/drawingml/2006/main" noGrp="1"/>
          </p:cNvSpPr>
          <p:nvPr/>
        </p:nvSpPr>
        <p:spPr>
          <a:xfrm xmlns:a="http://schemas.openxmlformats.org/drawingml/2006/main">
            <a:off x="2286000" y="3848100"/>
            <a:ext cx="752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100" b="1" i="0">
                <a:solidFill>
                  <a:srgbClr val="87591F"/>
                </a:solidFill>
                <a:latin typeface="Arial"/>
                <a:ea typeface="Arial"/>
                <a:cs typeface="Arial"/>
              </a:defRPr>
            </a:pPr>
            <a:r>
              <a:rPr sz="2100" b="1" i="0">
                <a:solidFill>
                  <a:srgbClr val="87591F"/>
                </a:solidFill>
                <a:latin typeface="Arial"/>
                <a:ea typeface="Arial"/>
                <a:cs typeface="Arial"/>
              </a:rPr>
              <a:t>( )  Option B</a:t>
            </a:r>
          </a:p>
          <a:p xmlns:a="http://schemas.openxmlformats.org/drawingml/2006/main">
            <a:pPr algn="l">
              <a:lnSpc>
                <a:spcPct val="106000"/>
              </a:lnSpc>
              <a:buNone/>
              <a:defRPr sz="2100" b="1" i="0">
                <a:solidFill>
                  <a:srgbClr val="87591F"/>
                </a:solidFill>
                <a:latin typeface="Arial"/>
                <a:ea typeface="Arial"/>
                <a:cs typeface="Arial"/>
              </a:defRPr>
            </a:pPr>
            <a:r>
              <a:rPr sz="2100" b="1" i="0">
                <a:solidFill>
                  <a:srgbClr val="87591F"/>
                </a:solidFill>
                <a:latin typeface="Arial"/>
                <a:ea typeface="Arial"/>
                <a:cs typeface="Arial"/>
              </a:rPr>
              <a:t>    50% chance of receiving $100; otherwise $0</a:t>
            </a:r>
          </a:p>
        </p:txBody>
      </p:sp>
      <p:sp>
        <p:nvSpPr>
          <p:cNvPr id="7" name="">
            <a:extLst xmlns:a="http://schemas.openxmlformats.org/drawingml/2006/main">
              <a:ext uri="{FF2B5EF4-FFF2-40B4-BE49-F238E27FC236}">
                <a16:creationId xmlns:a16="http://schemas.microsoft.com/office/drawing/2014/main" id="{A92C2286-B098-4A0D-8229-E28CD45C79DE}"/>
              </a:ext>
            </a:extLst>
          </p:cNvPr>
          <p:cNvSpPr>
            <a:spLocks xmlns:a="http://schemas.openxmlformats.org/drawingml/2006/main" noGrp="1"/>
          </p:cNvSpPr>
          <p:nvPr/>
        </p:nvSpPr>
        <p:spPr>
          <a:xfrm xmlns:a="http://schemas.openxmlformats.org/drawingml/2006/main">
            <a:off x="1943100" y="4838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Click Continue after making your choice.</a:t>
            </a:r>
          </a:p>
        </p:txBody>
      </p:sp>
      <p:sp>
        <p:nvSpPr>
          <p:cNvPr id="8" name="">
            <a:extLst xmlns:a="http://schemas.openxmlformats.org/drawingml/2006/main">
              <a:ext uri="{FF2B5EF4-FFF2-40B4-BE49-F238E27FC236}">
                <a16:creationId xmlns:a16="http://schemas.microsoft.com/office/drawing/2014/main" id="{FFAA3712-EC27-474A-ABDE-DAA829134715}"/>
              </a:ext>
            </a:extLst>
          </p:cNvPr>
          <p:cNvSpPr>
            <a:spLocks xmlns:a="http://schemas.openxmlformats.org/drawingml/2006/main" noGrp="1"/>
          </p:cNvSpPr>
          <p:nvPr/>
        </p:nvSpPr>
        <p:spPr>
          <a:xfrm xmlns:a="http://schemas.openxmlformats.org/drawingml/2006/main">
            <a:off x="1524000" y="571500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Vote first. Explain later.</a:t>
            </a:r>
          </a:p>
        </p:txBody>
      </p:sp>
    </p:spTree>
    <p:extLst>
      <p:ext uri="{BB962C8B-B14F-4D97-AF65-F5344CB8AC3E}">
        <p14:creationId xmlns:p14="http://schemas.microsoft.com/office/powerpoint/2010/main" val="4912655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5025D73-1814-40FC-B329-D35232C149B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What would count as understanding a human decision?</a:t>
            </a:r>
          </a:p>
        </p:txBody>
      </p:sp>
      <p:sp>
        <p:nvSpPr>
          <p:cNvPr id="2" name="">
            <a:extLst xmlns:a="http://schemas.openxmlformats.org/drawingml/2006/main">
              <a:ext uri="{FF2B5EF4-FFF2-40B4-BE49-F238E27FC236}">
                <a16:creationId xmlns:a16="http://schemas.microsoft.com/office/drawing/2014/main" id="{806B4A2E-E852-45D4-8697-054D003C948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Core question</a:t>
            </a:r>
          </a:p>
        </p:txBody>
      </p:sp>
      <p:sp>
        <p:nvSpPr>
          <p:cNvPr id="3" name="">
            <a:extLst xmlns:a="http://schemas.openxmlformats.org/drawingml/2006/main">
              <a:ext uri="{FF2B5EF4-FFF2-40B4-BE49-F238E27FC236}">
                <a16:creationId xmlns:a16="http://schemas.microsoft.com/office/drawing/2014/main" id="{D9714783-6ECE-4845-A831-1A50743D114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638851-0B0C-4786-BF29-DD825F08C9E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62013D6-C9DE-4B03-84FC-8C658C5BBE89}"/>
              </a:ext>
            </a:extLst>
          </p:cNvPr>
          <p:cNvSpPr>
            <a:spLocks xmlns:a="http://schemas.openxmlformats.org/drawingml/2006/main" noGrp="1"/>
          </p:cNvSpPr>
          <p:nvPr/>
        </p:nvSpPr>
        <p:spPr>
          <a:xfrm xmlns:a="http://schemas.openxmlformats.org/drawingml/2006/main">
            <a:off x="800100" y="19240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Claim</a:t>
            </a:r>
          </a:p>
        </p:txBody>
      </p:sp>
      <p:sp>
        <p:nvSpPr>
          <p:cNvPr id="6" name="">
            <a:extLst xmlns:a="http://schemas.openxmlformats.org/drawingml/2006/main">
              <a:ext uri="{FF2B5EF4-FFF2-40B4-BE49-F238E27FC236}">
                <a16:creationId xmlns:a16="http://schemas.microsoft.com/office/drawing/2014/main" id="{6D401E59-BC87-485E-BA25-278615AC6ECB}"/>
              </a:ext>
            </a:extLst>
          </p:cNvPr>
          <p:cNvSpPr>
            <a:spLocks xmlns:a="http://schemas.openxmlformats.org/drawingml/2006/main" noGrp="1"/>
          </p:cNvSpPr>
          <p:nvPr/>
        </p:nvSpPr>
        <p:spPr>
          <a:xfrm xmlns:a="http://schemas.openxmlformats.org/drawingml/2006/main">
            <a:off x="2952750" y="19240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Question</a:t>
            </a:r>
          </a:p>
        </p:txBody>
      </p:sp>
      <p:sp>
        <p:nvSpPr>
          <p:cNvPr id="7" name="">
            <a:extLst xmlns:a="http://schemas.openxmlformats.org/drawingml/2006/main">
              <a:ext uri="{FF2B5EF4-FFF2-40B4-BE49-F238E27FC236}">
                <a16:creationId xmlns:a16="http://schemas.microsoft.com/office/drawing/2014/main" id="{F440FC8B-D488-49A8-B5C1-30E819E3B37B}"/>
              </a:ext>
            </a:extLst>
          </p:cNvPr>
          <p:cNvSpPr>
            <a:spLocks xmlns:a="http://schemas.openxmlformats.org/drawingml/2006/main" noGrp="1"/>
          </p:cNvSpPr>
          <p:nvPr/>
        </p:nvSpPr>
        <p:spPr>
          <a:xfrm xmlns:a="http://schemas.openxmlformats.org/drawingml/2006/main">
            <a:off x="6286500" y="1924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Evidence required</a:t>
            </a:r>
          </a:p>
        </p:txBody>
      </p:sp>
      <p:sp>
        <p:nvSpPr>
          <p:cNvPr id="8" name="">
            <a:extLst xmlns:a="http://schemas.openxmlformats.org/drawingml/2006/main">
              <a:ext uri="{FF2B5EF4-FFF2-40B4-BE49-F238E27FC236}">
                <a16:creationId xmlns:a16="http://schemas.microsoft.com/office/drawing/2014/main" id="{B5B04758-57DC-4680-BFD6-919139FE02CD}"/>
              </a:ext>
            </a:extLst>
          </p:cNvPr>
          <p:cNvSpPr>
            <a:spLocks xmlns:a="http://schemas.openxmlformats.org/drawingml/2006/main" noGrp="1"/>
          </p:cNvSpPr>
          <p:nvPr/>
        </p:nvSpPr>
        <p:spPr>
          <a:xfrm xmlns:a="http://schemas.openxmlformats.org/drawingml/2006/main">
            <a:off x="800100" y="23336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8A12AC6E-3EDC-4B72-B4D9-F9D0E453D5C2}"/>
              </a:ext>
            </a:extLst>
          </p:cNvPr>
          <p:cNvSpPr>
            <a:spLocks xmlns:a="http://schemas.openxmlformats.org/drawingml/2006/main" noGrp="1"/>
          </p:cNvSpPr>
          <p:nvPr/>
        </p:nvSpPr>
        <p:spPr>
          <a:xfrm xmlns:a="http://schemas.openxmlformats.org/drawingml/2006/main">
            <a:off x="1200150" y="23050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Description</a:t>
            </a:r>
          </a:p>
        </p:txBody>
      </p:sp>
      <p:sp>
        <p:nvSpPr>
          <p:cNvPr id="10" name="">
            <a:extLst xmlns:a="http://schemas.openxmlformats.org/drawingml/2006/main">
              <a:ext uri="{FF2B5EF4-FFF2-40B4-BE49-F238E27FC236}">
                <a16:creationId xmlns:a16="http://schemas.microsoft.com/office/drawing/2014/main" id="{D4C88284-99CE-4369-A9B2-A61998B066A7}"/>
              </a:ext>
            </a:extLst>
          </p:cNvPr>
          <p:cNvSpPr>
            <a:spLocks xmlns:a="http://schemas.openxmlformats.org/drawingml/2006/main" noGrp="1"/>
          </p:cNvSpPr>
          <p:nvPr/>
        </p:nvSpPr>
        <p:spPr>
          <a:xfrm xmlns:a="http://schemas.openxmlformats.org/drawingml/2006/main">
            <a:off x="2952750" y="23050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happened?</a:t>
            </a:r>
          </a:p>
        </p:txBody>
      </p:sp>
      <p:sp>
        <p:nvSpPr>
          <p:cNvPr id="11" name="">
            <a:extLst xmlns:a="http://schemas.openxmlformats.org/drawingml/2006/main">
              <a:ext uri="{FF2B5EF4-FFF2-40B4-BE49-F238E27FC236}">
                <a16:creationId xmlns:a16="http://schemas.microsoft.com/office/drawing/2014/main" id="{57BE13B8-6ED3-4567-A95C-5C0ED5E62052}"/>
              </a:ext>
            </a:extLst>
          </p:cNvPr>
          <p:cNvSpPr>
            <a:spLocks xmlns:a="http://schemas.openxmlformats.org/drawingml/2006/main" noGrp="1"/>
          </p:cNvSpPr>
          <p:nvPr/>
        </p:nvSpPr>
        <p:spPr>
          <a:xfrm xmlns:a="http://schemas.openxmlformats.org/drawingml/2006/main">
            <a:off x="6286500" y="23050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Summarize regularities in observed choices or reports.</a:t>
            </a:r>
          </a:p>
        </p:txBody>
      </p:sp>
      <p:sp>
        <p:nvSpPr>
          <p:cNvPr id="12" name="">
            <a:extLst xmlns:a="http://schemas.openxmlformats.org/drawingml/2006/main">
              <a:ext uri="{FF2B5EF4-FFF2-40B4-BE49-F238E27FC236}">
                <a16:creationId xmlns:a16="http://schemas.microsoft.com/office/drawing/2014/main" id="{F2C8B01D-3482-4492-B5B1-B7A9C081216A}"/>
              </a:ext>
            </a:extLst>
          </p:cNvPr>
          <p:cNvSpPr>
            <a:spLocks xmlns:a="http://schemas.openxmlformats.org/drawingml/2006/main" noGrp="1"/>
          </p:cNvSpPr>
          <p:nvPr/>
        </p:nvSpPr>
        <p:spPr>
          <a:xfrm xmlns:a="http://schemas.openxmlformats.org/drawingml/2006/main">
            <a:off x="800100" y="281940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69DBA7-6BA0-4089-85C8-ADA2D538C288}"/>
              </a:ext>
            </a:extLst>
          </p:cNvPr>
          <p:cNvSpPr>
            <a:spLocks xmlns:a="http://schemas.openxmlformats.org/drawingml/2006/main" noGrp="1"/>
          </p:cNvSpPr>
          <p:nvPr/>
        </p:nvSpPr>
        <p:spPr>
          <a:xfrm xmlns:a="http://schemas.openxmlformats.org/drawingml/2006/main">
            <a:off x="800100" y="297180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AB38301-4ECE-46B8-B364-8E8A63112A92}"/>
              </a:ext>
            </a:extLst>
          </p:cNvPr>
          <p:cNvSpPr>
            <a:spLocks xmlns:a="http://schemas.openxmlformats.org/drawingml/2006/main" noGrp="1"/>
          </p:cNvSpPr>
          <p:nvPr/>
        </p:nvSpPr>
        <p:spPr>
          <a:xfrm xmlns:a="http://schemas.openxmlformats.org/drawingml/2006/main">
            <a:off x="1200150" y="2943225"/>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Prediction</a:t>
            </a:r>
          </a:p>
        </p:txBody>
      </p:sp>
      <p:sp>
        <p:nvSpPr>
          <p:cNvPr id="15" name="">
            <a:extLst xmlns:a="http://schemas.openxmlformats.org/drawingml/2006/main">
              <a:ext uri="{FF2B5EF4-FFF2-40B4-BE49-F238E27FC236}">
                <a16:creationId xmlns:a16="http://schemas.microsoft.com/office/drawing/2014/main" id="{70BBAB3D-8557-47BF-A612-CD63BAE918A2}"/>
              </a:ext>
            </a:extLst>
          </p:cNvPr>
          <p:cNvSpPr>
            <a:spLocks xmlns:a="http://schemas.openxmlformats.org/drawingml/2006/main" noGrp="1"/>
          </p:cNvSpPr>
          <p:nvPr/>
        </p:nvSpPr>
        <p:spPr>
          <a:xfrm xmlns:a="http://schemas.openxmlformats.org/drawingml/2006/main">
            <a:off x="2952750" y="29432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will happen next?</a:t>
            </a:r>
          </a:p>
        </p:txBody>
      </p:sp>
      <p:sp>
        <p:nvSpPr>
          <p:cNvPr id="16" name="">
            <a:extLst xmlns:a="http://schemas.openxmlformats.org/drawingml/2006/main">
              <a:ext uri="{FF2B5EF4-FFF2-40B4-BE49-F238E27FC236}">
                <a16:creationId xmlns:a16="http://schemas.microsoft.com/office/drawing/2014/main" id="{1870498B-1BEB-4F3F-8CEE-718A411C1E67}"/>
              </a:ext>
            </a:extLst>
          </p:cNvPr>
          <p:cNvSpPr>
            <a:spLocks xmlns:a="http://schemas.openxmlformats.org/drawingml/2006/main" noGrp="1"/>
          </p:cNvSpPr>
          <p:nvPr/>
        </p:nvSpPr>
        <p:spPr>
          <a:xfrm xmlns:a="http://schemas.openxmlformats.org/drawingml/2006/main">
            <a:off x="6286500" y="29432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Forecast held-out behavior with calibrated uncertainty.</a:t>
            </a:r>
          </a:p>
        </p:txBody>
      </p:sp>
      <p:sp>
        <p:nvSpPr>
          <p:cNvPr id="17" name="">
            <a:extLst xmlns:a="http://schemas.openxmlformats.org/drawingml/2006/main">
              <a:ext uri="{FF2B5EF4-FFF2-40B4-BE49-F238E27FC236}">
                <a16:creationId xmlns:a16="http://schemas.microsoft.com/office/drawing/2014/main" id="{40889B78-5CA9-4C0B-95F1-3021DE0E4AE4}"/>
              </a:ext>
            </a:extLst>
          </p:cNvPr>
          <p:cNvSpPr>
            <a:spLocks xmlns:a="http://schemas.openxmlformats.org/drawingml/2006/main" noGrp="1"/>
          </p:cNvSpPr>
          <p:nvPr/>
        </p:nvSpPr>
        <p:spPr>
          <a:xfrm xmlns:a="http://schemas.openxmlformats.org/drawingml/2006/main">
            <a:off x="800100" y="3457575"/>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FC27A0A-5366-4A2F-84DB-64F1F7EAABE1}"/>
              </a:ext>
            </a:extLst>
          </p:cNvPr>
          <p:cNvSpPr>
            <a:spLocks xmlns:a="http://schemas.openxmlformats.org/drawingml/2006/main" noGrp="1"/>
          </p:cNvSpPr>
          <p:nvPr/>
        </p:nvSpPr>
        <p:spPr>
          <a:xfrm xmlns:a="http://schemas.openxmlformats.org/drawingml/2006/main">
            <a:off x="800100" y="360997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B3F08BA6-E107-48E7-AC8E-49FE2134DBBF}"/>
              </a:ext>
            </a:extLst>
          </p:cNvPr>
          <p:cNvSpPr>
            <a:spLocks xmlns:a="http://schemas.openxmlformats.org/drawingml/2006/main" noGrp="1"/>
          </p:cNvSpPr>
          <p:nvPr/>
        </p:nvSpPr>
        <p:spPr>
          <a:xfrm xmlns:a="http://schemas.openxmlformats.org/drawingml/2006/main">
            <a:off x="1200150" y="35814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Representation</a:t>
            </a:r>
          </a:p>
        </p:txBody>
      </p:sp>
      <p:sp>
        <p:nvSpPr>
          <p:cNvPr id="20" name="">
            <a:extLst xmlns:a="http://schemas.openxmlformats.org/drawingml/2006/main">
              <a:ext uri="{FF2B5EF4-FFF2-40B4-BE49-F238E27FC236}">
                <a16:creationId xmlns:a16="http://schemas.microsoft.com/office/drawing/2014/main" id="{EF4781BF-021C-436B-B8D2-6EEB99E3D2EA}"/>
              </a:ext>
            </a:extLst>
          </p:cNvPr>
          <p:cNvSpPr>
            <a:spLocks xmlns:a="http://schemas.openxmlformats.org/drawingml/2006/main" noGrp="1"/>
          </p:cNvSpPr>
          <p:nvPr/>
        </p:nvSpPr>
        <p:spPr>
          <a:xfrm xmlns:a="http://schemas.openxmlformats.org/drawingml/2006/main">
            <a:off x="2952750" y="35814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407"/>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information organizes behavior?</a:t>
            </a:r>
          </a:p>
        </p:txBody>
      </p:sp>
      <p:sp>
        <p:nvSpPr>
          <p:cNvPr id="21" name="">
            <a:extLst xmlns:a="http://schemas.openxmlformats.org/drawingml/2006/main">
              <a:ext uri="{FF2B5EF4-FFF2-40B4-BE49-F238E27FC236}">
                <a16:creationId xmlns:a16="http://schemas.microsoft.com/office/drawing/2014/main" id="{E724B2DE-E5A2-439F-8A8C-FAEF4649C8B1}"/>
              </a:ext>
            </a:extLst>
          </p:cNvPr>
          <p:cNvSpPr>
            <a:spLocks xmlns:a="http://schemas.openxmlformats.org/drawingml/2006/main" noGrp="1"/>
          </p:cNvSpPr>
          <p:nvPr/>
        </p:nvSpPr>
        <p:spPr>
          <a:xfrm xmlns:a="http://schemas.openxmlformats.org/drawingml/2006/main">
            <a:off x="6286500" y="35814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05"/>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Identify variables or geometry that generalize beyond the fitted data.</a:t>
            </a:r>
          </a:p>
        </p:txBody>
      </p:sp>
      <p:sp>
        <p:nvSpPr>
          <p:cNvPr id="22" name="">
            <a:extLst xmlns:a="http://schemas.openxmlformats.org/drawingml/2006/main">
              <a:ext uri="{FF2B5EF4-FFF2-40B4-BE49-F238E27FC236}">
                <a16:creationId xmlns:a16="http://schemas.microsoft.com/office/drawing/2014/main" id="{661EC601-0E28-4F88-BADF-D3D5122D642C}"/>
              </a:ext>
            </a:extLst>
          </p:cNvPr>
          <p:cNvSpPr>
            <a:spLocks xmlns:a="http://schemas.openxmlformats.org/drawingml/2006/main" noGrp="1"/>
          </p:cNvSpPr>
          <p:nvPr/>
        </p:nvSpPr>
        <p:spPr>
          <a:xfrm xmlns:a="http://schemas.openxmlformats.org/drawingml/2006/main">
            <a:off x="800100" y="409575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74B38DB-445D-4295-9ACC-3FFB996DFBD9}"/>
              </a:ext>
            </a:extLst>
          </p:cNvPr>
          <p:cNvSpPr>
            <a:spLocks xmlns:a="http://schemas.openxmlformats.org/drawingml/2006/main" noGrp="1"/>
          </p:cNvSpPr>
          <p:nvPr/>
        </p:nvSpPr>
        <p:spPr>
          <a:xfrm xmlns:a="http://schemas.openxmlformats.org/drawingml/2006/main">
            <a:off x="800100" y="42481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9A48E8F8-444D-4C50-AB83-836B3E07619D}"/>
              </a:ext>
            </a:extLst>
          </p:cNvPr>
          <p:cNvSpPr>
            <a:spLocks xmlns:a="http://schemas.openxmlformats.org/drawingml/2006/main" noGrp="1"/>
          </p:cNvSpPr>
          <p:nvPr/>
        </p:nvSpPr>
        <p:spPr>
          <a:xfrm xmlns:a="http://schemas.openxmlformats.org/drawingml/2006/main">
            <a:off x="1200150" y="4219575"/>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Explanation</a:t>
            </a:r>
          </a:p>
        </p:txBody>
      </p:sp>
      <p:sp>
        <p:nvSpPr>
          <p:cNvPr id="25" name="">
            <a:extLst xmlns:a="http://schemas.openxmlformats.org/drawingml/2006/main">
              <a:ext uri="{FF2B5EF4-FFF2-40B4-BE49-F238E27FC236}">
                <a16:creationId xmlns:a16="http://schemas.microsoft.com/office/drawing/2014/main" id="{16CE6AC5-59D2-4E2B-9DFC-7FA1A6A2B6A8}"/>
              </a:ext>
            </a:extLst>
          </p:cNvPr>
          <p:cNvSpPr>
            <a:spLocks xmlns:a="http://schemas.openxmlformats.org/drawingml/2006/main" noGrp="1"/>
          </p:cNvSpPr>
          <p:nvPr/>
        </p:nvSpPr>
        <p:spPr>
          <a:xfrm xmlns:a="http://schemas.openxmlformats.org/drawingml/2006/main">
            <a:off x="2952750" y="42195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Why does the pattern occur?</a:t>
            </a:r>
          </a:p>
        </p:txBody>
      </p:sp>
      <p:sp>
        <p:nvSpPr>
          <p:cNvPr id="26" name="">
            <a:extLst xmlns:a="http://schemas.openxmlformats.org/drawingml/2006/main">
              <a:ext uri="{FF2B5EF4-FFF2-40B4-BE49-F238E27FC236}">
                <a16:creationId xmlns:a16="http://schemas.microsoft.com/office/drawing/2014/main" id="{953D173B-3576-469F-85EF-001328FD4732}"/>
              </a:ext>
            </a:extLst>
          </p:cNvPr>
          <p:cNvSpPr>
            <a:spLocks xmlns:a="http://schemas.openxmlformats.org/drawingml/2006/main" noGrp="1"/>
          </p:cNvSpPr>
          <p:nvPr/>
        </p:nvSpPr>
        <p:spPr>
          <a:xfrm xmlns:a="http://schemas.openxmlformats.org/drawingml/2006/main">
            <a:off x="6286500" y="42195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Derive discriminative and counterfactual predictions.</a:t>
            </a:r>
          </a:p>
        </p:txBody>
      </p:sp>
      <p:sp>
        <p:nvSpPr>
          <p:cNvPr id="27" name="">
            <a:extLst xmlns:a="http://schemas.openxmlformats.org/drawingml/2006/main">
              <a:ext uri="{FF2B5EF4-FFF2-40B4-BE49-F238E27FC236}">
                <a16:creationId xmlns:a16="http://schemas.microsoft.com/office/drawing/2014/main" id="{0E474D6D-E07E-4369-A63A-AF34D0D4142E}"/>
              </a:ext>
            </a:extLst>
          </p:cNvPr>
          <p:cNvSpPr>
            <a:spLocks xmlns:a="http://schemas.openxmlformats.org/drawingml/2006/main" noGrp="1"/>
          </p:cNvSpPr>
          <p:nvPr/>
        </p:nvSpPr>
        <p:spPr>
          <a:xfrm xmlns:a="http://schemas.openxmlformats.org/drawingml/2006/main">
            <a:off x="800100" y="4733925"/>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1621E06-7AE0-4ED0-8DA8-882DE550E28E}"/>
              </a:ext>
            </a:extLst>
          </p:cNvPr>
          <p:cNvSpPr>
            <a:spLocks xmlns:a="http://schemas.openxmlformats.org/drawingml/2006/main" noGrp="1"/>
          </p:cNvSpPr>
          <p:nvPr/>
        </p:nvSpPr>
        <p:spPr>
          <a:xfrm xmlns:a="http://schemas.openxmlformats.org/drawingml/2006/main">
            <a:off x="800100" y="4886325"/>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A3B35"/>
                </a:solidFill>
                <a:latin typeface="Arial"/>
                <a:ea typeface="Arial"/>
                <a:cs typeface="Arial"/>
              </a:defRPr>
            </a:pPr>
            <a:r>
              <a:rPr sz="1350" b="1" i="0">
                <a:solidFill>
                  <a:srgbClr val="8A3B35"/>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91B635F8-EE0F-4BCB-88F9-E50FF34F3456}"/>
              </a:ext>
            </a:extLst>
          </p:cNvPr>
          <p:cNvSpPr>
            <a:spLocks xmlns:a="http://schemas.openxmlformats.org/drawingml/2006/main" noGrp="1"/>
          </p:cNvSpPr>
          <p:nvPr/>
        </p:nvSpPr>
        <p:spPr>
          <a:xfrm xmlns:a="http://schemas.openxmlformats.org/drawingml/2006/main">
            <a:off x="1200150" y="485775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A3B35"/>
                </a:solidFill>
                <a:latin typeface="Arial"/>
                <a:ea typeface="Arial"/>
                <a:cs typeface="Arial"/>
              </a:defRPr>
            </a:pPr>
            <a:r>
              <a:rPr sz="1650" b="1" i="0">
                <a:solidFill>
                  <a:srgbClr val="8A3B35"/>
                </a:solidFill>
                <a:latin typeface="Arial"/>
                <a:ea typeface="Arial"/>
                <a:cs typeface="Arial"/>
              </a:rPr>
              <a:t>Mechanism</a:t>
            </a:r>
          </a:p>
        </p:txBody>
      </p:sp>
      <p:sp>
        <p:nvSpPr>
          <p:cNvPr id="30" name="">
            <a:extLst xmlns:a="http://schemas.openxmlformats.org/drawingml/2006/main">
              <a:ext uri="{FF2B5EF4-FFF2-40B4-BE49-F238E27FC236}">
                <a16:creationId xmlns:a16="http://schemas.microsoft.com/office/drawing/2014/main" id="{48D2399E-C2AB-4F34-A885-542E3F08E242}"/>
              </a:ext>
            </a:extLst>
          </p:cNvPr>
          <p:cNvSpPr>
            <a:spLocks xmlns:a="http://schemas.openxmlformats.org/drawingml/2006/main" noGrp="1"/>
          </p:cNvSpPr>
          <p:nvPr/>
        </p:nvSpPr>
        <p:spPr>
          <a:xfrm xmlns:a="http://schemas.openxmlformats.org/drawingml/2006/main">
            <a:off x="2952750" y="4857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What process generates it?</a:t>
            </a:r>
          </a:p>
        </p:txBody>
      </p:sp>
      <p:sp>
        <p:nvSpPr>
          <p:cNvPr id="31" name="">
            <a:extLst xmlns:a="http://schemas.openxmlformats.org/drawingml/2006/main">
              <a:ext uri="{FF2B5EF4-FFF2-40B4-BE49-F238E27FC236}">
                <a16:creationId xmlns:a16="http://schemas.microsoft.com/office/drawing/2014/main" id="{9EECB474-2F7E-481A-A806-AC690D20DC39}"/>
              </a:ext>
            </a:extLst>
          </p:cNvPr>
          <p:cNvSpPr>
            <a:spLocks xmlns:a="http://schemas.openxmlformats.org/drawingml/2006/main" noGrp="1"/>
          </p:cNvSpPr>
          <p:nvPr/>
        </p:nvSpPr>
        <p:spPr>
          <a:xfrm xmlns:a="http://schemas.openxmlformats.org/drawingml/2006/main">
            <a:off x="628650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05"/>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Specify an executable process that survives intervention and transfer.</a:t>
            </a:r>
          </a:p>
        </p:txBody>
      </p:sp>
      <p:sp>
        <p:nvSpPr>
          <p:cNvPr id="32" name="">
            <a:extLst xmlns:a="http://schemas.openxmlformats.org/drawingml/2006/main">
              <a:ext uri="{FF2B5EF4-FFF2-40B4-BE49-F238E27FC236}">
                <a16:creationId xmlns:a16="http://schemas.microsoft.com/office/drawing/2014/main" id="{984282C8-2078-4DBF-9693-551E814837C7}"/>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434B689-0AB3-4426-B23D-A6C28D440E6D}"/>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We start with prediction because it is testable, but prediction is not the endpoint of understanding.</a:t>
            </a:r>
          </a:p>
        </p:txBody>
      </p:sp>
    </p:spTree>
    <p:extLst>
      <p:ext uri="{BB962C8B-B14F-4D97-AF65-F5344CB8AC3E}">
        <p14:creationId xmlns:p14="http://schemas.microsoft.com/office/powerpoint/2010/main" val="891350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FA540D7-8027-4168-9078-81357F957A4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held-out choice will anchor the tutorial</a:t>
            </a:r>
          </a:p>
        </p:txBody>
      </p:sp>
      <p:sp>
        <p:nvSpPr>
          <p:cNvPr id="2" name="">
            <a:extLst xmlns:a="http://schemas.openxmlformats.org/drawingml/2006/main">
              <a:ext uri="{FF2B5EF4-FFF2-40B4-BE49-F238E27FC236}">
                <a16:creationId xmlns:a16="http://schemas.microsoft.com/office/drawing/2014/main" id="{AB2710D5-A58B-49B2-AF70-5ECEA56640F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Running example</a:t>
            </a:r>
          </a:p>
        </p:txBody>
      </p:sp>
      <p:sp>
        <p:nvSpPr>
          <p:cNvPr id="3" name="">
            <a:extLst xmlns:a="http://schemas.openxmlformats.org/drawingml/2006/main">
              <a:ext uri="{FF2B5EF4-FFF2-40B4-BE49-F238E27FC236}">
                <a16:creationId xmlns:a16="http://schemas.microsoft.com/office/drawing/2014/main" id="{A052C783-AB38-41EB-9FA5-067F75368F7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E999223-549E-4AE8-8CDF-99E2C42C872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6B6275B-C0A3-4D4F-9D45-DD772C636CA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participant pseudonymized</a:t>
            </a:r>
          </a:p>
        </p:txBody>
      </p:sp>
      <p:sp>
        <p:nvSpPr>
          <p:cNvPr id="6" name="">
            <a:extLst xmlns:a="http://schemas.openxmlformats.org/drawingml/2006/main">
              <a:ext uri="{FF2B5EF4-FFF2-40B4-BE49-F238E27FC236}">
                <a16:creationId xmlns:a16="http://schemas.microsoft.com/office/drawing/2014/main" id="{33F5FD1C-8169-406D-9751-293AE7CE44D7}"/>
              </a:ext>
            </a:extLst>
          </p:cNvPr>
          <p:cNvSpPr>
            <a:spLocks xmlns:a="http://schemas.openxmlformats.org/drawingml/2006/main" noGrp="1"/>
          </p:cNvSpPr>
          <p:nvPr/>
        </p:nvSpPr>
        <p:spPr>
          <a:xfrm xmlns:a="http://schemas.openxmlformats.org/drawingml/2006/main">
            <a:off x="800100" y="2076450"/>
            <a:ext cx="5905500" cy="2952750"/>
          </a:xfrm>
          <a:prstGeom xmlns:a="http://schemas.openxmlformats.org/drawingml/2006/main" prst="rect">
            <a:avLst/>
          </a:prstGeom>
          <a:solidFill xmlns:a="http://schemas.openxmlformats.org/drawingml/2006/main">
            <a:srgbClr val="FFFFFF"/>
          </a:solidFill>
          <a:ln xmlns:a="http://schemas.openxmlformats.org/drawingml/2006/main" w="11906">
            <a:solidFill>
              <a:srgbClr val="CBD1D8"/>
            </a:solidFill>
            <a:prstDash val="solid"/>
          </a:ln>
        </p:spPr>
      </p:sp>
      <p:sp>
        <p:nvSpPr>
          <p:cNvPr id="7" name="">
            <a:extLst xmlns:a="http://schemas.openxmlformats.org/drawingml/2006/main">
              <a:ext uri="{FF2B5EF4-FFF2-40B4-BE49-F238E27FC236}">
                <a16:creationId xmlns:a16="http://schemas.microsoft.com/office/drawing/2014/main" id="{83AE6C80-04C9-4D15-85D4-896F01A28976}"/>
              </a:ext>
            </a:extLst>
          </p:cNvPr>
          <p:cNvSpPr>
            <a:spLocks xmlns:a="http://schemas.openxmlformats.org/drawingml/2006/main" noGrp="1"/>
          </p:cNvSpPr>
          <p:nvPr/>
        </p:nvSpPr>
        <p:spPr>
          <a:xfrm xmlns:a="http://schemas.openxmlformats.org/drawingml/2006/main">
            <a:off x="1104900" y="23241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P025 / held-out Trial 21</a:t>
            </a:r>
          </a:p>
        </p:txBody>
      </p:sp>
      <p:sp>
        <p:nvSpPr>
          <p:cNvPr id="8" name="">
            <a:extLst xmlns:a="http://schemas.openxmlformats.org/drawingml/2006/main">
              <a:ext uri="{FF2B5EF4-FFF2-40B4-BE49-F238E27FC236}">
                <a16:creationId xmlns:a16="http://schemas.microsoft.com/office/drawing/2014/main" id="{E8C53FA4-3C7B-498A-BFF0-A3EFC9147854}"/>
              </a:ext>
            </a:extLst>
          </p:cNvPr>
          <p:cNvSpPr>
            <a:spLocks xmlns:a="http://schemas.openxmlformats.org/drawingml/2006/main" noGrp="1"/>
          </p:cNvSpPr>
          <p:nvPr/>
        </p:nvSpPr>
        <p:spPr>
          <a:xfrm xmlns:a="http://schemas.openxmlformats.org/drawingml/2006/main">
            <a:off x="1104900" y="2781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Please choose one option.</a:t>
            </a:r>
          </a:p>
        </p:txBody>
      </p:sp>
      <p:sp>
        <p:nvSpPr>
          <p:cNvPr id="9" name="">
            <a:extLst xmlns:a="http://schemas.openxmlformats.org/drawingml/2006/main">
              <a:ext uri="{FF2B5EF4-FFF2-40B4-BE49-F238E27FC236}">
                <a16:creationId xmlns:a16="http://schemas.microsoft.com/office/drawing/2014/main" id="{06776F19-0AA1-4DE7-9C34-741727C6E04E}"/>
              </a:ext>
            </a:extLst>
          </p:cNvPr>
          <p:cNvSpPr>
            <a:spLocks xmlns:a="http://schemas.openxmlformats.org/drawingml/2006/main" noGrp="1"/>
          </p:cNvSpPr>
          <p:nvPr/>
        </p:nvSpPr>
        <p:spPr>
          <a:xfrm xmlns:a="http://schemas.openxmlformats.org/drawingml/2006/main">
            <a:off x="1390650" y="33909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234E70"/>
                </a:solidFill>
                <a:latin typeface="Arial"/>
                <a:ea typeface="Arial"/>
                <a:cs typeface="Arial"/>
              </a:defRPr>
            </a:pPr>
            <a:r>
              <a:rPr sz="2250" b="1" i="0">
                <a:solidFill>
                  <a:srgbClr val="234E70"/>
                </a:solidFill>
                <a:latin typeface="Arial"/>
                <a:ea typeface="Arial"/>
                <a:cs typeface="Arial"/>
              </a:rPr>
              <a:t>A   75%: -16; 25%: 40</a:t>
            </a:r>
          </a:p>
        </p:txBody>
      </p:sp>
      <p:sp>
        <p:nvSpPr>
          <p:cNvPr id="10" name="">
            <a:extLst xmlns:a="http://schemas.openxmlformats.org/drawingml/2006/main">
              <a:ext uri="{FF2B5EF4-FFF2-40B4-BE49-F238E27FC236}">
                <a16:creationId xmlns:a16="http://schemas.microsoft.com/office/drawing/2014/main" id="{AF5CBB7E-44D5-4867-BED8-01AA4CA8EB2A}"/>
              </a:ext>
            </a:extLst>
          </p:cNvPr>
          <p:cNvSpPr>
            <a:spLocks xmlns:a="http://schemas.openxmlformats.org/drawingml/2006/main" noGrp="1"/>
          </p:cNvSpPr>
          <p:nvPr/>
        </p:nvSpPr>
        <p:spPr>
          <a:xfrm xmlns:a="http://schemas.openxmlformats.org/drawingml/2006/main">
            <a:off x="1390650" y="4000500"/>
            <a:ext cx="4572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00" b="1" i="0">
                <a:solidFill>
                  <a:srgbClr val="87591F"/>
                </a:solidFill>
                <a:latin typeface="Arial"/>
                <a:ea typeface="Arial"/>
                <a:cs typeface="Arial"/>
              </a:defRPr>
            </a:pPr>
            <a:r>
              <a:rPr sz="2100" b="1" i="0">
                <a:solidFill>
                  <a:srgbClr val="87591F"/>
                </a:solidFill>
                <a:latin typeface="Arial"/>
                <a:ea typeface="Arial"/>
                <a:cs typeface="Arial"/>
              </a:rPr>
              <a:t>B   -3 for sure</a:t>
            </a:r>
          </a:p>
        </p:txBody>
      </p:sp>
      <p:sp>
        <p:nvSpPr>
          <p:cNvPr id="11" name="">
            <a:extLst xmlns:a="http://schemas.openxmlformats.org/drawingml/2006/main">
              <a:ext uri="{FF2B5EF4-FFF2-40B4-BE49-F238E27FC236}">
                <a16:creationId xmlns:a16="http://schemas.microsoft.com/office/drawing/2014/main" id="{03C23131-90D5-4938-8011-3C2F04FF8953}"/>
              </a:ext>
            </a:extLst>
          </p:cNvPr>
          <p:cNvSpPr>
            <a:spLocks xmlns:a="http://schemas.openxmlformats.org/drawingml/2006/main" noGrp="1"/>
          </p:cNvSpPr>
          <p:nvPr/>
        </p:nvSpPr>
        <p:spPr>
          <a:xfrm xmlns:a="http://schemas.openxmlformats.org/drawingml/2006/main">
            <a:off x="1104900" y="46863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Observed choice is hidden until evaluation.</a:t>
            </a:r>
          </a:p>
        </p:txBody>
      </p:sp>
      <p:sp>
        <p:nvSpPr>
          <p:cNvPr id="12" name="">
            <a:extLst xmlns:a="http://schemas.openxmlformats.org/drawingml/2006/main">
              <a:ext uri="{FF2B5EF4-FFF2-40B4-BE49-F238E27FC236}">
                <a16:creationId xmlns:a16="http://schemas.microsoft.com/office/drawing/2014/main" id="{602800B3-8ED9-4715-904B-AFC1F4A14151}"/>
              </a:ext>
            </a:extLst>
          </p:cNvPr>
          <p:cNvSpPr>
            <a:spLocks xmlns:a="http://schemas.openxmlformats.org/drawingml/2006/main" noGrp="1"/>
          </p:cNvSpPr>
          <p:nvPr/>
        </p:nvSpPr>
        <p:spPr>
          <a:xfrm xmlns:a="http://schemas.openxmlformats.org/drawingml/2006/main">
            <a:off x="7296150" y="20764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Evidence added at each step</a:t>
            </a:r>
          </a:p>
        </p:txBody>
      </p:sp>
      <p:sp>
        <p:nvSpPr>
          <p:cNvPr id="13" name="">
            <a:extLst xmlns:a="http://schemas.openxmlformats.org/drawingml/2006/main">
              <a:ext uri="{FF2B5EF4-FFF2-40B4-BE49-F238E27FC236}">
                <a16:creationId xmlns:a16="http://schemas.microsoft.com/office/drawing/2014/main" id="{82515747-2843-4965-9F95-BC3162A816A0}"/>
              </a:ext>
            </a:extLst>
          </p:cNvPr>
          <p:cNvSpPr>
            <a:spLocks xmlns:a="http://schemas.openxmlformats.org/drawingml/2006/main" noGrp="1"/>
          </p:cNvSpPr>
          <p:nvPr/>
        </p:nvSpPr>
        <p:spPr>
          <a:xfrm xmlns:a="http://schemas.openxmlformats.org/drawingml/2006/main">
            <a:off x="7448550" y="25717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Modeling step</a:t>
            </a:r>
          </a:p>
        </p:txBody>
      </p:sp>
      <p:sp>
        <p:nvSpPr>
          <p:cNvPr id="14" name="">
            <a:extLst xmlns:a="http://schemas.openxmlformats.org/drawingml/2006/main">
              <a:ext uri="{FF2B5EF4-FFF2-40B4-BE49-F238E27FC236}">
                <a16:creationId xmlns:a16="http://schemas.microsoft.com/office/drawing/2014/main" id="{007FFE31-FA21-4BDA-8173-60C0F7241186}"/>
              </a:ext>
            </a:extLst>
          </p:cNvPr>
          <p:cNvSpPr>
            <a:spLocks xmlns:a="http://schemas.openxmlformats.org/drawingml/2006/main" noGrp="1"/>
          </p:cNvSpPr>
          <p:nvPr/>
        </p:nvSpPr>
        <p:spPr>
          <a:xfrm xmlns:a="http://schemas.openxmlformats.org/drawingml/2006/main">
            <a:off x="9544050" y="25717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Evidence available</a:t>
            </a:r>
          </a:p>
        </p:txBody>
      </p:sp>
      <p:sp>
        <p:nvSpPr>
          <p:cNvPr id="15" name="">
            <a:extLst xmlns:a="http://schemas.openxmlformats.org/drawingml/2006/main">
              <a:ext uri="{FF2B5EF4-FFF2-40B4-BE49-F238E27FC236}">
                <a16:creationId xmlns:a16="http://schemas.microsoft.com/office/drawing/2014/main" id="{C98E2AF5-8B58-46BE-A191-C457B5552786}"/>
              </a:ext>
            </a:extLst>
          </p:cNvPr>
          <p:cNvSpPr>
            <a:spLocks xmlns:a="http://schemas.openxmlformats.org/drawingml/2006/main" noGrp="1"/>
          </p:cNvSpPr>
          <p:nvPr/>
        </p:nvSpPr>
        <p:spPr>
          <a:xfrm xmlns:a="http://schemas.openxmlformats.org/drawingml/2006/main">
            <a:off x="7448550" y="3038475"/>
            <a:ext cx="76200" cy="762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0A62C01-4CF5-4456-83BF-E4B74B5E3346}"/>
              </a:ext>
            </a:extLst>
          </p:cNvPr>
          <p:cNvSpPr>
            <a:spLocks xmlns:a="http://schemas.openxmlformats.org/drawingml/2006/main" noGrp="1"/>
          </p:cNvSpPr>
          <p:nvPr/>
        </p:nvSpPr>
        <p:spPr>
          <a:xfrm xmlns:a="http://schemas.openxmlformats.org/drawingml/2006/main">
            <a:off x="7696200" y="29527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552"/>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Zero-shot prediction</a:t>
            </a:r>
          </a:p>
        </p:txBody>
      </p:sp>
      <p:sp>
        <p:nvSpPr>
          <p:cNvPr id="17" name="">
            <a:extLst xmlns:a="http://schemas.openxmlformats.org/drawingml/2006/main">
              <a:ext uri="{FF2B5EF4-FFF2-40B4-BE49-F238E27FC236}">
                <a16:creationId xmlns:a16="http://schemas.microsoft.com/office/drawing/2014/main" id="{B4A051A0-9D04-4E0A-807E-5C34161E3062}"/>
              </a:ext>
            </a:extLst>
          </p:cNvPr>
          <p:cNvSpPr>
            <a:spLocks xmlns:a="http://schemas.openxmlformats.org/drawingml/2006/main" noGrp="1"/>
          </p:cNvSpPr>
          <p:nvPr/>
        </p:nvSpPr>
        <p:spPr>
          <a:xfrm xmlns:a="http://schemas.openxmlformats.org/drawingml/2006/main">
            <a:off x="9544050" y="295275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Current trial only</a:t>
            </a:r>
          </a:p>
        </p:txBody>
      </p:sp>
      <p:sp>
        <p:nvSpPr>
          <p:cNvPr id="18" name="">
            <a:extLst xmlns:a="http://schemas.openxmlformats.org/drawingml/2006/main">
              <a:ext uri="{FF2B5EF4-FFF2-40B4-BE49-F238E27FC236}">
                <a16:creationId xmlns:a16="http://schemas.microsoft.com/office/drawing/2014/main" id="{974B5C6D-F83F-4E93-919A-549D486CD519}"/>
              </a:ext>
            </a:extLst>
          </p:cNvPr>
          <p:cNvSpPr>
            <a:spLocks xmlns:a="http://schemas.openxmlformats.org/drawingml/2006/main" noGrp="1"/>
          </p:cNvSpPr>
          <p:nvPr/>
        </p:nvSpPr>
        <p:spPr>
          <a:xfrm xmlns:a="http://schemas.openxmlformats.org/drawingml/2006/main">
            <a:off x="7448550" y="341947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0F69607-D8FD-426A-9ACF-B44C27EE12EE}"/>
              </a:ext>
            </a:extLst>
          </p:cNvPr>
          <p:cNvSpPr>
            <a:spLocks xmlns:a="http://schemas.openxmlformats.org/drawingml/2006/main" noGrp="1"/>
          </p:cNvSpPr>
          <p:nvPr/>
        </p:nvSpPr>
        <p:spPr>
          <a:xfrm xmlns:a="http://schemas.openxmlformats.org/drawingml/2006/main">
            <a:off x="7448550" y="3629025"/>
            <a:ext cx="76200" cy="76200"/>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C6ACE7B-AC76-4BBB-BFC2-6E6808616E9A}"/>
              </a:ext>
            </a:extLst>
          </p:cNvPr>
          <p:cNvSpPr>
            <a:spLocks xmlns:a="http://schemas.openxmlformats.org/drawingml/2006/main" noGrp="1"/>
          </p:cNvSpPr>
          <p:nvPr/>
        </p:nvSpPr>
        <p:spPr>
          <a:xfrm xmlns:a="http://schemas.openxmlformats.org/drawingml/2006/main">
            <a:off x="7696200" y="35433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Participant history</a:t>
            </a:r>
          </a:p>
        </p:txBody>
      </p:sp>
      <p:sp>
        <p:nvSpPr>
          <p:cNvPr id="21" name="">
            <a:extLst xmlns:a="http://schemas.openxmlformats.org/drawingml/2006/main">
              <a:ext uri="{FF2B5EF4-FFF2-40B4-BE49-F238E27FC236}">
                <a16:creationId xmlns:a16="http://schemas.microsoft.com/office/drawing/2014/main" id="{647C2F4D-39C4-4618-9234-BACF23F8D502}"/>
              </a:ext>
            </a:extLst>
          </p:cNvPr>
          <p:cNvSpPr>
            <a:spLocks xmlns:a="http://schemas.openxmlformats.org/drawingml/2006/main" noGrp="1"/>
          </p:cNvSpPr>
          <p:nvPr/>
        </p:nvSpPr>
        <p:spPr>
          <a:xfrm xmlns:a="http://schemas.openxmlformats.org/drawingml/2006/main">
            <a:off x="9544050" y="35433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Same person's past trials</a:t>
            </a:r>
          </a:p>
        </p:txBody>
      </p:sp>
      <p:sp>
        <p:nvSpPr>
          <p:cNvPr id="22" name="">
            <a:extLst xmlns:a="http://schemas.openxmlformats.org/drawingml/2006/main">
              <a:ext uri="{FF2B5EF4-FFF2-40B4-BE49-F238E27FC236}">
                <a16:creationId xmlns:a16="http://schemas.microsoft.com/office/drawing/2014/main" id="{D1C4AA68-762A-44FA-82CA-226684A597EB}"/>
              </a:ext>
            </a:extLst>
          </p:cNvPr>
          <p:cNvSpPr>
            <a:spLocks xmlns:a="http://schemas.openxmlformats.org/drawingml/2006/main" noGrp="1"/>
          </p:cNvSpPr>
          <p:nvPr/>
        </p:nvSpPr>
        <p:spPr>
          <a:xfrm xmlns:a="http://schemas.openxmlformats.org/drawingml/2006/main">
            <a:off x="7448550" y="401002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2830E53-FC0A-41F5-99DA-C91D4AD4F8F9}"/>
              </a:ext>
            </a:extLst>
          </p:cNvPr>
          <p:cNvSpPr>
            <a:spLocks xmlns:a="http://schemas.openxmlformats.org/drawingml/2006/main" noGrp="1"/>
          </p:cNvSpPr>
          <p:nvPr/>
        </p:nvSpPr>
        <p:spPr>
          <a:xfrm xmlns:a="http://schemas.openxmlformats.org/drawingml/2006/main">
            <a:off x="7448550" y="4219575"/>
            <a:ext cx="76200" cy="76200"/>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1E005C3-9291-404D-99A5-4E451D71A622}"/>
              </a:ext>
            </a:extLst>
          </p:cNvPr>
          <p:cNvSpPr>
            <a:spLocks xmlns:a="http://schemas.openxmlformats.org/drawingml/2006/main" noGrp="1"/>
          </p:cNvSpPr>
          <p:nvPr/>
        </p:nvSpPr>
        <p:spPr>
          <a:xfrm xmlns:a="http://schemas.openxmlformats.org/drawingml/2006/main">
            <a:off x="7696200" y="41338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17"/>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Fine-tuned prediction</a:t>
            </a:r>
          </a:p>
        </p:txBody>
      </p:sp>
      <p:sp>
        <p:nvSpPr>
          <p:cNvPr id="25" name="">
            <a:extLst xmlns:a="http://schemas.openxmlformats.org/drawingml/2006/main">
              <a:ext uri="{FF2B5EF4-FFF2-40B4-BE49-F238E27FC236}">
                <a16:creationId xmlns:a16="http://schemas.microsoft.com/office/drawing/2014/main" id="{959ADEE5-3497-4A78-8329-543E1C78635D}"/>
              </a:ext>
            </a:extLst>
          </p:cNvPr>
          <p:cNvSpPr>
            <a:spLocks xmlns:a="http://schemas.openxmlformats.org/drawingml/2006/main" noGrp="1"/>
          </p:cNvSpPr>
          <p:nvPr/>
        </p:nvSpPr>
        <p:spPr>
          <a:xfrm xmlns:a="http://schemas.openxmlformats.org/drawingml/2006/main">
            <a:off x="9544050" y="413385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Training participants</a:t>
            </a:r>
          </a:p>
        </p:txBody>
      </p:sp>
      <p:sp>
        <p:nvSpPr>
          <p:cNvPr id="26" name="">
            <a:extLst xmlns:a="http://schemas.openxmlformats.org/drawingml/2006/main">
              <a:ext uri="{FF2B5EF4-FFF2-40B4-BE49-F238E27FC236}">
                <a16:creationId xmlns:a16="http://schemas.microsoft.com/office/drawing/2014/main" id="{09C838FA-5D93-4535-B455-EB13B9BA5504}"/>
              </a:ext>
            </a:extLst>
          </p:cNvPr>
          <p:cNvSpPr>
            <a:spLocks xmlns:a="http://schemas.openxmlformats.org/drawingml/2006/main" noGrp="1"/>
          </p:cNvSpPr>
          <p:nvPr/>
        </p:nvSpPr>
        <p:spPr>
          <a:xfrm xmlns:a="http://schemas.openxmlformats.org/drawingml/2006/main">
            <a:off x="7448550" y="460057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5429CA5-F6AC-4362-A7FD-56D9E7BBB2DF}"/>
              </a:ext>
            </a:extLst>
          </p:cNvPr>
          <p:cNvSpPr>
            <a:spLocks xmlns:a="http://schemas.openxmlformats.org/drawingml/2006/main" noGrp="1"/>
          </p:cNvSpPr>
          <p:nvPr/>
        </p:nvSpPr>
        <p:spPr>
          <a:xfrm xmlns:a="http://schemas.openxmlformats.org/drawingml/2006/main">
            <a:off x="7448550" y="4810125"/>
            <a:ext cx="76200" cy="76200"/>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7D59E29-7834-4997-99AD-61FCB2B45A37}"/>
              </a:ext>
            </a:extLst>
          </p:cNvPr>
          <p:cNvSpPr>
            <a:spLocks xmlns:a="http://schemas.openxmlformats.org/drawingml/2006/main" noGrp="1"/>
          </p:cNvSpPr>
          <p:nvPr/>
        </p:nvSpPr>
        <p:spPr>
          <a:xfrm xmlns:a="http://schemas.openxmlformats.org/drawingml/2006/main">
            <a:off x="7696200" y="47244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Beyond prediction</a:t>
            </a:r>
          </a:p>
        </p:txBody>
      </p:sp>
      <p:sp>
        <p:nvSpPr>
          <p:cNvPr id="29" name="">
            <a:extLst xmlns:a="http://schemas.openxmlformats.org/drawingml/2006/main">
              <a:ext uri="{FF2B5EF4-FFF2-40B4-BE49-F238E27FC236}">
                <a16:creationId xmlns:a16="http://schemas.microsoft.com/office/drawing/2014/main" id="{E52C041C-9F75-4BB1-91B2-CD87856E5538}"/>
              </a:ext>
            </a:extLst>
          </p:cNvPr>
          <p:cNvSpPr>
            <a:spLocks xmlns:a="http://schemas.openxmlformats.org/drawingml/2006/main" noGrp="1"/>
          </p:cNvSpPr>
          <p:nvPr/>
        </p:nvSpPr>
        <p:spPr>
          <a:xfrm xmlns:a="http://schemas.openxmlformats.org/drawingml/2006/main">
            <a:off x="9544050" y="47244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Report or diagnostic test</a:t>
            </a:r>
          </a:p>
        </p:txBody>
      </p:sp>
    </p:spTree>
    <p:extLst>
      <p:ext uri="{BB962C8B-B14F-4D97-AF65-F5344CB8AC3E}">
        <p14:creationId xmlns:p14="http://schemas.microsoft.com/office/powerpoint/2010/main" val="12738287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7D88720-E128-47AC-940C-1AB72A55E02A}"/>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3640305B-6AC0-4457-88F0-F9E9DF68C80A}"/>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745"/>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A minimal mental model of language models</a:t>
            </a:r>
          </a:p>
        </p:txBody>
      </p:sp>
      <p:sp>
        <p:nvSpPr>
          <p:cNvPr id="3" name="">
            <a:extLst xmlns:a="http://schemas.openxmlformats.org/drawingml/2006/main">
              <a:ext uri="{FF2B5EF4-FFF2-40B4-BE49-F238E27FC236}">
                <a16:creationId xmlns:a16="http://schemas.microsoft.com/office/drawing/2014/main" id="{52C0FC7B-15AC-4E62-B399-A1E89A855C85}"/>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81876F-D4EF-4D8D-9FBA-F744951DA764}"/>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Follow the data flow once, then watch the same next-token prediction step repeat.</a:t>
            </a:r>
          </a:p>
        </p:txBody>
      </p:sp>
      <p:sp>
        <p:nvSpPr>
          <p:cNvPr id="5" name="">
            <a:extLst xmlns:a="http://schemas.openxmlformats.org/drawingml/2006/main">
              <a:ext uri="{FF2B5EF4-FFF2-40B4-BE49-F238E27FC236}">
                <a16:creationId xmlns:a16="http://schemas.microsoft.com/office/drawing/2014/main" id="{CABAC33F-402E-4861-A0B7-E48521325D37}"/>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BAF596E-35A2-48F7-B091-447EAE9964E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FB79505-F40F-40B3-B78A-72220D960C3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1535E82-321F-4DC5-91C3-A09D2FB1248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95B37F6-0570-45A6-B8C0-B6402780299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CA85BA-5FD6-4B12-92B1-AA5C6DC8D50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C6BDF41-0064-486B-B9B2-7CDF7CF261C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5FC4DCD-92DA-4655-9312-97723141380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3A741D9-779A-47DF-AC82-DF5F872F8C6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76F3EAD-6B99-47B5-AC8A-6A7CD8BBE61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8295764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C933B605-CDC3-4FC7-882F-CE7331B1CB6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Generation repeats one next-token prediction step</a:t>
            </a:r>
          </a:p>
        </p:txBody>
      </p:sp>
      <p:sp>
        <p:nvSpPr>
          <p:cNvPr id="2" name="">
            <a:extLst xmlns:a="http://schemas.openxmlformats.org/drawingml/2006/main">
              <a:ext uri="{FF2B5EF4-FFF2-40B4-BE49-F238E27FC236}">
                <a16:creationId xmlns:a16="http://schemas.microsoft.com/office/drawing/2014/main" id="{4557CE9C-297F-40AC-AF8B-714B477F839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B7DDE531-A7AA-4B49-A4F4-39CEB8DAA95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7DC588-A10F-4458-B7CF-99861400266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C8E2121-8BEA-4F78-901B-6CDBE77288C4}"/>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7932653-7E24-4A4D-86BA-C79AE607444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3A2417A-47C3-40B1-8D9D-E403001123B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E567E1-DD60-4F3C-BAF0-6CD4B3DC38E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72FB984-D3F6-4BD4-A190-AA7856C9523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B6667C9-437C-4E61-B44A-2A3A74AC40A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1E55AE1-113A-4F41-8D35-8D38EE7F8B7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F28F580-25D3-4768-A578-E5984F987BA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10C60C4-F50C-4CD6-88FC-E67F76350F9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1AB6FD5-D155-4211-B830-C90D6B6D34D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5A0810B-F21C-4EDB-BA37-B6F282C104F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overview</a:t>
            </a:r>
          </a:p>
        </p:txBody>
      </p:sp>
      <p:sp>
        <p:nvSpPr>
          <p:cNvPr id="16" name="">
            <a:extLst xmlns:a="http://schemas.openxmlformats.org/drawingml/2006/main">
              <a:ext uri="{FF2B5EF4-FFF2-40B4-BE49-F238E27FC236}">
                <a16:creationId xmlns:a16="http://schemas.microsoft.com/office/drawing/2014/main" id="{0AE6DC53-476E-4D70-811E-0769E850933D}"/>
              </a:ext>
            </a:extLst>
          </p:cNvPr>
          <p:cNvSpPr>
            <a:spLocks xmlns:a="http://schemas.openxmlformats.org/drawingml/2006/main" noGrp="1"/>
          </p:cNvSpPr>
          <p:nvPr/>
        </p:nvSpPr>
        <p:spPr>
          <a:xfrm xmlns:a="http://schemas.openxmlformats.org/drawingml/2006/main">
            <a:off x="21145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C70FFC4-3433-47FB-8F3A-761051B37E89}"/>
              </a:ext>
            </a:extLst>
          </p:cNvPr>
          <p:cNvSpPr>
            <a:spLocks xmlns:a="http://schemas.openxmlformats.org/drawingml/2006/main" noGrp="1"/>
          </p:cNvSpPr>
          <p:nvPr/>
        </p:nvSpPr>
        <p:spPr>
          <a:xfrm xmlns:a="http://schemas.openxmlformats.org/drawingml/2006/main">
            <a:off x="39052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E09F3F0-BA96-4532-BB09-1E833B5862AD}"/>
              </a:ext>
            </a:extLst>
          </p:cNvPr>
          <p:cNvSpPr>
            <a:spLocks xmlns:a="http://schemas.openxmlformats.org/drawingml/2006/main" noGrp="1"/>
          </p:cNvSpPr>
          <p:nvPr/>
        </p:nvSpPr>
        <p:spPr>
          <a:xfrm xmlns:a="http://schemas.openxmlformats.org/drawingml/2006/main">
            <a:off x="56959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348C762-7E08-4E39-B6DC-D3CDAEA62571}"/>
              </a:ext>
            </a:extLst>
          </p:cNvPr>
          <p:cNvSpPr>
            <a:spLocks xmlns:a="http://schemas.openxmlformats.org/drawingml/2006/main" noGrp="1"/>
          </p:cNvSpPr>
          <p:nvPr/>
        </p:nvSpPr>
        <p:spPr>
          <a:xfrm xmlns:a="http://schemas.openxmlformats.org/drawingml/2006/main">
            <a:off x="74866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6C639F5-1558-44DB-8D3A-9BDBA0BAD616}"/>
              </a:ext>
            </a:extLst>
          </p:cNvPr>
          <p:cNvSpPr>
            <a:spLocks xmlns:a="http://schemas.openxmlformats.org/drawingml/2006/main" noGrp="1"/>
          </p:cNvSpPr>
          <p:nvPr/>
        </p:nvSpPr>
        <p:spPr>
          <a:xfrm xmlns:a="http://schemas.openxmlformats.org/drawingml/2006/main">
            <a:off x="92773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DFFE61A-5958-4336-A8AF-0F4E4AE47E9A}"/>
              </a:ext>
            </a:extLst>
          </p:cNvPr>
          <p:cNvSpPr>
            <a:spLocks xmlns:a="http://schemas.openxmlformats.org/drawingml/2006/main" noGrp="1"/>
          </p:cNvSpPr>
          <p:nvPr/>
        </p:nvSpPr>
        <p:spPr>
          <a:xfrm xmlns:a="http://schemas.openxmlformats.org/drawingml/2006/main">
            <a:off x="6858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2" name="">
            <a:extLst xmlns:a="http://schemas.openxmlformats.org/drawingml/2006/main">
              <a:ext uri="{FF2B5EF4-FFF2-40B4-BE49-F238E27FC236}">
                <a16:creationId xmlns:a16="http://schemas.microsoft.com/office/drawing/2014/main" id="{68F68E94-5D8A-41D7-800A-9D6BA110294A}"/>
              </a:ext>
            </a:extLst>
          </p:cNvPr>
          <p:cNvSpPr>
            <a:spLocks xmlns:a="http://schemas.openxmlformats.org/drawingml/2006/main" noGrp="1"/>
          </p:cNvSpPr>
          <p:nvPr/>
        </p:nvSpPr>
        <p:spPr>
          <a:xfrm xmlns:a="http://schemas.openxmlformats.org/drawingml/2006/main">
            <a:off x="685800" y="2133600"/>
            <a:ext cx="1428750" cy="4762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C187023-5B7E-4F1C-90C2-23B23CB5E780}"/>
              </a:ext>
            </a:extLst>
          </p:cNvPr>
          <p:cNvSpPr>
            <a:spLocks xmlns:a="http://schemas.openxmlformats.org/drawingml/2006/main" noGrp="1"/>
          </p:cNvSpPr>
          <p:nvPr/>
        </p:nvSpPr>
        <p:spPr>
          <a:xfrm xmlns:a="http://schemas.openxmlformats.org/drawingml/2006/main">
            <a:off x="8001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8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Risky-choice prompt</a:t>
            </a:r>
          </a:p>
        </p:txBody>
      </p:sp>
      <p:sp>
        <p:nvSpPr>
          <p:cNvPr id="24" name="">
            <a:extLst xmlns:a="http://schemas.openxmlformats.org/drawingml/2006/main">
              <a:ext uri="{FF2B5EF4-FFF2-40B4-BE49-F238E27FC236}">
                <a16:creationId xmlns:a16="http://schemas.microsoft.com/office/drawing/2014/main" id="{BC3A62BE-9C85-44CE-9377-425E183E8990}"/>
              </a:ext>
            </a:extLst>
          </p:cNvPr>
          <p:cNvSpPr>
            <a:spLocks xmlns:a="http://schemas.openxmlformats.org/drawingml/2006/main" noGrp="1"/>
          </p:cNvSpPr>
          <p:nvPr/>
        </p:nvSpPr>
        <p:spPr>
          <a:xfrm xmlns:a="http://schemas.openxmlformats.org/drawingml/2006/main">
            <a:off x="7810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options + task context</a:t>
            </a:r>
          </a:p>
        </p:txBody>
      </p:sp>
      <p:sp>
        <p:nvSpPr>
          <p:cNvPr id="25" name="">
            <a:extLst xmlns:a="http://schemas.openxmlformats.org/drawingml/2006/main">
              <a:ext uri="{FF2B5EF4-FFF2-40B4-BE49-F238E27FC236}">
                <a16:creationId xmlns:a16="http://schemas.microsoft.com/office/drawing/2014/main" id="{8156E580-53DE-4495-8453-4775C07CFA0A}"/>
              </a:ext>
            </a:extLst>
          </p:cNvPr>
          <p:cNvSpPr>
            <a:spLocks xmlns:a="http://schemas.openxmlformats.org/drawingml/2006/main" noGrp="1"/>
          </p:cNvSpPr>
          <p:nvPr/>
        </p:nvSpPr>
        <p:spPr>
          <a:xfrm xmlns:a="http://schemas.openxmlformats.org/drawingml/2006/main">
            <a:off x="24765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6" name="">
            <a:extLst xmlns:a="http://schemas.openxmlformats.org/drawingml/2006/main">
              <a:ext uri="{FF2B5EF4-FFF2-40B4-BE49-F238E27FC236}">
                <a16:creationId xmlns:a16="http://schemas.microsoft.com/office/drawing/2014/main" id="{277EC2EB-93F2-469D-98DE-A895F585591F}"/>
              </a:ext>
            </a:extLst>
          </p:cNvPr>
          <p:cNvSpPr>
            <a:spLocks xmlns:a="http://schemas.openxmlformats.org/drawingml/2006/main" noGrp="1"/>
          </p:cNvSpPr>
          <p:nvPr/>
        </p:nvSpPr>
        <p:spPr>
          <a:xfrm xmlns:a="http://schemas.openxmlformats.org/drawingml/2006/main">
            <a:off x="2476500" y="2133600"/>
            <a:ext cx="1428750" cy="47625"/>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6237819-2DF5-43FF-8AD7-30C205E4A3A6}"/>
              </a:ext>
            </a:extLst>
          </p:cNvPr>
          <p:cNvSpPr>
            <a:spLocks xmlns:a="http://schemas.openxmlformats.org/drawingml/2006/main" noGrp="1"/>
          </p:cNvSpPr>
          <p:nvPr/>
        </p:nvSpPr>
        <p:spPr>
          <a:xfrm xmlns:a="http://schemas.openxmlformats.org/drawingml/2006/main">
            <a:off x="25908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Tokenizer</a:t>
            </a:r>
          </a:p>
        </p:txBody>
      </p:sp>
      <p:sp>
        <p:nvSpPr>
          <p:cNvPr id="28" name="">
            <a:extLst xmlns:a="http://schemas.openxmlformats.org/drawingml/2006/main">
              <a:ext uri="{FF2B5EF4-FFF2-40B4-BE49-F238E27FC236}">
                <a16:creationId xmlns:a16="http://schemas.microsoft.com/office/drawing/2014/main" id="{40A435E8-A9A2-49E6-B8D1-0ADDAF08B7BC}"/>
              </a:ext>
            </a:extLst>
          </p:cNvPr>
          <p:cNvSpPr>
            <a:spLocks xmlns:a="http://schemas.openxmlformats.org/drawingml/2006/main" noGrp="1"/>
          </p:cNvSpPr>
          <p:nvPr/>
        </p:nvSpPr>
        <p:spPr>
          <a:xfrm xmlns:a="http://schemas.openxmlformats.org/drawingml/2006/main">
            <a:off x="25717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split text into tokens</a:t>
            </a:r>
          </a:p>
        </p:txBody>
      </p:sp>
      <p:sp>
        <p:nvSpPr>
          <p:cNvPr id="29" name="">
            <a:extLst xmlns:a="http://schemas.openxmlformats.org/drawingml/2006/main">
              <a:ext uri="{FF2B5EF4-FFF2-40B4-BE49-F238E27FC236}">
                <a16:creationId xmlns:a16="http://schemas.microsoft.com/office/drawing/2014/main" id="{033E58B0-970E-492E-B05F-F9FF290439A8}"/>
              </a:ext>
            </a:extLst>
          </p:cNvPr>
          <p:cNvSpPr>
            <a:spLocks xmlns:a="http://schemas.openxmlformats.org/drawingml/2006/main" noGrp="1"/>
          </p:cNvSpPr>
          <p:nvPr/>
        </p:nvSpPr>
        <p:spPr>
          <a:xfrm xmlns:a="http://schemas.openxmlformats.org/drawingml/2006/main">
            <a:off x="42672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5782CB83-1B7C-4976-9EFA-4E7F99C5E9F2}"/>
              </a:ext>
            </a:extLst>
          </p:cNvPr>
          <p:cNvSpPr>
            <a:spLocks xmlns:a="http://schemas.openxmlformats.org/drawingml/2006/main" noGrp="1"/>
          </p:cNvSpPr>
          <p:nvPr/>
        </p:nvSpPr>
        <p:spPr>
          <a:xfrm xmlns:a="http://schemas.openxmlformats.org/drawingml/2006/main">
            <a:off x="4267200" y="2133600"/>
            <a:ext cx="1428750" cy="47625"/>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37D0977-458B-45C8-8B05-22289BAAEC3F}"/>
              </a:ext>
            </a:extLst>
          </p:cNvPr>
          <p:cNvSpPr>
            <a:spLocks xmlns:a="http://schemas.openxmlformats.org/drawingml/2006/main" noGrp="1"/>
          </p:cNvSpPr>
          <p:nvPr/>
        </p:nvSpPr>
        <p:spPr>
          <a:xfrm xmlns:a="http://schemas.openxmlformats.org/drawingml/2006/main">
            <a:off x="43815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identifiers</a:t>
            </a:r>
          </a:p>
        </p:txBody>
      </p:sp>
      <p:sp>
        <p:nvSpPr>
          <p:cNvPr id="32" name="">
            <a:extLst xmlns:a="http://schemas.openxmlformats.org/drawingml/2006/main">
              <a:ext uri="{FF2B5EF4-FFF2-40B4-BE49-F238E27FC236}">
                <a16:creationId xmlns:a16="http://schemas.microsoft.com/office/drawing/2014/main" id="{8000C50F-3922-4668-8677-E1885AFBB89C}"/>
              </a:ext>
            </a:extLst>
          </p:cNvPr>
          <p:cNvSpPr>
            <a:spLocks xmlns:a="http://schemas.openxmlformats.org/drawingml/2006/main" noGrp="1"/>
          </p:cNvSpPr>
          <p:nvPr/>
        </p:nvSpPr>
        <p:spPr>
          <a:xfrm xmlns:a="http://schemas.openxmlformats.org/drawingml/2006/main">
            <a:off x="43624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integer labels</a:t>
            </a:r>
          </a:p>
        </p:txBody>
      </p:sp>
      <p:sp>
        <p:nvSpPr>
          <p:cNvPr id="33" name="">
            <a:extLst xmlns:a="http://schemas.openxmlformats.org/drawingml/2006/main">
              <a:ext uri="{FF2B5EF4-FFF2-40B4-BE49-F238E27FC236}">
                <a16:creationId xmlns:a16="http://schemas.microsoft.com/office/drawing/2014/main" id="{F6144C2F-4E16-4A1E-A2B0-E67426101131}"/>
              </a:ext>
            </a:extLst>
          </p:cNvPr>
          <p:cNvSpPr>
            <a:spLocks xmlns:a="http://schemas.openxmlformats.org/drawingml/2006/main" noGrp="1"/>
          </p:cNvSpPr>
          <p:nvPr/>
        </p:nvSpPr>
        <p:spPr>
          <a:xfrm xmlns:a="http://schemas.openxmlformats.org/drawingml/2006/main">
            <a:off x="60579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4" name="">
            <a:extLst xmlns:a="http://schemas.openxmlformats.org/drawingml/2006/main">
              <a:ext uri="{FF2B5EF4-FFF2-40B4-BE49-F238E27FC236}">
                <a16:creationId xmlns:a16="http://schemas.microsoft.com/office/drawing/2014/main" id="{49B2C2CB-9C27-477C-9319-5E20A2E39CF1}"/>
              </a:ext>
            </a:extLst>
          </p:cNvPr>
          <p:cNvSpPr>
            <a:spLocks xmlns:a="http://schemas.openxmlformats.org/drawingml/2006/main" noGrp="1"/>
          </p:cNvSpPr>
          <p:nvPr/>
        </p:nvSpPr>
        <p:spPr>
          <a:xfrm xmlns:a="http://schemas.openxmlformats.org/drawingml/2006/main">
            <a:off x="6057900" y="2133600"/>
            <a:ext cx="1428750" cy="47625"/>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C8A219B-4095-4A03-9ECA-DE38AF3AA59A}"/>
              </a:ext>
            </a:extLst>
          </p:cNvPr>
          <p:cNvSpPr>
            <a:spLocks xmlns:a="http://schemas.openxmlformats.org/drawingml/2006/main" noGrp="1"/>
          </p:cNvSpPr>
          <p:nvPr/>
        </p:nvSpPr>
        <p:spPr>
          <a:xfrm xmlns:a="http://schemas.openxmlformats.org/drawingml/2006/main">
            <a:off x="61722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392"/>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embeddings</a:t>
            </a:r>
          </a:p>
        </p:txBody>
      </p:sp>
      <p:sp>
        <p:nvSpPr>
          <p:cNvPr id="36" name="">
            <a:extLst xmlns:a="http://schemas.openxmlformats.org/drawingml/2006/main">
              <a:ext uri="{FF2B5EF4-FFF2-40B4-BE49-F238E27FC236}">
                <a16:creationId xmlns:a16="http://schemas.microsoft.com/office/drawing/2014/main" id="{0EF1FB65-1695-4CCE-89BF-6836BFC4FEA2}"/>
              </a:ext>
            </a:extLst>
          </p:cNvPr>
          <p:cNvSpPr>
            <a:spLocks xmlns:a="http://schemas.openxmlformats.org/drawingml/2006/main" noGrp="1"/>
          </p:cNvSpPr>
          <p:nvPr/>
        </p:nvSpPr>
        <p:spPr>
          <a:xfrm xmlns:a="http://schemas.openxmlformats.org/drawingml/2006/main">
            <a:off x="61531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81"/>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vectors for the tokens</a:t>
            </a:r>
          </a:p>
        </p:txBody>
      </p:sp>
      <p:sp>
        <p:nvSpPr>
          <p:cNvPr id="37" name="">
            <a:extLst xmlns:a="http://schemas.openxmlformats.org/drawingml/2006/main">
              <a:ext uri="{FF2B5EF4-FFF2-40B4-BE49-F238E27FC236}">
                <a16:creationId xmlns:a16="http://schemas.microsoft.com/office/drawing/2014/main" id="{69074EE7-A36D-4EEE-B773-B76E25C071B5}"/>
              </a:ext>
            </a:extLst>
          </p:cNvPr>
          <p:cNvSpPr>
            <a:spLocks xmlns:a="http://schemas.openxmlformats.org/drawingml/2006/main" noGrp="1"/>
          </p:cNvSpPr>
          <p:nvPr/>
        </p:nvSpPr>
        <p:spPr>
          <a:xfrm xmlns:a="http://schemas.openxmlformats.org/drawingml/2006/main">
            <a:off x="78486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8" name="">
            <a:extLst xmlns:a="http://schemas.openxmlformats.org/drawingml/2006/main">
              <a:ext uri="{FF2B5EF4-FFF2-40B4-BE49-F238E27FC236}">
                <a16:creationId xmlns:a16="http://schemas.microsoft.com/office/drawing/2014/main" id="{9949C430-DEDD-4E9E-89AD-A07CD1C958F2}"/>
              </a:ext>
            </a:extLst>
          </p:cNvPr>
          <p:cNvSpPr>
            <a:spLocks xmlns:a="http://schemas.openxmlformats.org/drawingml/2006/main" noGrp="1"/>
          </p:cNvSpPr>
          <p:nvPr/>
        </p:nvSpPr>
        <p:spPr>
          <a:xfrm xmlns:a="http://schemas.openxmlformats.org/drawingml/2006/main">
            <a:off x="7848600" y="2133600"/>
            <a:ext cx="1428750" cy="4762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3CEB6A7-36A0-48AF-B087-EF9CB13C70EB}"/>
              </a:ext>
            </a:extLst>
          </p:cNvPr>
          <p:cNvSpPr>
            <a:spLocks xmlns:a="http://schemas.openxmlformats.org/drawingml/2006/main" noGrp="1"/>
          </p:cNvSpPr>
          <p:nvPr/>
        </p:nvSpPr>
        <p:spPr>
          <a:xfrm xmlns:a="http://schemas.openxmlformats.org/drawingml/2006/main">
            <a:off x="79629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Model blocks</a:t>
            </a:r>
          </a:p>
        </p:txBody>
      </p:sp>
      <p:sp>
        <p:nvSpPr>
          <p:cNvPr id="40" name="">
            <a:extLst xmlns:a="http://schemas.openxmlformats.org/drawingml/2006/main">
              <a:ext uri="{FF2B5EF4-FFF2-40B4-BE49-F238E27FC236}">
                <a16:creationId xmlns:a16="http://schemas.microsoft.com/office/drawing/2014/main" id="{47FA85FD-EFC1-40F4-B053-4A0D9C0199CE}"/>
              </a:ext>
            </a:extLst>
          </p:cNvPr>
          <p:cNvSpPr>
            <a:spLocks xmlns:a="http://schemas.openxmlformats.org/drawingml/2006/main" noGrp="1"/>
          </p:cNvSpPr>
          <p:nvPr/>
        </p:nvSpPr>
        <p:spPr>
          <a:xfrm xmlns:a="http://schemas.openxmlformats.org/drawingml/2006/main">
            <a:off x="79438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combine options and context</a:t>
            </a:r>
          </a:p>
        </p:txBody>
      </p:sp>
      <p:sp>
        <p:nvSpPr>
          <p:cNvPr id="41" name="">
            <a:extLst xmlns:a="http://schemas.openxmlformats.org/drawingml/2006/main">
              <a:ext uri="{FF2B5EF4-FFF2-40B4-BE49-F238E27FC236}">
                <a16:creationId xmlns:a16="http://schemas.microsoft.com/office/drawing/2014/main" id="{469A375A-1F8D-4084-BE39-9E87E9D66268}"/>
              </a:ext>
            </a:extLst>
          </p:cNvPr>
          <p:cNvSpPr>
            <a:spLocks xmlns:a="http://schemas.openxmlformats.org/drawingml/2006/main" noGrp="1"/>
          </p:cNvSpPr>
          <p:nvPr/>
        </p:nvSpPr>
        <p:spPr>
          <a:xfrm xmlns:a="http://schemas.openxmlformats.org/drawingml/2006/main">
            <a:off x="96393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42" name="">
            <a:extLst xmlns:a="http://schemas.openxmlformats.org/drawingml/2006/main">
              <a:ext uri="{FF2B5EF4-FFF2-40B4-BE49-F238E27FC236}">
                <a16:creationId xmlns:a16="http://schemas.microsoft.com/office/drawing/2014/main" id="{0677D118-578F-4AE6-9C13-BF0A3AD2B62A}"/>
              </a:ext>
            </a:extLst>
          </p:cNvPr>
          <p:cNvSpPr>
            <a:spLocks xmlns:a="http://schemas.openxmlformats.org/drawingml/2006/main" noGrp="1"/>
          </p:cNvSpPr>
          <p:nvPr/>
        </p:nvSpPr>
        <p:spPr>
          <a:xfrm xmlns:a="http://schemas.openxmlformats.org/drawingml/2006/main">
            <a:off x="9639300" y="2133600"/>
            <a:ext cx="1428750" cy="4762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7D8385AA-F3FA-4FF1-B462-3CF522CA1D56}"/>
              </a:ext>
            </a:extLst>
          </p:cNvPr>
          <p:cNvSpPr>
            <a:spLocks xmlns:a="http://schemas.openxmlformats.org/drawingml/2006/main" noGrp="1"/>
          </p:cNvSpPr>
          <p:nvPr/>
        </p:nvSpPr>
        <p:spPr>
          <a:xfrm xmlns:a="http://schemas.openxmlformats.org/drawingml/2006/main">
            <a:off x="97536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Logits</a:t>
            </a:r>
          </a:p>
        </p:txBody>
      </p:sp>
      <p:sp>
        <p:nvSpPr>
          <p:cNvPr id="44" name="">
            <a:extLst xmlns:a="http://schemas.openxmlformats.org/drawingml/2006/main">
              <a:ext uri="{FF2B5EF4-FFF2-40B4-BE49-F238E27FC236}">
                <a16:creationId xmlns:a16="http://schemas.microsoft.com/office/drawing/2014/main" id="{D21ECC86-50AC-4DFB-9F8F-6CF6673D78FD}"/>
              </a:ext>
            </a:extLst>
          </p:cNvPr>
          <p:cNvSpPr>
            <a:spLocks xmlns:a="http://schemas.openxmlformats.org/drawingml/2006/main" noGrp="1"/>
          </p:cNvSpPr>
          <p:nvPr/>
        </p:nvSpPr>
        <p:spPr>
          <a:xfrm xmlns:a="http://schemas.openxmlformats.org/drawingml/2006/main">
            <a:off x="97345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raw scores for choice labels</a:t>
            </a:r>
          </a:p>
        </p:txBody>
      </p:sp>
      <p:sp>
        <p:nvSpPr>
          <p:cNvPr id="45" name="">
            <a:extLst xmlns:a="http://schemas.openxmlformats.org/drawingml/2006/main">
              <a:ext uri="{FF2B5EF4-FFF2-40B4-BE49-F238E27FC236}">
                <a16:creationId xmlns:a16="http://schemas.microsoft.com/office/drawing/2014/main" id="{4F858E32-C7ED-4AFB-9B8D-FBDC1A33ACA8}"/>
              </a:ext>
            </a:extLst>
          </p:cNvPr>
          <p:cNvSpPr>
            <a:spLocks xmlns:a="http://schemas.openxmlformats.org/drawingml/2006/main" noGrp="1"/>
          </p:cNvSpPr>
          <p:nvPr/>
        </p:nvSpPr>
        <p:spPr>
          <a:xfrm xmlns:a="http://schemas.openxmlformats.org/drawingml/2006/main">
            <a:off x="800100" y="4724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CDF7751-7AF7-453E-9EE7-1C2FF038EC78}"/>
              </a:ext>
            </a:extLst>
          </p:cNvPr>
          <p:cNvSpPr>
            <a:spLocks xmlns:a="http://schemas.openxmlformats.org/drawingml/2006/main" noGrp="1"/>
          </p:cNvSpPr>
          <p:nvPr/>
        </p:nvSpPr>
        <p:spPr>
          <a:xfrm xmlns:a="http://schemas.openxmlformats.org/drawingml/2006/main">
            <a:off x="1028700" y="4705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One forward pass turns the current context into scores for the next token.</a:t>
            </a:r>
          </a:p>
        </p:txBody>
      </p:sp>
    </p:spTree>
    <p:extLst>
      <p:ext uri="{BB962C8B-B14F-4D97-AF65-F5344CB8AC3E}">
        <p14:creationId xmlns:p14="http://schemas.microsoft.com/office/powerpoint/2010/main" val="51043168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0D6CC111-DCB7-4101-B7F1-04DAF82D712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Generation repeats one next-token prediction step</a:t>
            </a:r>
          </a:p>
        </p:txBody>
      </p:sp>
      <p:sp>
        <p:nvSpPr>
          <p:cNvPr id="2" name="">
            <a:extLst xmlns:a="http://schemas.openxmlformats.org/drawingml/2006/main">
              <a:ext uri="{FF2B5EF4-FFF2-40B4-BE49-F238E27FC236}">
                <a16:creationId xmlns:a16="http://schemas.microsoft.com/office/drawing/2014/main" id="{74047CC5-3A30-4CEB-A5C7-945F4A25E19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DAE0184A-4D8D-4283-B37C-28AAFE846A7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B81EA47-F1FC-4AD2-8DBA-C821A19E5B6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EC69BB7A-9F41-4072-8B05-BAD2A090D019}"/>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F7C096-11C1-499B-B90B-5DE3AF23C4E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F7F4CE3-03E2-48CC-B30D-1F23A4EE8F6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2BEBCD2-B15B-4868-8E47-E103D0B9A8E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DCF9BE8-A62F-4BCA-A52A-7FD1D982A4C6}"/>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CC78AA-16CF-4745-BF3B-E630B17AF1C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76ADD73-1D9B-4FC9-A673-39BB8765E03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506AB61-01BA-4A75-9899-BA42225C9C2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468D9F7-EF7E-4976-AF2C-588163BC724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C879B3-830C-402D-B0A9-08AF4029820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9FB4F1C-5D57-43BB-988A-DA4A48DB8BE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overview</a:t>
            </a:r>
          </a:p>
        </p:txBody>
      </p:sp>
      <p:sp>
        <p:nvSpPr>
          <p:cNvPr id="16" name="">
            <a:extLst xmlns:a="http://schemas.openxmlformats.org/drawingml/2006/main">
              <a:ext uri="{FF2B5EF4-FFF2-40B4-BE49-F238E27FC236}">
                <a16:creationId xmlns:a16="http://schemas.microsoft.com/office/drawing/2014/main" id="{34704864-D7A6-40FC-B413-C39B44E04121}"/>
              </a:ext>
            </a:extLst>
          </p:cNvPr>
          <p:cNvSpPr>
            <a:spLocks xmlns:a="http://schemas.openxmlformats.org/drawingml/2006/main" noGrp="1"/>
          </p:cNvSpPr>
          <p:nvPr/>
        </p:nvSpPr>
        <p:spPr>
          <a:xfrm xmlns:a="http://schemas.openxmlformats.org/drawingml/2006/main">
            <a:off x="21145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EC03831-096F-46A9-A6A9-6906B1CA8FFF}"/>
              </a:ext>
            </a:extLst>
          </p:cNvPr>
          <p:cNvSpPr>
            <a:spLocks xmlns:a="http://schemas.openxmlformats.org/drawingml/2006/main" noGrp="1"/>
          </p:cNvSpPr>
          <p:nvPr/>
        </p:nvSpPr>
        <p:spPr>
          <a:xfrm xmlns:a="http://schemas.openxmlformats.org/drawingml/2006/main">
            <a:off x="39052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DAF036D-7C2D-4845-8C93-CAC2C7809B12}"/>
              </a:ext>
            </a:extLst>
          </p:cNvPr>
          <p:cNvSpPr>
            <a:spLocks xmlns:a="http://schemas.openxmlformats.org/drawingml/2006/main" noGrp="1"/>
          </p:cNvSpPr>
          <p:nvPr/>
        </p:nvSpPr>
        <p:spPr>
          <a:xfrm xmlns:a="http://schemas.openxmlformats.org/drawingml/2006/main">
            <a:off x="56959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BE88C28-ED18-42F5-A6ED-9540B0D2B6BB}"/>
              </a:ext>
            </a:extLst>
          </p:cNvPr>
          <p:cNvSpPr>
            <a:spLocks xmlns:a="http://schemas.openxmlformats.org/drawingml/2006/main" noGrp="1"/>
          </p:cNvSpPr>
          <p:nvPr/>
        </p:nvSpPr>
        <p:spPr>
          <a:xfrm xmlns:a="http://schemas.openxmlformats.org/drawingml/2006/main">
            <a:off x="74866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55A0A99-FEED-499A-B282-9D93CF94F2DA}"/>
              </a:ext>
            </a:extLst>
          </p:cNvPr>
          <p:cNvSpPr>
            <a:spLocks xmlns:a="http://schemas.openxmlformats.org/drawingml/2006/main" noGrp="1"/>
          </p:cNvSpPr>
          <p:nvPr/>
        </p:nvSpPr>
        <p:spPr>
          <a:xfrm xmlns:a="http://schemas.openxmlformats.org/drawingml/2006/main">
            <a:off x="92773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88B2BEA-EEB5-476C-AD40-0D42F40FA819}"/>
              </a:ext>
            </a:extLst>
          </p:cNvPr>
          <p:cNvSpPr>
            <a:spLocks xmlns:a="http://schemas.openxmlformats.org/drawingml/2006/main" noGrp="1"/>
          </p:cNvSpPr>
          <p:nvPr/>
        </p:nvSpPr>
        <p:spPr>
          <a:xfrm xmlns:a="http://schemas.openxmlformats.org/drawingml/2006/main">
            <a:off x="6858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2" name="">
            <a:extLst xmlns:a="http://schemas.openxmlformats.org/drawingml/2006/main">
              <a:ext uri="{FF2B5EF4-FFF2-40B4-BE49-F238E27FC236}">
                <a16:creationId xmlns:a16="http://schemas.microsoft.com/office/drawing/2014/main" id="{91A1DFEE-8753-4E33-95EE-7738B7BB9016}"/>
              </a:ext>
            </a:extLst>
          </p:cNvPr>
          <p:cNvSpPr>
            <a:spLocks xmlns:a="http://schemas.openxmlformats.org/drawingml/2006/main" noGrp="1"/>
          </p:cNvSpPr>
          <p:nvPr/>
        </p:nvSpPr>
        <p:spPr>
          <a:xfrm xmlns:a="http://schemas.openxmlformats.org/drawingml/2006/main">
            <a:off x="685800" y="2133600"/>
            <a:ext cx="1428750" cy="4762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CA5BBD1-8F4D-42DD-9671-D6188DDAE2EF}"/>
              </a:ext>
            </a:extLst>
          </p:cNvPr>
          <p:cNvSpPr>
            <a:spLocks xmlns:a="http://schemas.openxmlformats.org/drawingml/2006/main" noGrp="1"/>
          </p:cNvSpPr>
          <p:nvPr/>
        </p:nvSpPr>
        <p:spPr>
          <a:xfrm xmlns:a="http://schemas.openxmlformats.org/drawingml/2006/main">
            <a:off x="8001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8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Risky-choice prompt</a:t>
            </a:r>
          </a:p>
        </p:txBody>
      </p:sp>
      <p:sp>
        <p:nvSpPr>
          <p:cNvPr id="24" name="">
            <a:extLst xmlns:a="http://schemas.openxmlformats.org/drawingml/2006/main">
              <a:ext uri="{FF2B5EF4-FFF2-40B4-BE49-F238E27FC236}">
                <a16:creationId xmlns:a16="http://schemas.microsoft.com/office/drawing/2014/main" id="{DC8C793A-5441-415C-8BDE-26AAA0D139A7}"/>
              </a:ext>
            </a:extLst>
          </p:cNvPr>
          <p:cNvSpPr>
            <a:spLocks xmlns:a="http://schemas.openxmlformats.org/drawingml/2006/main" noGrp="1"/>
          </p:cNvSpPr>
          <p:nvPr/>
        </p:nvSpPr>
        <p:spPr>
          <a:xfrm xmlns:a="http://schemas.openxmlformats.org/drawingml/2006/main">
            <a:off x="7810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options + task context</a:t>
            </a:r>
          </a:p>
        </p:txBody>
      </p:sp>
      <p:sp>
        <p:nvSpPr>
          <p:cNvPr id="25" name="">
            <a:extLst xmlns:a="http://schemas.openxmlformats.org/drawingml/2006/main">
              <a:ext uri="{FF2B5EF4-FFF2-40B4-BE49-F238E27FC236}">
                <a16:creationId xmlns:a16="http://schemas.microsoft.com/office/drawing/2014/main" id="{656DD682-13AD-44C0-BE24-268CCC04427A}"/>
              </a:ext>
            </a:extLst>
          </p:cNvPr>
          <p:cNvSpPr>
            <a:spLocks xmlns:a="http://schemas.openxmlformats.org/drawingml/2006/main" noGrp="1"/>
          </p:cNvSpPr>
          <p:nvPr/>
        </p:nvSpPr>
        <p:spPr>
          <a:xfrm xmlns:a="http://schemas.openxmlformats.org/drawingml/2006/main">
            <a:off x="24765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6" name="">
            <a:extLst xmlns:a="http://schemas.openxmlformats.org/drawingml/2006/main">
              <a:ext uri="{FF2B5EF4-FFF2-40B4-BE49-F238E27FC236}">
                <a16:creationId xmlns:a16="http://schemas.microsoft.com/office/drawing/2014/main" id="{0BE14F0B-1D3C-450D-81E2-F356B2990F28}"/>
              </a:ext>
            </a:extLst>
          </p:cNvPr>
          <p:cNvSpPr>
            <a:spLocks xmlns:a="http://schemas.openxmlformats.org/drawingml/2006/main" noGrp="1"/>
          </p:cNvSpPr>
          <p:nvPr/>
        </p:nvSpPr>
        <p:spPr>
          <a:xfrm xmlns:a="http://schemas.openxmlformats.org/drawingml/2006/main">
            <a:off x="2476500" y="2133600"/>
            <a:ext cx="1428750" cy="47625"/>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E6283C8-8FF4-4506-A7E7-E958D03285F9}"/>
              </a:ext>
            </a:extLst>
          </p:cNvPr>
          <p:cNvSpPr>
            <a:spLocks xmlns:a="http://schemas.openxmlformats.org/drawingml/2006/main" noGrp="1"/>
          </p:cNvSpPr>
          <p:nvPr/>
        </p:nvSpPr>
        <p:spPr>
          <a:xfrm xmlns:a="http://schemas.openxmlformats.org/drawingml/2006/main">
            <a:off x="25908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Tokenizer</a:t>
            </a:r>
          </a:p>
        </p:txBody>
      </p:sp>
      <p:sp>
        <p:nvSpPr>
          <p:cNvPr id="28" name="">
            <a:extLst xmlns:a="http://schemas.openxmlformats.org/drawingml/2006/main">
              <a:ext uri="{FF2B5EF4-FFF2-40B4-BE49-F238E27FC236}">
                <a16:creationId xmlns:a16="http://schemas.microsoft.com/office/drawing/2014/main" id="{65D5AF3B-D513-470E-95AE-7386ADB8C46B}"/>
              </a:ext>
            </a:extLst>
          </p:cNvPr>
          <p:cNvSpPr>
            <a:spLocks xmlns:a="http://schemas.openxmlformats.org/drawingml/2006/main" noGrp="1"/>
          </p:cNvSpPr>
          <p:nvPr/>
        </p:nvSpPr>
        <p:spPr>
          <a:xfrm xmlns:a="http://schemas.openxmlformats.org/drawingml/2006/main">
            <a:off x="25717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split text into tokens</a:t>
            </a:r>
          </a:p>
        </p:txBody>
      </p:sp>
      <p:sp>
        <p:nvSpPr>
          <p:cNvPr id="29" name="">
            <a:extLst xmlns:a="http://schemas.openxmlformats.org/drawingml/2006/main">
              <a:ext uri="{FF2B5EF4-FFF2-40B4-BE49-F238E27FC236}">
                <a16:creationId xmlns:a16="http://schemas.microsoft.com/office/drawing/2014/main" id="{CE4DBECF-E352-4455-8DCB-BEBA514FBF27}"/>
              </a:ext>
            </a:extLst>
          </p:cNvPr>
          <p:cNvSpPr>
            <a:spLocks xmlns:a="http://schemas.openxmlformats.org/drawingml/2006/main" noGrp="1"/>
          </p:cNvSpPr>
          <p:nvPr/>
        </p:nvSpPr>
        <p:spPr>
          <a:xfrm xmlns:a="http://schemas.openxmlformats.org/drawingml/2006/main">
            <a:off x="42672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BFBE9060-1A15-4864-932A-492FDE62E97F}"/>
              </a:ext>
            </a:extLst>
          </p:cNvPr>
          <p:cNvSpPr>
            <a:spLocks xmlns:a="http://schemas.openxmlformats.org/drawingml/2006/main" noGrp="1"/>
          </p:cNvSpPr>
          <p:nvPr/>
        </p:nvSpPr>
        <p:spPr>
          <a:xfrm xmlns:a="http://schemas.openxmlformats.org/drawingml/2006/main">
            <a:off x="4267200" y="2133600"/>
            <a:ext cx="1428750" cy="47625"/>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13F1840-4134-459E-A2F3-D70C56AA0A62}"/>
              </a:ext>
            </a:extLst>
          </p:cNvPr>
          <p:cNvSpPr>
            <a:spLocks xmlns:a="http://schemas.openxmlformats.org/drawingml/2006/main" noGrp="1"/>
          </p:cNvSpPr>
          <p:nvPr/>
        </p:nvSpPr>
        <p:spPr>
          <a:xfrm xmlns:a="http://schemas.openxmlformats.org/drawingml/2006/main">
            <a:off x="43815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03"/>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identifiers</a:t>
            </a:r>
          </a:p>
        </p:txBody>
      </p:sp>
      <p:sp>
        <p:nvSpPr>
          <p:cNvPr id="32" name="">
            <a:extLst xmlns:a="http://schemas.openxmlformats.org/drawingml/2006/main">
              <a:ext uri="{FF2B5EF4-FFF2-40B4-BE49-F238E27FC236}">
                <a16:creationId xmlns:a16="http://schemas.microsoft.com/office/drawing/2014/main" id="{636453CA-D356-4C57-A02D-FF28942453ED}"/>
              </a:ext>
            </a:extLst>
          </p:cNvPr>
          <p:cNvSpPr>
            <a:spLocks xmlns:a="http://schemas.openxmlformats.org/drawingml/2006/main" noGrp="1"/>
          </p:cNvSpPr>
          <p:nvPr/>
        </p:nvSpPr>
        <p:spPr>
          <a:xfrm xmlns:a="http://schemas.openxmlformats.org/drawingml/2006/main">
            <a:off x="43624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integer labels</a:t>
            </a:r>
          </a:p>
        </p:txBody>
      </p:sp>
      <p:sp>
        <p:nvSpPr>
          <p:cNvPr id="33" name="">
            <a:extLst xmlns:a="http://schemas.openxmlformats.org/drawingml/2006/main">
              <a:ext uri="{FF2B5EF4-FFF2-40B4-BE49-F238E27FC236}">
                <a16:creationId xmlns:a16="http://schemas.microsoft.com/office/drawing/2014/main" id="{94B7A8CB-F8DF-4FE3-B032-9DC28B119190}"/>
              </a:ext>
            </a:extLst>
          </p:cNvPr>
          <p:cNvSpPr>
            <a:spLocks xmlns:a="http://schemas.openxmlformats.org/drawingml/2006/main" noGrp="1"/>
          </p:cNvSpPr>
          <p:nvPr/>
        </p:nvSpPr>
        <p:spPr>
          <a:xfrm xmlns:a="http://schemas.openxmlformats.org/drawingml/2006/main">
            <a:off x="60579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4" name="">
            <a:extLst xmlns:a="http://schemas.openxmlformats.org/drawingml/2006/main">
              <a:ext uri="{FF2B5EF4-FFF2-40B4-BE49-F238E27FC236}">
                <a16:creationId xmlns:a16="http://schemas.microsoft.com/office/drawing/2014/main" id="{F7DFE101-DBED-48A5-AA8B-4C26839A210F}"/>
              </a:ext>
            </a:extLst>
          </p:cNvPr>
          <p:cNvSpPr>
            <a:spLocks xmlns:a="http://schemas.openxmlformats.org/drawingml/2006/main" noGrp="1"/>
          </p:cNvSpPr>
          <p:nvPr/>
        </p:nvSpPr>
        <p:spPr>
          <a:xfrm xmlns:a="http://schemas.openxmlformats.org/drawingml/2006/main">
            <a:off x="6057900" y="2133600"/>
            <a:ext cx="1428750" cy="47625"/>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DA466C5-5797-49B2-BDC0-65155112411E}"/>
              </a:ext>
            </a:extLst>
          </p:cNvPr>
          <p:cNvSpPr>
            <a:spLocks xmlns:a="http://schemas.openxmlformats.org/drawingml/2006/main" noGrp="1"/>
          </p:cNvSpPr>
          <p:nvPr/>
        </p:nvSpPr>
        <p:spPr>
          <a:xfrm xmlns:a="http://schemas.openxmlformats.org/drawingml/2006/main">
            <a:off x="61722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392"/>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Token embeddings</a:t>
            </a:r>
          </a:p>
        </p:txBody>
      </p:sp>
      <p:sp>
        <p:nvSpPr>
          <p:cNvPr id="36" name="">
            <a:extLst xmlns:a="http://schemas.openxmlformats.org/drawingml/2006/main">
              <a:ext uri="{FF2B5EF4-FFF2-40B4-BE49-F238E27FC236}">
                <a16:creationId xmlns:a16="http://schemas.microsoft.com/office/drawing/2014/main" id="{8F35F5F6-8C65-4EEA-896F-A507CDFF55AC}"/>
              </a:ext>
            </a:extLst>
          </p:cNvPr>
          <p:cNvSpPr>
            <a:spLocks xmlns:a="http://schemas.openxmlformats.org/drawingml/2006/main" noGrp="1"/>
          </p:cNvSpPr>
          <p:nvPr/>
        </p:nvSpPr>
        <p:spPr>
          <a:xfrm xmlns:a="http://schemas.openxmlformats.org/drawingml/2006/main">
            <a:off x="61531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81"/>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vectors for the tokens</a:t>
            </a:r>
          </a:p>
        </p:txBody>
      </p:sp>
      <p:sp>
        <p:nvSpPr>
          <p:cNvPr id="37" name="">
            <a:extLst xmlns:a="http://schemas.openxmlformats.org/drawingml/2006/main">
              <a:ext uri="{FF2B5EF4-FFF2-40B4-BE49-F238E27FC236}">
                <a16:creationId xmlns:a16="http://schemas.microsoft.com/office/drawing/2014/main" id="{FAD46C98-A6FD-483B-A021-6AA50EC60110}"/>
              </a:ext>
            </a:extLst>
          </p:cNvPr>
          <p:cNvSpPr>
            <a:spLocks xmlns:a="http://schemas.openxmlformats.org/drawingml/2006/main" noGrp="1"/>
          </p:cNvSpPr>
          <p:nvPr/>
        </p:nvSpPr>
        <p:spPr>
          <a:xfrm xmlns:a="http://schemas.openxmlformats.org/drawingml/2006/main">
            <a:off x="78486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8" name="">
            <a:extLst xmlns:a="http://schemas.openxmlformats.org/drawingml/2006/main">
              <a:ext uri="{FF2B5EF4-FFF2-40B4-BE49-F238E27FC236}">
                <a16:creationId xmlns:a16="http://schemas.microsoft.com/office/drawing/2014/main" id="{D69AD37C-38F0-4F13-A391-DC1EB038D7F1}"/>
              </a:ext>
            </a:extLst>
          </p:cNvPr>
          <p:cNvSpPr>
            <a:spLocks xmlns:a="http://schemas.openxmlformats.org/drawingml/2006/main" noGrp="1"/>
          </p:cNvSpPr>
          <p:nvPr/>
        </p:nvSpPr>
        <p:spPr>
          <a:xfrm xmlns:a="http://schemas.openxmlformats.org/drawingml/2006/main">
            <a:off x="7848600" y="2133600"/>
            <a:ext cx="1428750" cy="4762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B9A353A-15B4-493A-9609-D7028EAA484D}"/>
              </a:ext>
            </a:extLst>
          </p:cNvPr>
          <p:cNvSpPr>
            <a:spLocks xmlns:a="http://schemas.openxmlformats.org/drawingml/2006/main" noGrp="1"/>
          </p:cNvSpPr>
          <p:nvPr/>
        </p:nvSpPr>
        <p:spPr>
          <a:xfrm xmlns:a="http://schemas.openxmlformats.org/drawingml/2006/main">
            <a:off x="79629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Model blocks</a:t>
            </a:r>
          </a:p>
        </p:txBody>
      </p:sp>
      <p:sp>
        <p:nvSpPr>
          <p:cNvPr id="40" name="">
            <a:extLst xmlns:a="http://schemas.openxmlformats.org/drawingml/2006/main">
              <a:ext uri="{FF2B5EF4-FFF2-40B4-BE49-F238E27FC236}">
                <a16:creationId xmlns:a16="http://schemas.microsoft.com/office/drawing/2014/main" id="{30A2F155-1AF7-4BB7-BC33-0727D1B44C66}"/>
              </a:ext>
            </a:extLst>
          </p:cNvPr>
          <p:cNvSpPr>
            <a:spLocks xmlns:a="http://schemas.openxmlformats.org/drawingml/2006/main" noGrp="1"/>
          </p:cNvSpPr>
          <p:nvPr/>
        </p:nvSpPr>
        <p:spPr>
          <a:xfrm xmlns:a="http://schemas.openxmlformats.org/drawingml/2006/main">
            <a:off x="79438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combine options and context</a:t>
            </a:r>
          </a:p>
        </p:txBody>
      </p:sp>
      <p:sp>
        <p:nvSpPr>
          <p:cNvPr id="41" name="">
            <a:extLst xmlns:a="http://schemas.openxmlformats.org/drawingml/2006/main">
              <a:ext uri="{FF2B5EF4-FFF2-40B4-BE49-F238E27FC236}">
                <a16:creationId xmlns:a16="http://schemas.microsoft.com/office/drawing/2014/main" id="{37C36D5A-0E08-4E93-A0DE-B5F8B5CA151E}"/>
              </a:ext>
            </a:extLst>
          </p:cNvPr>
          <p:cNvSpPr>
            <a:spLocks xmlns:a="http://schemas.openxmlformats.org/drawingml/2006/main" noGrp="1"/>
          </p:cNvSpPr>
          <p:nvPr/>
        </p:nvSpPr>
        <p:spPr>
          <a:xfrm xmlns:a="http://schemas.openxmlformats.org/drawingml/2006/main">
            <a:off x="96393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42" name="">
            <a:extLst xmlns:a="http://schemas.openxmlformats.org/drawingml/2006/main">
              <a:ext uri="{FF2B5EF4-FFF2-40B4-BE49-F238E27FC236}">
                <a16:creationId xmlns:a16="http://schemas.microsoft.com/office/drawing/2014/main" id="{BDD90897-466B-4AC9-9BEF-789B2B2C7ADC}"/>
              </a:ext>
            </a:extLst>
          </p:cNvPr>
          <p:cNvSpPr>
            <a:spLocks xmlns:a="http://schemas.openxmlformats.org/drawingml/2006/main" noGrp="1"/>
          </p:cNvSpPr>
          <p:nvPr/>
        </p:nvSpPr>
        <p:spPr>
          <a:xfrm xmlns:a="http://schemas.openxmlformats.org/drawingml/2006/main">
            <a:off x="9639300" y="2133600"/>
            <a:ext cx="1428750" cy="4762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BB06120E-5EBE-4624-8B72-B5669B186D27}"/>
              </a:ext>
            </a:extLst>
          </p:cNvPr>
          <p:cNvSpPr>
            <a:spLocks xmlns:a="http://schemas.openxmlformats.org/drawingml/2006/main" noGrp="1"/>
          </p:cNvSpPr>
          <p:nvPr/>
        </p:nvSpPr>
        <p:spPr>
          <a:xfrm xmlns:a="http://schemas.openxmlformats.org/drawingml/2006/main">
            <a:off x="9753600" y="2343150"/>
            <a:ext cx="1200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Logits</a:t>
            </a:r>
          </a:p>
        </p:txBody>
      </p:sp>
      <p:sp>
        <p:nvSpPr>
          <p:cNvPr id="44" name="">
            <a:extLst xmlns:a="http://schemas.openxmlformats.org/drawingml/2006/main">
              <a:ext uri="{FF2B5EF4-FFF2-40B4-BE49-F238E27FC236}">
                <a16:creationId xmlns:a16="http://schemas.microsoft.com/office/drawing/2014/main" id="{B2B126E5-C959-43CA-8393-1967749A2B81}"/>
              </a:ext>
            </a:extLst>
          </p:cNvPr>
          <p:cNvSpPr>
            <a:spLocks xmlns:a="http://schemas.openxmlformats.org/drawingml/2006/main" noGrp="1"/>
          </p:cNvSpPr>
          <p:nvPr/>
        </p:nvSpPr>
        <p:spPr>
          <a:xfrm xmlns:a="http://schemas.openxmlformats.org/drawingml/2006/main">
            <a:off x="9734550" y="27241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422"/>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raw scores for choice labels</a:t>
            </a:r>
          </a:p>
        </p:txBody>
      </p:sp>
      <p:sp>
        <p:nvSpPr>
          <p:cNvPr id="45" name="">
            <a:extLst xmlns:a="http://schemas.openxmlformats.org/drawingml/2006/main">
              <a:ext uri="{FF2B5EF4-FFF2-40B4-BE49-F238E27FC236}">
                <a16:creationId xmlns:a16="http://schemas.microsoft.com/office/drawing/2014/main" id="{0A32570B-6EE8-46EF-8900-ECD249A88C2B}"/>
              </a:ext>
            </a:extLst>
          </p:cNvPr>
          <p:cNvSpPr>
            <a:spLocks xmlns:a="http://schemas.openxmlformats.org/drawingml/2006/main" noGrp="1"/>
          </p:cNvSpPr>
          <p:nvPr/>
        </p:nvSpPr>
        <p:spPr>
          <a:xfrm xmlns:a="http://schemas.openxmlformats.org/drawingml/2006/main">
            <a:off x="4286250" y="43338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BF0A7291-F5BE-4059-98E4-F388C7A417FE}"/>
              </a:ext>
            </a:extLst>
          </p:cNvPr>
          <p:cNvSpPr>
            <a:spLocks xmlns:a="http://schemas.openxmlformats.org/drawingml/2006/main" noGrp="1"/>
          </p:cNvSpPr>
          <p:nvPr/>
        </p:nvSpPr>
        <p:spPr>
          <a:xfrm xmlns:a="http://schemas.openxmlformats.org/drawingml/2006/main">
            <a:off x="6477000" y="43338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B195D5D9-D0A8-4A92-94D5-0BD67B33842A}"/>
              </a:ext>
            </a:extLst>
          </p:cNvPr>
          <p:cNvSpPr>
            <a:spLocks xmlns:a="http://schemas.openxmlformats.org/drawingml/2006/main" noGrp="1"/>
          </p:cNvSpPr>
          <p:nvPr/>
        </p:nvSpPr>
        <p:spPr>
          <a:xfrm xmlns:a="http://schemas.openxmlformats.org/drawingml/2006/main">
            <a:off x="8667750" y="43338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579563D4-D675-47B8-BD6D-D2EF897C9983}"/>
              </a:ext>
            </a:extLst>
          </p:cNvPr>
          <p:cNvSpPr>
            <a:spLocks xmlns:a="http://schemas.openxmlformats.org/drawingml/2006/main" noGrp="1"/>
          </p:cNvSpPr>
          <p:nvPr/>
        </p:nvSpPr>
        <p:spPr>
          <a:xfrm xmlns:a="http://schemas.openxmlformats.org/drawingml/2006/main">
            <a:off x="781050" y="40100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45"/>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Generation routine</a:t>
            </a:r>
          </a:p>
        </p:txBody>
      </p:sp>
      <p:sp>
        <p:nvSpPr>
          <p:cNvPr id="49" name="">
            <a:extLst xmlns:a="http://schemas.openxmlformats.org/drawingml/2006/main">
              <a:ext uri="{FF2B5EF4-FFF2-40B4-BE49-F238E27FC236}">
                <a16:creationId xmlns:a16="http://schemas.microsoft.com/office/drawing/2014/main" id="{2C0FD9CF-370A-41B8-8010-6A1A92084C2C}"/>
              </a:ext>
            </a:extLst>
          </p:cNvPr>
          <p:cNvSpPr>
            <a:spLocks xmlns:a="http://schemas.openxmlformats.org/drawingml/2006/main" noGrp="1"/>
          </p:cNvSpPr>
          <p:nvPr/>
        </p:nvSpPr>
        <p:spPr>
          <a:xfrm xmlns:a="http://schemas.openxmlformats.org/drawingml/2006/main">
            <a:off x="257175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0" name="">
            <a:extLst xmlns:a="http://schemas.openxmlformats.org/drawingml/2006/main">
              <a:ext uri="{FF2B5EF4-FFF2-40B4-BE49-F238E27FC236}">
                <a16:creationId xmlns:a16="http://schemas.microsoft.com/office/drawing/2014/main" id="{22E6D65A-4111-4049-8C8F-D29931BA00F5}"/>
              </a:ext>
            </a:extLst>
          </p:cNvPr>
          <p:cNvSpPr>
            <a:spLocks xmlns:a="http://schemas.openxmlformats.org/drawingml/2006/main" noGrp="1"/>
          </p:cNvSpPr>
          <p:nvPr/>
        </p:nvSpPr>
        <p:spPr>
          <a:xfrm xmlns:a="http://schemas.openxmlformats.org/drawingml/2006/main">
            <a:off x="268605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Normalize logits</a:t>
            </a:r>
          </a:p>
        </p:txBody>
      </p:sp>
      <p:sp>
        <p:nvSpPr>
          <p:cNvPr id="51" name="">
            <a:extLst xmlns:a="http://schemas.openxmlformats.org/drawingml/2006/main">
              <a:ext uri="{FF2B5EF4-FFF2-40B4-BE49-F238E27FC236}">
                <a16:creationId xmlns:a16="http://schemas.microsoft.com/office/drawing/2014/main" id="{B6568041-3754-474A-9844-50773F4A5B06}"/>
              </a:ext>
            </a:extLst>
          </p:cNvPr>
          <p:cNvSpPr>
            <a:spLocks xmlns:a="http://schemas.openxmlformats.org/drawingml/2006/main" noGrp="1"/>
          </p:cNvSpPr>
          <p:nvPr/>
        </p:nvSpPr>
        <p:spPr>
          <a:xfrm xmlns:a="http://schemas.openxmlformats.org/drawingml/2006/main">
            <a:off x="268605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probabilities (softmax)</a:t>
            </a:r>
          </a:p>
        </p:txBody>
      </p:sp>
      <p:sp>
        <p:nvSpPr>
          <p:cNvPr id="52" name="">
            <a:extLst xmlns:a="http://schemas.openxmlformats.org/drawingml/2006/main">
              <a:ext uri="{FF2B5EF4-FFF2-40B4-BE49-F238E27FC236}">
                <a16:creationId xmlns:a16="http://schemas.microsoft.com/office/drawing/2014/main" id="{41DDAC81-1163-4ABB-90E4-B65A52A8B323}"/>
              </a:ext>
            </a:extLst>
          </p:cNvPr>
          <p:cNvSpPr>
            <a:spLocks xmlns:a="http://schemas.openxmlformats.org/drawingml/2006/main" noGrp="1"/>
          </p:cNvSpPr>
          <p:nvPr/>
        </p:nvSpPr>
        <p:spPr>
          <a:xfrm xmlns:a="http://schemas.openxmlformats.org/drawingml/2006/main">
            <a:off x="476250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3" name="">
            <a:extLst xmlns:a="http://schemas.openxmlformats.org/drawingml/2006/main">
              <a:ext uri="{FF2B5EF4-FFF2-40B4-BE49-F238E27FC236}">
                <a16:creationId xmlns:a16="http://schemas.microsoft.com/office/drawing/2014/main" id="{B6CB1D63-F80B-4EF7-ABA7-255C3C1A4D15}"/>
              </a:ext>
            </a:extLst>
          </p:cNvPr>
          <p:cNvSpPr>
            <a:spLocks xmlns:a="http://schemas.openxmlformats.org/drawingml/2006/main" noGrp="1"/>
          </p:cNvSpPr>
          <p:nvPr/>
        </p:nvSpPr>
        <p:spPr>
          <a:xfrm xmlns:a="http://schemas.openxmlformats.org/drawingml/2006/main">
            <a:off x="487680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Choose one token</a:t>
            </a:r>
          </a:p>
        </p:txBody>
      </p:sp>
      <p:sp>
        <p:nvSpPr>
          <p:cNvPr id="54" name="">
            <a:extLst xmlns:a="http://schemas.openxmlformats.org/drawingml/2006/main">
              <a:ext uri="{FF2B5EF4-FFF2-40B4-BE49-F238E27FC236}">
                <a16:creationId xmlns:a16="http://schemas.microsoft.com/office/drawing/2014/main" id="{46D932DF-D943-41D3-99CF-5D58F9C4426C}"/>
              </a:ext>
            </a:extLst>
          </p:cNvPr>
          <p:cNvSpPr>
            <a:spLocks xmlns:a="http://schemas.openxmlformats.org/drawingml/2006/main" noGrp="1"/>
          </p:cNvSpPr>
          <p:nvPr/>
        </p:nvSpPr>
        <p:spPr>
          <a:xfrm xmlns:a="http://schemas.openxmlformats.org/drawingml/2006/main">
            <a:off x="487680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choice label A or B</a:t>
            </a:r>
          </a:p>
        </p:txBody>
      </p:sp>
      <p:sp>
        <p:nvSpPr>
          <p:cNvPr id="55" name="">
            <a:extLst xmlns:a="http://schemas.openxmlformats.org/drawingml/2006/main">
              <a:ext uri="{FF2B5EF4-FFF2-40B4-BE49-F238E27FC236}">
                <a16:creationId xmlns:a16="http://schemas.microsoft.com/office/drawing/2014/main" id="{AAD57C27-25B8-4F3A-925C-B1466759C506}"/>
              </a:ext>
            </a:extLst>
          </p:cNvPr>
          <p:cNvSpPr>
            <a:spLocks xmlns:a="http://schemas.openxmlformats.org/drawingml/2006/main" noGrp="1"/>
          </p:cNvSpPr>
          <p:nvPr/>
        </p:nvSpPr>
        <p:spPr>
          <a:xfrm xmlns:a="http://schemas.openxmlformats.org/drawingml/2006/main">
            <a:off x="6953250" y="3848100"/>
            <a:ext cx="1714500" cy="895350"/>
          </a:xfrm>
          <a:prstGeom xmlns:a="http://schemas.openxmlformats.org/drawingml/2006/main" prst="roundRect">
            <a:avLst>
              <a:gd name="adj" fmla="val 8511"/>
            </a:avLst>
          </a:prstGeom>
          <a:solidFill xmlns:a="http://schemas.openxmlformats.org/drawingml/2006/main">
            <a:srgbClr val="F8F1E8"/>
          </a:solidFill>
          <a:ln xmlns:a="http://schemas.openxmlformats.org/drawingml/2006/main" w="9525">
            <a:solidFill>
              <a:srgbClr val="CBD1D8"/>
            </a:solidFill>
            <a:prstDash val="solid"/>
          </a:ln>
        </p:spPr>
      </p:sp>
      <p:sp>
        <p:nvSpPr>
          <p:cNvPr id="56" name="">
            <a:extLst xmlns:a="http://schemas.openxmlformats.org/drawingml/2006/main">
              <a:ext uri="{FF2B5EF4-FFF2-40B4-BE49-F238E27FC236}">
                <a16:creationId xmlns:a16="http://schemas.microsoft.com/office/drawing/2014/main" id="{5F8D3E3B-AEF2-4D67-8B51-025A297C8F68}"/>
              </a:ext>
            </a:extLst>
          </p:cNvPr>
          <p:cNvSpPr>
            <a:spLocks xmlns:a="http://schemas.openxmlformats.org/drawingml/2006/main" noGrp="1"/>
          </p:cNvSpPr>
          <p:nvPr/>
        </p:nvSpPr>
        <p:spPr>
          <a:xfrm xmlns:a="http://schemas.openxmlformats.org/drawingml/2006/main">
            <a:off x="706755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Arial"/>
                <a:ea typeface="Arial"/>
                <a:cs typeface="Arial"/>
              </a:defRPr>
            </a:pPr>
            <a:r>
              <a:rPr sz="1275" b="1" i="0">
                <a:solidFill>
                  <a:srgbClr val="87591F"/>
                </a:solidFill>
                <a:latin typeface="Arial"/>
                <a:ea typeface="Arial"/>
                <a:cs typeface="Arial"/>
              </a:rPr>
              <a:t>Append the token</a:t>
            </a:r>
          </a:p>
        </p:txBody>
      </p:sp>
      <p:sp>
        <p:nvSpPr>
          <p:cNvPr id="57" name="">
            <a:extLst xmlns:a="http://schemas.openxmlformats.org/drawingml/2006/main">
              <a:ext uri="{FF2B5EF4-FFF2-40B4-BE49-F238E27FC236}">
                <a16:creationId xmlns:a16="http://schemas.microsoft.com/office/drawing/2014/main" id="{929919A0-EB2E-421C-9815-D5AAE52C02FE}"/>
              </a:ext>
            </a:extLst>
          </p:cNvPr>
          <p:cNvSpPr>
            <a:spLocks xmlns:a="http://schemas.openxmlformats.org/drawingml/2006/main" noGrp="1"/>
          </p:cNvSpPr>
          <p:nvPr/>
        </p:nvSpPr>
        <p:spPr>
          <a:xfrm xmlns:a="http://schemas.openxmlformats.org/drawingml/2006/main">
            <a:off x="706755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update the context</a:t>
            </a:r>
          </a:p>
        </p:txBody>
      </p:sp>
      <p:sp>
        <p:nvSpPr>
          <p:cNvPr id="58" name="">
            <a:extLst xmlns:a="http://schemas.openxmlformats.org/drawingml/2006/main">
              <a:ext uri="{FF2B5EF4-FFF2-40B4-BE49-F238E27FC236}">
                <a16:creationId xmlns:a16="http://schemas.microsoft.com/office/drawing/2014/main" id="{2E4E5AB7-828E-4F67-8A0A-C5114579B35F}"/>
              </a:ext>
            </a:extLst>
          </p:cNvPr>
          <p:cNvSpPr>
            <a:spLocks xmlns:a="http://schemas.openxmlformats.org/drawingml/2006/main" noGrp="1"/>
          </p:cNvSpPr>
          <p:nvPr/>
        </p:nvSpPr>
        <p:spPr>
          <a:xfrm xmlns:a="http://schemas.openxmlformats.org/drawingml/2006/main">
            <a:off x="914400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9" name="">
            <a:extLst xmlns:a="http://schemas.openxmlformats.org/drawingml/2006/main">
              <a:ext uri="{FF2B5EF4-FFF2-40B4-BE49-F238E27FC236}">
                <a16:creationId xmlns:a16="http://schemas.microsoft.com/office/drawing/2014/main" id="{24674C7A-642D-468E-8EE8-EB46A0AB3D5A}"/>
              </a:ext>
            </a:extLst>
          </p:cNvPr>
          <p:cNvSpPr>
            <a:spLocks xmlns:a="http://schemas.openxmlformats.org/drawingml/2006/main" noGrp="1"/>
          </p:cNvSpPr>
          <p:nvPr/>
        </p:nvSpPr>
        <p:spPr>
          <a:xfrm xmlns:a="http://schemas.openxmlformats.org/drawingml/2006/main">
            <a:off x="925830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79"/>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Run the model again</a:t>
            </a:r>
          </a:p>
        </p:txBody>
      </p:sp>
      <p:sp>
        <p:nvSpPr>
          <p:cNvPr id="60" name="">
            <a:extLst xmlns:a="http://schemas.openxmlformats.org/drawingml/2006/main">
              <a:ext uri="{FF2B5EF4-FFF2-40B4-BE49-F238E27FC236}">
                <a16:creationId xmlns:a16="http://schemas.microsoft.com/office/drawing/2014/main" id="{5C37A476-4091-4BCC-9A1B-DFA2AB87473C}"/>
              </a:ext>
            </a:extLst>
          </p:cNvPr>
          <p:cNvSpPr>
            <a:spLocks xmlns:a="http://schemas.openxmlformats.org/drawingml/2006/main" noGrp="1"/>
          </p:cNvSpPr>
          <p:nvPr/>
        </p:nvSpPr>
        <p:spPr>
          <a:xfrm xmlns:a="http://schemas.openxmlformats.org/drawingml/2006/main">
            <a:off x="925830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new context, new logits</a:t>
            </a:r>
          </a:p>
        </p:txBody>
      </p:sp>
      <p:sp>
        <p:nvSpPr>
          <p:cNvPr id="61" name="">
            <a:extLst xmlns:a="http://schemas.openxmlformats.org/drawingml/2006/main">
              <a:ext uri="{FF2B5EF4-FFF2-40B4-BE49-F238E27FC236}">
                <a16:creationId xmlns:a16="http://schemas.microsoft.com/office/drawing/2014/main" id="{636F98FE-14E2-41FE-A61B-9CDD94118815}"/>
              </a:ext>
            </a:extLst>
          </p:cNvPr>
          <p:cNvSpPr>
            <a:spLocks xmlns:a="http://schemas.openxmlformats.org/drawingml/2006/main" noGrp="1"/>
          </p:cNvSpPr>
          <p:nvPr/>
        </p:nvSpPr>
        <p:spPr>
          <a:xfrm xmlns:a="http://schemas.openxmlformats.org/drawingml/2006/main">
            <a:off x="8020050" y="485775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Repeat until a stop token</a:t>
            </a:r>
          </a:p>
        </p:txBody>
      </p:sp>
      <p:sp>
        <p:nvSpPr>
          <p:cNvPr id="62" name="">
            <a:extLst xmlns:a="http://schemas.openxmlformats.org/drawingml/2006/main">
              <a:ext uri="{FF2B5EF4-FFF2-40B4-BE49-F238E27FC236}">
                <a16:creationId xmlns:a16="http://schemas.microsoft.com/office/drawing/2014/main" id="{D8C0E003-E0A2-4769-B46F-C576ECD13F79}"/>
              </a:ext>
            </a:extLst>
          </p:cNvPr>
          <p:cNvSpPr>
            <a:spLocks xmlns:a="http://schemas.openxmlformats.org/drawingml/2006/main" noGrp="1"/>
          </p:cNvSpPr>
          <p:nvPr/>
        </p:nvSpPr>
        <p:spPr>
          <a:xfrm xmlns:a="http://schemas.openxmlformats.org/drawingml/2006/main">
            <a:off x="3028950" y="48577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234E70"/>
                </a:solidFill>
                <a:latin typeface="Consolas"/>
                <a:ea typeface="Consolas"/>
                <a:cs typeface="Consolas"/>
              </a:defRPr>
            </a:pPr>
            <a:r>
              <a:rPr sz="1200" b="1" i="0">
                <a:solidFill>
                  <a:srgbClr val="234E70"/>
                </a:solidFill>
                <a:latin typeface="Consolas"/>
                <a:ea typeface="Consolas"/>
                <a:cs typeface="Consolas"/>
              </a:rPr>
              <a:t>← updated context changes the next prediction</a:t>
            </a:r>
          </a:p>
        </p:txBody>
      </p:sp>
      <p:sp>
        <p:nvSpPr>
          <p:cNvPr id="63" name="">
            <a:extLst xmlns:a="http://schemas.openxmlformats.org/drawingml/2006/main">
              <a:ext uri="{FF2B5EF4-FFF2-40B4-BE49-F238E27FC236}">
                <a16:creationId xmlns:a16="http://schemas.microsoft.com/office/drawing/2014/main" id="{E22AD871-C1BA-4B01-8016-178E7C3B9EB7}"/>
              </a:ext>
            </a:extLst>
          </p:cNvPr>
          <p:cNvSpPr>
            <a:spLocks xmlns:a="http://schemas.openxmlformats.org/drawingml/2006/main" noGrp="1"/>
          </p:cNvSpPr>
          <p:nvPr/>
        </p:nvSpPr>
        <p:spPr>
          <a:xfrm xmlns:a="http://schemas.openxmlformats.org/drawingml/2006/main">
            <a:off x="781050" y="5257800"/>
            <a:ext cx="1045845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32DC789A-CEBA-4747-9F95-65C78E7EAA5C}"/>
              </a:ext>
            </a:extLst>
          </p:cNvPr>
          <p:cNvSpPr>
            <a:spLocks xmlns:a="http://schemas.openxmlformats.org/drawingml/2006/main" noGrp="1"/>
          </p:cNvSpPr>
          <p:nvPr/>
        </p:nvSpPr>
        <p:spPr>
          <a:xfrm xmlns:a="http://schemas.openxmlformats.org/drawingml/2006/main">
            <a:off x="990600" y="54292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After generation stops</a:t>
            </a:r>
          </a:p>
        </p:txBody>
      </p:sp>
      <p:sp>
        <p:nvSpPr>
          <p:cNvPr id="65" name="">
            <a:extLst xmlns:a="http://schemas.openxmlformats.org/drawingml/2006/main">
              <a:ext uri="{FF2B5EF4-FFF2-40B4-BE49-F238E27FC236}">
                <a16:creationId xmlns:a16="http://schemas.microsoft.com/office/drawing/2014/main" id="{EE7302AC-C250-49D6-B01B-DA9CA7A9983E}"/>
              </a:ext>
            </a:extLst>
          </p:cNvPr>
          <p:cNvSpPr>
            <a:spLocks xmlns:a="http://schemas.openxmlformats.org/drawingml/2006/main" noGrp="1"/>
          </p:cNvSpPr>
          <p:nvPr/>
        </p:nvSpPr>
        <p:spPr>
          <a:xfrm xmlns:a="http://schemas.openxmlformats.org/drawingml/2006/main">
            <a:off x="3162300" y="54292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token sequence  →  tokenizer decodes  →  readable text</a:t>
            </a:r>
          </a:p>
        </p:txBody>
      </p:sp>
    </p:spTree>
    <p:extLst>
      <p:ext uri="{BB962C8B-B14F-4D97-AF65-F5344CB8AC3E}">
        <p14:creationId xmlns:p14="http://schemas.microsoft.com/office/powerpoint/2010/main" val="105533110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DB304688-462E-4A33-91EC-C79D2F15573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tokenizer turns text into discrete model inputs</a:t>
            </a:r>
          </a:p>
        </p:txBody>
      </p:sp>
      <p:sp>
        <p:nvSpPr>
          <p:cNvPr id="2" name="">
            <a:extLst xmlns:a="http://schemas.openxmlformats.org/drawingml/2006/main">
              <a:ext uri="{FF2B5EF4-FFF2-40B4-BE49-F238E27FC236}">
                <a16:creationId xmlns:a16="http://schemas.microsoft.com/office/drawing/2014/main" id="{623F1D0E-ABA4-4955-AE50-44EB6C07297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91919E24-1BE4-40C3-ACE3-FA12C82B7D4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F80223-F9C3-42B4-BBA0-7209D1B0A70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480E8CF1-6B9E-4EC5-8775-0813773F3B17}"/>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886CF20-B039-4444-AE17-ABAA86A24BB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FD12E2A-C8D2-4E03-B360-A7FB7B7D6FB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31F871-FC4E-4265-BCB3-B612879ED1D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1A2024E-8474-457E-B59C-513360A75AC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9B71B61-0CFB-4A1E-A768-2EA0FDCCF1C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173F3CF-1A32-4BAC-8C54-980A31DD2AC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9416F7B-678D-4AA1-9013-C7A5BBD7AB4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57EE5BE-1515-4198-A359-D00084E3765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0C469B-9FBC-414F-A8FE-AA7AA83F6CB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41EC42A-B191-4C7E-9E0C-8D33EC5C922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Illustrative tokenization; exact pieces depend on the model</a:t>
            </a:r>
          </a:p>
        </p:txBody>
      </p:sp>
      <p:sp>
        <p:nvSpPr>
          <p:cNvPr id="16" name="">
            <a:extLst xmlns:a="http://schemas.openxmlformats.org/drawingml/2006/main">
              <a:ext uri="{FF2B5EF4-FFF2-40B4-BE49-F238E27FC236}">
                <a16:creationId xmlns:a16="http://schemas.microsoft.com/office/drawing/2014/main" id="{0E5BD03D-7DED-4366-B1DD-A42D33A44C76}"/>
              </a:ext>
            </a:extLst>
          </p:cNvPr>
          <p:cNvSpPr>
            <a:spLocks xmlns:a="http://schemas.openxmlformats.org/drawingml/2006/main" noGrp="1"/>
          </p:cNvSpPr>
          <p:nvPr/>
        </p:nvSpPr>
        <p:spPr>
          <a:xfrm xmlns:a="http://schemas.openxmlformats.org/drawingml/2006/main">
            <a:off x="800100" y="2038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Human-readable prompt</a:t>
            </a:r>
          </a:p>
        </p:txBody>
      </p:sp>
      <p:sp>
        <p:nvSpPr>
          <p:cNvPr id="17" name="">
            <a:extLst xmlns:a="http://schemas.openxmlformats.org/drawingml/2006/main">
              <a:ext uri="{FF2B5EF4-FFF2-40B4-BE49-F238E27FC236}">
                <a16:creationId xmlns:a16="http://schemas.microsoft.com/office/drawing/2014/main" id="{0EDE3FC2-0A5C-48C1-B997-77A871C9C63B}"/>
              </a:ext>
            </a:extLst>
          </p:cNvPr>
          <p:cNvSpPr>
            <a:spLocks xmlns:a="http://schemas.openxmlformats.org/drawingml/2006/main" noGrp="1"/>
          </p:cNvSpPr>
          <p:nvPr/>
        </p:nvSpPr>
        <p:spPr>
          <a:xfrm xmlns:a="http://schemas.openxmlformats.org/drawingml/2006/main">
            <a:off x="800100" y="2571750"/>
            <a:ext cx="4095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8000"/>
              </a:lnSpc>
              <a:buNone/>
              <a:defRPr sz="2025" b="0" i="0">
                <a:solidFill>
                  <a:srgbClr val="111827"/>
                </a:solidFill>
                <a:latin typeface="Consolas"/>
                <a:ea typeface="Consolas"/>
                <a:cs typeface="Consolas"/>
              </a:defRPr>
            </a:pPr>
            <a:r>
              <a:rPr sz="2025" b="0" i="0">
                <a:solidFill>
                  <a:srgbClr val="111827"/>
                </a:solidFill>
                <a:latin typeface="Consolas"/>
                <a:ea typeface="Consolas"/>
                <a:cs typeface="Consolas"/>
              </a:rPr>
              <a:t>A: 75% chance of -16</a:t>
            </a:r>
          </a:p>
          <a:p xmlns:a="http://schemas.openxmlformats.org/drawingml/2006/main">
            <a:pPr algn="l">
              <a:lnSpc>
                <a:spcPct val="128000"/>
              </a:lnSpc>
              <a:buNone/>
              <a:defRPr sz="2025" b="0" i="0">
                <a:solidFill>
                  <a:srgbClr val="111827"/>
                </a:solidFill>
                <a:latin typeface="Consolas"/>
                <a:ea typeface="Consolas"/>
                <a:cs typeface="Consolas"/>
              </a:defRPr>
            </a:pPr>
            <a:r>
              <a:rPr sz="2025" b="0" i="0">
                <a:solidFill>
                  <a:srgbClr val="111827"/>
                </a:solidFill>
                <a:latin typeface="Consolas"/>
                <a:ea typeface="Consolas"/>
                <a:cs typeface="Consolas"/>
              </a:rPr>
              <a:t>B: -3 for sure</a:t>
            </a:r>
          </a:p>
        </p:txBody>
      </p:sp>
      <p:sp>
        <p:nvSpPr>
          <p:cNvPr id="18" name="">
            <a:extLst xmlns:a="http://schemas.openxmlformats.org/drawingml/2006/main">
              <a:ext uri="{FF2B5EF4-FFF2-40B4-BE49-F238E27FC236}">
                <a16:creationId xmlns:a16="http://schemas.microsoft.com/office/drawing/2014/main" id="{54758BC0-784D-4ED4-A7F6-F0F992D404A2}"/>
              </a:ext>
            </a:extLst>
          </p:cNvPr>
          <p:cNvSpPr>
            <a:spLocks xmlns:a="http://schemas.openxmlformats.org/drawingml/2006/main" noGrp="1"/>
          </p:cNvSpPr>
          <p:nvPr/>
        </p:nvSpPr>
        <p:spPr>
          <a:xfrm xmlns:a="http://schemas.openxmlformats.org/drawingml/2006/main">
            <a:off x="5010150" y="3000375"/>
            <a:ext cx="6096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882351B-16C1-4393-89C0-30C4CC63FF15}"/>
              </a:ext>
            </a:extLst>
          </p:cNvPr>
          <p:cNvSpPr>
            <a:spLocks xmlns:a="http://schemas.openxmlformats.org/drawingml/2006/main" noGrp="1"/>
          </p:cNvSpPr>
          <p:nvPr/>
        </p:nvSpPr>
        <p:spPr>
          <a:xfrm xmlns:a="http://schemas.openxmlformats.org/drawingml/2006/main">
            <a:off x="5905500" y="2038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Possible token pieces</a:t>
            </a:r>
          </a:p>
        </p:txBody>
      </p:sp>
      <p:sp>
        <p:nvSpPr>
          <p:cNvPr id="20" name="">
            <a:extLst xmlns:a="http://schemas.openxmlformats.org/drawingml/2006/main">
              <a:ext uri="{FF2B5EF4-FFF2-40B4-BE49-F238E27FC236}">
                <a16:creationId xmlns:a16="http://schemas.microsoft.com/office/drawing/2014/main" id="{BEB478EA-D9BC-4AF1-9928-AEA055FBCF3D}"/>
              </a:ext>
            </a:extLst>
          </p:cNvPr>
          <p:cNvSpPr>
            <a:spLocks xmlns:a="http://schemas.openxmlformats.org/drawingml/2006/main" noGrp="1"/>
          </p:cNvSpPr>
          <p:nvPr/>
        </p:nvSpPr>
        <p:spPr>
          <a:xfrm xmlns:a="http://schemas.openxmlformats.org/drawingml/2006/main">
            <a:off x="5905500" y="2571750"/>
            <a:ext cx="51435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1" name="">
            <a:extLst xmlns:a="http://schemas.openxmlformats.org/drawingml/2006/main">
              <a:ext uri="{FF2B5EF4-FFF2-40B4-BE49-F238E27FC236}">
                <a16:creationId xmlns:a16="http://schemas.microsoft.com/office/drawing/2014/main" id="{67483FAA-C40B-4CEC-8DE8-DA79F540D5B2}"/>
              </a:ext>
            </a:extLst>
          </p:cNvPr>
          <p:cNvSpPr>
            <a:spLocks xmlns:a="http://schemas.openxmlformats.org/drawingml/2006/main" noGrp="1"/>
          </p:cNvSpPr>
          <p:nvPr/>
        </p:nvSpPr>
        <p:spPr>
          <a:xfrm xmlns:a="http://schemas.openxmlformats.org/drawingml/2006/main">
            <a:off x="59817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"A"</a:t>
            </a:r>
          </a:p>
        </p:txBody>
      </p:sp>
      <p:sp>
        <p:nvSpPr>
          <p:cNvPr id="22" name="">
            <a:extLst xmlns:a="http://schemas.openxmlformats.org/drawingml/2006/main">
              <a:ext uri="{FF2B5EF4-FFF2-40B4-BE49-F238E27FC236}">
                <a16:creationId xmlns:a16="http://schemas.microsoft.com/office/drawing/2014/main" id="{A50ACAC1-0EDD-49A3-B410-FD7342FAFAF1}"/>
              </a:ext>
            </a:extLst>
          </p:cNvPr>
          <p:cNvSpPr>
            <a:spLocks xmlns:a="http://schemas.openxmlformats.org/drawingml/2006/main" noGrp="1"/>
          </p:cNvSpPr>
          <p:nvPr/>
        </p:nvSpPr>
        <p:spPr>
          <a:xfrm xmlns:a="http://schemas.openxmlformats.org/drawingml/2006/main">
            <a:off x="649605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23" name="">
            <a:extLst xmlns:a="http://schemas.openxmlformats.org/drawingml/2006/main">
              <a:ext uri="{FF2B5EF4-FFF2-40B4-BE49-F238E27FC236}">
                <a16:creationId xmlns:a16="http://schemas.microsoft.com/office/drawing/2014/main" id="{5ED602ED-86C9-435F-BC97-AB3547A34F23}"/>
              </a:ext>
            </a:extLst>
          </p:cNvPr>
          <p:cNvSpPr>
            <a:spLocks xmlns:a="http://schemas.openxmlformats.org/drawingml/2006/main" noGrp="1"/>
          </p:cNvSpPr>
          <p:nvPr/>
        </p:nvSpPr>
        <p:spPr>
          <a:xfrm xmlns:a="http://schemas.openxmlformats.org/drawingml/2006/main">
            <a:off x="657225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a:t>
            </a:r>
          </a:p>
        </p:txBody>
      </p:sp>
      <p:sp>
        <p:nvSpPr>
          <p:cNvPr id="24" name="">
            <a:extLst xmlns:a="http://schemas.openxmlformats.org/drawingml/2006/main">
              <a:ext uri="{FF2B5EF4-FFF2-40B4-BE49-F238E27FC236}">
                <a16:creationId xmlns:a16="http://schemas.microsoft.com/office/drawing/2014/main" id="{496A1318-C8F3-41F6-8F18-6BFAEA8CF69B}"/>
              </a:ext>
            </a:extLst>
          </p:cNvPr>
          <p:cNvSpPr>
            <a:spLocks xmlns:a="http://schemas.openxmlformats.org/drawingml/2006/main" noGrp="1"/>
          </p:cNvSpPr>
          <p:nvPr/>
        </p:nvSpPr>
        <p:spPr>
          <a:xfrm xmlns:a="http://schemas.openxmlformats.org/drawingml/2006/main">
            <a:off x="7086600" y="2571750"/>
            <a:ext cx="64770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5" name="">
            <a:extLst xmlns:a="http://schemas.openxmlformats.org/drawingml/2006/main">
              <a:ext uri="{FF2B5EF4-FFF2-40B4-BE49-F238E27FC236}">
                <a16:creationId xmlns:a16="http://schemas.microsoft.com/office/drawing/2014/main" id="{1E9F6FD5-C06C-4DBE-9A8F-AFA6C94C69E5}"/>
              </a:ext>
            </a:extLst>
          </p:cNvPr>
          <p:cNvSpPr>
            <a:spLocks xmlns:a="http://schemas.openxmlformats.org/drawingml/2006/main" noGrp="1"/>
          </p:cNvSpPr>
          <p:nvPr/>
        </p:nvSpPr>
        <p:spPr>
          <a:xfrm xmlns:a="http://schemas.openxmlformats.org/drawingml/2006/main">
            <a:off x="7162800" y="2686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75"</a:t>
            </a:r>
          </a:p>
        </p:txBody>
      </p:sp>
      <p:sp>
        <p:nvSpPr>
          <p:cNvPr id="26" name="">
            <a:extLst xmlns:a="http://schemas.openxmlformats.org/drawingml/2006/main">
              <a:ext uri="{FF2B5EF4-FFF2-40B4-BE49-F238E27FC236}">
                <a16:creationId xmlns:a16="http://schemas.microsoft.com/office/drawing/2014/main" id="{F0F2609E-6089-4088-85DF-D21716C6C45D}"/>
              </a:ext>
            </a:extLst>
          </p:cNvPr>
          <p:cNvSpPr>
            <a:spLocks xmlns:a="http://schemas.openxmlformats.org/drawingml/2006/main" noGrp="1"/>
          </p:cNvSpPr>
          <p:nvPr/>
        </p:nvSpPr>
        <p:spPr>
          <a:xfrm xmlns:a="http://schemas.openxmlformats.org/drawingml/2006/main">
            <a:off x="781050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27" name="">
            <a:extLst xmlns:a="http://schemas.openxmlformats.org/drawingml/2006/main">
              <a:ext uri="{FF2B5EF4-FFF2-40B4-BE49-F238E27FC236}">
                <a16:creationId xmlns:a16="http://schemas.microsoft.com/office/drawing/2014/main" id="{6D4B7EB3-DFAA-47A4-A317-9C7DF7B76AE2}"/>
              </a:ext>
            </a:extLst>
          </p:cNvPr>
          <p:cNvSpPr>
            <a:spLocks xmlns:a="http://schemas.openxmlformats.org/drawingml/2006/main" noGrp="1"/>
          </p:cNvSpPr>
          <p:nvPr/>
        </p:nvSpPr>
        <p:spPr>
          <a:xfrm xmlns:a="http://schemas.openxmlformats.org/drawingml/2006/main">
            <a:off x="78867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a:t>
            </a:r>
          </a:p>
        </p:txBody>
      </p:sp>
      <p:sp>
        <p:nvSpPr>
          <p:cNvPr id="28" name="">
            <a:extLst xmlns:a="http://schemas.openxmlformats.org/drawingml/2006/main">
              <a:ext uri="{FF2B5EF4-FFF2-40B4-BE49-F238E27FC236}">
                <a16:creationId xmlns:a16="http://schemas.microsoft.com/office/drawing/2014/main" id="{B8D1F123-BA61-4E68-9EC1-1EDC60D94046}"/>
              </a:ext>
            </a:extLst>
          </p:cNvPr>
          <p:cNvSpPr>
            <a:spLocks xmlns:a="http://schemas.openxmlformats.org/drawingml/2006/main" noGrp="1"/>
          </p:cNvSpPr>
          <p:nvPr/>
        </p:nvSpPr>
        <p:spPr>
          <a:xfrm xmlns:a="http://schemas.openxmlformats.org/drawingml/2006/main">
            <a:off x="8401050" y="2571750"/>
            <a:ext cx="118110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9" name="">
            <a:extLst xmlns:a="http://schemas.openxmlformats.org/drawingml/2006/main">
              <a:ext uri="{FF2B5EF4-FFF2-40B4-BE49-F238E27FC236}">
                <a16:creationId xmlns:a16="http://schemas.microsoft.com/office/drawing/2014/main" id="{CD047226-D152-4A22-A886-E06AC4038316}"/>
              </a:ext>
            </a:extLst>
          </p:cNvPr>
          <p:cNvSpPr>
            <a:spLocks xmlns:a="http://schemas.openxmlformats.org/drawingml/2006/main" noGrp="1"/>
          </p:cNvSpPr>
          <p:nvPr/>
        </p:nvSpPr>
        <p:spPr>
          <a:xfrm xmlns:a="http://schemas.openxmlformats.org/drawingml/2006/main">
            <a:off x="8477250" y="268605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chance"</a:t>
            </a:r>
          </a:p>
        </p:txBody>
      </p:sp>
      <p:sp>
        <p:nvSpPr>
          <p:cNvPr id="30" name="">
            <a:extLst xmlns:a="http://schemas.openxmlformats.org/drawingml/2006/main">
              <a:ext uri="{FF2B5EF4-FFF2-40B4-BE49-F238E27FC236}">
                <a16:creationId xmlns:a16="http://schemas.microsoft.com/office/drawing/2014/main" id="{E71016FA-C068-4371-8DBC-AB848A32268C}"/>
              </a:ext>
            </a:extLst>
          </p:cNvPr>
          <p:cNvSpPr>
            <a:spLocks xmlns:a="http://schemas.openxmlformats.org/drawingml/2006/main" noGrp="1"/>
          </p:cNvSpPr>
          <p:nvPr/>
        </p:nvSpPr>
        <p:spPr>
          <a:xfrm xmlns:a="http://schemas.openxmlformats.org/drawingml/2006/main">
            <a:off x="9658350" y="2571750"/>
            <a:ext cx="64770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31" name="">
            <a:extLst xmlns:a="http://schemas.openxmlformats.org/drawingml/2006/main">
              <a:ext uri="{FF2B5EF4-FFF2-40B4-BE49-F238E27FC236}">
                <a16:creationId xmlns:a16="http://schemas.microsoft.com/office/drawing/2014/main" id="{A871BD5D-B374-4298-A962-03A531A17568}"/>
              </a:ext>
            </a:extLst>
          </p:cNvPr>
          <p:cNvSpPr>
            <a:spLocks xmlns:a="http://schemas.openxmlformats.org/drawingml/2006/main" noGrp="1"/>
          </p:cNvSpPr>
          <p:nvPr/>
        </p:nvSpPr>
        <p:spPr>
          <a:xfrm xmlns:a="http://schemas.openxmlformats.org/drawingml/2006/main">
            <a:off x="9734550" y="2686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 of"</a:t>
            </a:r>
          </a:p>
        </p:txBody>
      </p:sp>
      <p:sp>
        <p:nvSpPr>
          <p:cNvPr id="32" name="">
            <a:extLst xmlns:a="http://schemas.openxmlformats.org/drawingml/2006/main">
              <a:ext uri="{FF2B5EF4-FFF2-40B4-BE49-F238E27FC236}">
                <a16:creationId xmlns:a16="http://schemas.microsoft.com/office/drawing/2014/main" id="{6B67C81E-56C7-4AD2-A48C-40DB2D91B7AF}"/>
              </a:ext>
            </a:extLst>
          </p:cNvPr>
          <p:cNvSpPr>
            <a:spLocks xmlns:a="http://schemas.openxmlformats.org/drawingml/2006/main" noGrp="1"/>
          </p:cNvSpPr>
          <p:nvPr/>
        </p:nvSpPr>
        <p:spPr>
          <a:xfrm xmlns:a="http://schemas.openxmlformats.org/drawingml/2006/main">
            <a:off x="10382250" y="2571750"/>
            <a:ext cx="51435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33" name="">
            <a:extLst xmlns:a="http://schemas.openxmlformats.org/drawingml/2006/main">
              <a:ext uri="{FF2B5EF4-FFF2-40B4-BE49-F238E27FC236}">
                <a16:creationId xmlns:a16="http://schemas.microsoft.com/office/drawing/2014/main" id="{2B91CBB8-6CD1-4736-A22D-297B07C9A4B6}"/>
              </a:ext>
            </a:extLst>
          </p:cNvPr>
          <p:cNvSpPr>
            <a:spLocks xmlns:a="http://schemas.openxmlformats.org/drawingml/2006/main" noGrp="1"/>
          </p:cNvSpPr>
          <p:nvPr/>
        </p:nvSpPr>
        <p:spPr>
          <a:xfrm xmlns:a="http://schemas.openxmlformats.org/drawingml/2006/main">
            <a:off x="1045845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a:t>
            </a:r>
          </a:p>
        </p:txBody>
      </p:sp>
      <p:sp>
        <p:nvSpPr>
          <p:cNvPr id="34" name="">
            <a:extLst xmlns:a="http://schemas.openxmlformats.org/drawingml/2006/main">
              <a:ext uri="{FF2B5EF4-FFF2-40B4-BE49-F238E27FC236}">
                <a16:creationId xmlns:a16="http://schemas.microsoft.com/office/drawing/2014/main" id="{2BC9BF5A-0802-40E7-8E81-B0FC907E0CFA}"/>
              </a:ext>
            </a:extLst>
          </p:cNvPr>
          <p:cNvSpPr>
            <a:spLocks xmlns:a="http://schemas.openxmlformats.org/drawingml/2006/main" noGrp="1"/>
          </p:cNvSpPr>
          <p:nvPr/>
        </p:nvSpPr>
        <p:spPr>
          <a:xfrm xmlns:a="http://schemas.openxmlformats.org/drawingml/2006/main">
            <a:off x="1097280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35" name="">
            <a:extLst xmlns:a="http://schemas.openxmlformats.org/drawingml/2006/main">
              <a:ext uri="{FF2B5EF4-FFF2-40B4-BE49-F238E27FC236}">
                <a16:creationId xmlns:a16="http://schemas.microsoft.com/office/drawing/2014/main" id="{5C91E3AB-F5F4-4DEB-8D76-47604217DF69}"/>
              </a:ext>
            </a:extLst>
          </p:cNvPr>
          <p:cNvSpPr>
            <a:spLocks xmlns:a="http://schemas.openxmlformats.org/drawingml/2006/main" noGrp="1"/>
          </p:cNvSpPr>
          <p:nvPr/>
        </p:nvSpPr>
        <p:spPr>
          <a:xfrm xmlns:a="http://schemas.openxmlformats.org/drawingml/2006/main">
            <a:off x="110490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"16"</a:t>
            </a:r>
          </a:p>
        </p:txBody>
      </p:sp>
      <p:sp>
        <p:nvSpPr>
          <p:cNvPr id="36" name="">
            <a:extLst xmlns:a="http://schemas.openxmlformats.org/drawingml/2006/main">
              <a:ext uri="{FF2B5EF4-FFF2-40B4-BE49-F238E27FC236}">
                <a16:creationId xmlns:a16="http://schemas.microsoft.com/office/drawing/2014/main" id="{1168EA69-0EC2-4A08-BF8E-F5114845CB99}"/>
              </a:ext>
            </a:extLst>
          </p:cNvPr>
          <p:cNvSpPr>
            <a:spLocks xmlns:a="http://schemas.openxmlformats.org/drawingml/2006/main" noGrp="1"/>
          </p:cNvSpPr>
          <p:nvPr/>
        </p:nvSpPr>
        <p:spPr>
          <a:xfrm xmlns:a="http://schemas.openxmlformats.org/drawingml/2006/main">
            <a:off x="5905500" y="32575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Each piece is mapped to an integer token identifier.</a:t>
            </a:r>
          </a:p>
        </p:txBody>
      </p:sp>
      <p:sp>
        <p:nvSpPr>
          <p:cNvPr id="37" name="">
            <a:extLst xmlns:a="http://schemas.openxmlformats.org/drawingml/2006/main">
              <a:ext uri="{FF2B5EF4-FFF2-40B4-BE49-F238E27FC236}">
                <a16:creationId xmlns:a16="http://schemas.microsoft.com/office/drawing/2014/main" id="{641DF3F7-0FD0-4257-9FDF-E8F996C3673D}"/>
              </a:ext>
            </a:extLst>
          </p:cNvPr>
          <p:cNvSpPr>
            <a:spLocks xmlns:a="http://schemas.openxmlformats.org/drawingml/2006/main" noGrp="1"/>
          </p:cNvSpPr>
          <p:nvPr/>
        </p:nvSpPr>
        <p:spPr>
          <a:xfrm xmlns:a="http://schemas.openxmlformats.org/drawingml/2006/main">
            <a:off x="800100" y="390525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FFE07089-27DC-44CB-AA95-C1FAFF9370D1}"/>
              </a:ext>
            </a:extLst>
          </p:cNvPr>
          <p:cNvSpPr>
            <a:spLocks xmlns:a="http://schemas.openxmlformats.org/drawingml/2006/main" noGrp="1"/>
          </p:cNvSpPr>
          <p:nvPr/>
        </p:nvSpPr>
        <p:spPr>
          <a:xfrm xmlns:a="http://schemas.openxmlformats.org/drawingml/2006/main">
            <a:off x="800100" y="41719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Why this matters for decision research</a:t>
            </a:r>
          </a:p>
        </p:txBody>
      </p:sp>
      <p:sp>
        <p:nvSpPr>
          <p:cNvPr id="39" name="">
            <a:extLst xmlns:a="http://schemas.openxmlformats.org/drawingml/2006/main">
              <a:ext uri="{FF2B5EF4-FFF2-40B4-BE49-F238E27FC236}">
                <a16:creationId xmlns:a16="http://schemas.microsoft.com/office/drawing/2014/main" id="{894AB474-1055-460E-A2B1-4895BE259EB7}"/>
              </a:ext>
            </a:extLst>
          </p:cNvPr>
          <p:cNvSpPr>
            <a:spLocks xmlns:a="http://schemas.openxmlformats.org/drawingml/2006/main" noGrp="1"/>
          </p:cNvSpPr>
          <p:nvPr/>
        </p:nvSpPr>
        <p:spPr>
          <a:xfrm xmlns:a="http://schemas.openxmlformats.org/drawingml/2006/main">
            <a:off x="4953000" y="4095750"/>
            <a:ext cx="6000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87587"/>
          </a:bodyPr>
          <a:lstStyle xmlns:a="http://schemas.openxmlformats.org/drawingml/2006/main"/>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A token is not necessarily a word: numbers, signs, spaces, and labels may split differently.</a:t>
            </a:r>
          </a:p>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A, space+A, and Option A can be different tokens; this changes which log probability must be read.</a:t>
            </a:r>
          </a:p>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For a clean choice task, verify that the response labels have stable tokenization.</a:t>
            </a:r>
          </a:p>
        </p:txBody>
      </p:sp>
      <p:sp>
        <p:nvSpPr>
          <p:cNvPr id="40" name="">
            <a:extLst xmlns:a="http://schemas.openxmlformats.org/drawingml/2006/main">
              <a:ext uri="{FF2B5EF4-FFF2-40B4-BE49-F238E27FC236}">
                <a16:creationId xmlns:a16="http://schemas.microsoft.com/office/drawing/2014/main" id="{30455B1E-85FA-477C-9B47-123F7072C32C}"/>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870111D-148F-459A-AA37-1404EA9F6887}"/>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 tokenizer defines the model's measurement units before any prediction is made.</a:t>
            </a:r>
          </a:p>
        </p:txBody>
      </p:sp>
    </p:spTree>
    <p:extLst>
      <p:ext uri="{BB962C8B-B14F-4D97-AF65-F5344CB8AC3E}">
        <p14:creationId xmlns:p14="http://schemas.microsoft.com/office/powerpoint/2010/main" val="177182836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F2BF34E-A54B-4FF8-A0CB-1B6D8339642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 embedding converts each token identifier into a vector</a:t>
            </a:r>
          </a:p>
        </p:txBody>
      </p:sp>
      <p:sp>
        <p:nvSpPr>
          <p:cNvPr id="2" name="">
            <a:extLst xmlns:a="http://schemas.openxmlformats.org/drawingml/2006/main">
              <a:ext uri="{FF2B5EF4-FFF2-40B4-BE49-F238E27FC236}">
                <a16:creationId xmlns:a16="http://schemas.microsoft.com/office/drawing/2014/main" id="{DFA11B8F-0581-4701-BBF9-ED36E79E4D8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723C1C33-2AFC-4DE6-9E8E-36FF9D96832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89466C-8E4D-4743-8AA2-454276D5D9D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C0EB3BC0-C646-49A7-8B3E-7D450B9AEC11}"/>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7CF6AEC-51C6-4AAE-8E98-0D6BE07ABD5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AE16D87-3155-444F-B247-B9D41A79A7C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1AE1242-ACF2-43C2-BCF6-C742E195A45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FB40C81-BE3C-4F88-B5D6-83B99B82924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EEDA4E6-25AA-48AA-B1A4-2ED2F670230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2B2CEB0-98FE-4A58-B432-07A209170B2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90ECD72-687B-4A09-BAB2-71784923695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08C1922-8DB7-47D8-B4DC-657A7BF2B26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6B9F88-9B71-43BB-A7F8-AEEA8DFC989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7CD4A88-6FFE-4542-B1E1-80A0A5BDA7B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example</a:t>
            </a:r>
          </a:p>
        </p:txBody>
      </p:sp>
      <p:sp>
        <p:nvSpPr>
          <p:cNvPr id="16" name="">
            <a:extLst xmlns:a="http://schemas.openxmlformats.org/drawingml/2006/main">
              <a:ext uri="{FF2B5EF4-FFF2-40B4-BE49-F238E27FC236}">
                <a16:creationId xmlns:a16="http://schemas.microsoft.com/office/drawing/2014/main" id="{E598085A-1398-461E-8AAC-1C6714474C6A}"/>
              </a:ext>
            </a:extLst>
          </p:cNvPr>
          <p:cNvSpPr>
            <a:spLocks xmlns:a="http://schemas.openxmlformats.org/drawingml/2006/main" noGrp="1"/>
          </p:cNvSpPr>
          <p:nvPr/>
        </p:nvSpPr>
        <p:spPr>
          <a:xfrm xmlns:a="http://schemas.openxmlformats.org/drawingml/2006/main">
            <a:off x="800100" y="20955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Token identifier</a:t>
            </a:r>
          </a:p>
        </p:txBody>
      </p:sp>
      <p:sp>
        <p:nvSpPr>
          <p:cNvPr id="17" name="">
            <a:extLst xmlns:a="http://schemas.openxmlformats.org/drawingml/2006/main">
              <a:ext uri="{FF2B5EF4-FFF2-40B4-BE49-F238E27FC236}">
                <a16:creationId xmlns:a16="http://schemas.microsoft.com/office/drawing/2014/main" id="{416F3246-0AA1-47C5-BBC2-8DBD0A1622ED}"/>
              </a:ext>
            </a:extLst>
          </p:cNvPr>
          <p:cNvSpPr>
            <a:spLocks xmlns:a="http://schemas.openxmlformats.org/drawingml/2006/main" noGrp="1"/>
          </p:cNvSpPr>
          <p:nvPr/>
        </p:nvSpPr>
        <p:spPr>
          <a:xfrm xmlns:a="http://schemas.openxmlformats.org/drawingml/2006/main">
            <a:off x="990600" y="2667000"/>
            <a:ext cx="1714500" cy="800100"/>
          </a:xfrm>
          <a:prstGeom xmlns:a="http://schemas.openxmlformats.org/drawingml/2006/main" prst="roundRect">
            <a:avLst>
              <a:gd name="adj" fmla="val 9524"/>
            </a:avLst>
          </a:prstGeom>
          <a:solidFill xmlns:a="http://schemas.openxmlformats.org/drawingml/2006/main">
            <a:srgbClr val="F3F4F6"/>
          </a:solidFill>
          <a:ln xmlns:a="http://schemas.openxmlformats.org/drawingml/2006/main" w="11906">
            <a:solidFill>
              <a:srgbClr val="CBD1D8"/>
            </a:solidFill>
            <a:prstDash val="solid"/>
          </a:ln>
        </p:spPr>
      </p:sp>
      <p:sp>
        <p:nvSpPr>
          <p:cNvPr id="18" name="">
            <a:extLst xmlns:a="http://schemas.openxmlformats.org/drawingml/2006/main">
              <a:ext uri="{FF2B5EF4-FFF2-40B4-BE49-F238E27FC236}">
                <a16:creationId xmlns:a16="http://schemas.microsoft.com/office/drawing/2014/main" id="{546DF43D-20EA-4D19-8952-F706763C0664}"/>
              </a:ext>
            </a:extLst>
          </p:cNvPr>
          <p:cNvSpPr>
            <a:spLocks xmlns:a="http://schemas.openxmlformats.org/drawingml/2006/main" noGrp="1"/>
          </p:cNvSpPr>
          <p:nvPr/>
        </p:nvSpPr>
        <p:spPr>
          <a:xfrm xmlns:a="http://schemas.openxmlformats.org/drawingml/2006/main">
            <a:off x="1162050" y="28956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ctr">
              <a:lnSpc>
                <a:spcPct val="108000"/>
              </a:lnSpc>
              <a:buNone/>
              <a:defRPr sz="1875" b="1" i="0">
                <a:solidFill>
                  <a:srgbClr val="111827"/>
                </a:solidFill>
                <a:latin typeface="Consolas"/>
                <a:ea typeface="Consolas"/>
                <a:cs typeface="Consolas"/>
              </a:defRPr>
            </a:pPr>
            <a:r>
              <a:rPr sz="1875" b="1" i="0">
                <a:solidFill>
                  <a:srgbClr val="111827"/>
                </a:solidFill>
                <a:latin typeface="Consolas"/>
                <a:ea typeface="Consolas"/>
                <a:cs typeface="Consolas"/>
              </a:rPr>
              <a:t>id(75)</a:t>
            </a:r>
          </a:p>
        </p:txBody>
      </p:sp>
      <p:sp>
        <p:nvSpPr>
          <p:cNvPr id="19" name="">
            <a:extLst xmlns:a="http://schemas.openxmlformats.org/drawingml/2006/main">
              <a:ext uri="{FF2B5EF4-FFF2-40B4-BE49-F238E27FC236}">
                <a16:creationId xmlns:a16="http://schemas.microsoft.com/office/drawing/2014/main" id="{BB2D474C-CB2E-4F1D-B2AE-40B2E82AEB36}"/>
              </a:ext>
            </a:extLst>
          </p:cNvPr>
          <p:cNvSpPr>
            <a:spLocks xmlns:a="http://schemas.openxmlformats.org/drawingml/2006/main" noGrp="1"/>
          </p:cNvSpPr>
          <p:nvPr/>
        </p:nvSpPr>
        <p:spPr>
          <a:xfrm xmlns:a="http://schemas.openxmlformats.org/drawingml/2006/main">
            <a:off x="3105150" y="3000375"/>
            <a:ext cx="7048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6893448-CADA-443C-B35F-9625A3F7B9D8}"/>
              </a:ext>
            </a:extLst>
          </p:cNvPr>
          <p:cNvSpPr>
            <a:spLocks xmlns:a="http://schemas.openxmlformats.org/drawingml/2006/main" noGrp="1"/>
          </p:cNvSpPr>
          <p:nvPr/>
        </p:nvSpPr>
        <p:spPr>
          <a:xfrm xmlns:a="http://schemas.openxmlformats.org/drawingml/2006/main">
            <a:off x="3143250" y="3352800"/>
            <a:ext cx="628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lookup</a:t>
            </a:r>
          </a:p>
        </p:txBody>
      </p:sp>
      <p:sp>
        <p:nvSpPr>
          <p:cNvPr id="21" name="">
            <a:extLst xmlns:a="http://schemas.openxmlformats.org/drawingml/2006/main">
              <a:ext uri="{FF2B5EF4-FFF2-40B4-BE49-F238E27FC236}">
                <a16:creationId xmlns:a16="http://schemas.microsoft.com/office/drawing/2014/main" id="{52A36E89-A594-4DF1-A71E-38B4BDB37199}"/>
              </a:ext>
            </a:extLst>
          </p:cNvPr>
          <p:cNvSpPr>
            <a:spLocks xmlns:a="http://schemas.openxmlformats.org/drawingml/2006/main" noGrp="1"/>
          </p:cNvSpPr>
          <p:nvPr/>
        </p:nvSpPr>
        <p:spPr>
          <a:xfrm xmlns:a="http://schemas.openxmlformats.org/drawingml/2006/main">
            <a:off x="4057650" y="2095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Embedding table</a:t>
            </a:r>
          </a:p>
        </p:txBody>
      </p:sp>
      <p:sp>
        <p:nvSpPr>
          <p:cNvPr id="22" name="">
            <a:extLst xmlns:a="http://schemas.openxmlformats.org/drawingml/2006/main">
              <a:ext uri="{FF2B5EF4-FFF2-40B4-BE49-F238E27FC236}">
                <a16:creationId xmlns:a16="http://schemas.microsoft.com/office/drawing/2014/main" id="{2B4DEB42-6B0F-4DC9-8053-7B2F98B31016}"/>
              </a:ext>
            </a:extLst>
          </p:cNvPr>
          <p:cNvSpPr>
            <a:spLocks xmlns:a="http://schemas.openxmlformats.org/drawingml/2006/main" noGrp="1"/>
          </p:cNvSpPr>
          <p:nvPr/>
        </p:nvSpPr>
        <p:spPr>
          <a:xfrm xmlns:a="http://schemas.openxmlformats.org/drawingml/2006/main">
            <a:off x="4248150" y="2590800"/>
            <a:ext cx="2057400" cy="1104900"/>
          </a:xfrm>
          <a:prstGeom xmlns:a="http://schemas.openxmlformats.org/drawingml/2006/main" prst="rect">
            <a:avLst/>
          </a:prstGeom>
          <a:solidFill xmlns:a="http://schemas.openxmlformats.org/drawingml/2006/main">
            <a:srgbClr val="FFFFFF"/>
          </a:solidFill>
          <a:ln xmlns:a="http://schemas.openxmlformats.org/drawingml/2006/main" w="11906">
            <a:solidFill>
              <a:srgbClr val="CBD1D8"/>
            </a:solidFill>
            <a:prstDash val="solid"/>
          </a:ln>
        </p:spPr>
      </p:sp>
      <p:sp>
        <p:nvSpPr>
          <p:cNvPr id="23" name="">
            <a:extLst xmlns:a="http://schemas.openxmlformats.org/drawingml/2006/main">
              <a:ext uri="{FF2B5EF4-FFF2-40B4-BE49-F238E27FC236}">
                <a16:creationId xmlns:a16="http://schemas.microsoft.com/office/drawing/2014/main" id="{F89FE26C-B700-48EF-8C47-52C42A48B72D}"/>
              </a:ext>
            </a:extLst>
          </p:cNvPr>
          <p:cNvSpPr>
            <a:spLocks xmlns:a="http://schemas.openxmlformats.org/drawingml/2006/main" noGrp="1"/>
          </p:cNvSpPr>
          <p:nvPr/>
        </p:nvSpPr>
        <p:spPr>
          <a:xfrm xmlns:a="http://schemas.openxmlformats.org/drawingml/2006/main">
            <a:off x="4248150" y="259080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3D19A81-A438-4E8D-A516-CCB90AB07608}"/>
              </a:ext>
            </a:extLst>
          </p:cNvPr>
          <p:cNvSpPr>
            <a:spLocks xmlns:a="http://schemas.openxmlformats.org/drawingml/2006/main" noGrp="1"/>
          </p:cNvSpPr>
          <p:nvPr/>
        </p:nvSpPr>
        <p:spPr>
          <a:xfrm xmlns:a="http://schemas.openxmlformats.org/drawingml/2006/main">
            <a:off x="4419600" y="26479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25" name="">
            <a:extLst xmlns:a="http://schemas.openxmlformats.org/drawingml/2006/main">
              <a:ext uri="{FF2B5EF4-FFF2-40B4-BE49-F238E27FC236}">
                <a16:creationId xmlns:a16="http://schemas.microsoft.com/office/drawing/2014/main" id="{C97BE2BE-9B3E-4416-A91E-7C6FB4AC5766}"/>
              </a:ext>
            </a:extLst>
          </p:cNvPr>
          <p:cNvSpPr>
            <a:spLocks xmlns:a="http://schemas.openxmlformats.org/drawingml/2006/main" noGrp="1"/>
          </p:cNvSpPr>
          <p:nvPr/>
        </p:nvSpPr>
        <p:spPr>
          <a:xfrm xmlns:a="http://schemas.openxmlformats.org/drawingml/2006/main">
            <a:off x="4248150" y="2809875"/>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3A5C6C9-CCEB-4F2F-9468-30FD8E8AE4ED}"/>
              </a:ext>
            </a:extLst>
          </p:cNvPr>
          <p:cNvSpPr>
            <a:spLocks xmlns:a="http://schemas.openxmlformats.org/drawingml/2006/main" noGrp="1"/>
          </p:cNvSpPr>
          <p:nvPr/>
        </p:nvSpPr>
        <p:spPr>
          <a:xfrm xmlns:a="http://schemas.openxmlformats.org/drawingml/2006/main">
            <a:off x="4419600" y="286702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27" name="">
            <a:extLst xmlns:a="http://schemas.openxmlformats.org/drawingml/2006/main">
              <a:ext uri="{FF2B5EF4-FFF2-40B4-BE49-F238E27FC236}">
                <a16:creationId xmlns:a16="http://schemas.microsoft.com/office/drawing/2014/main" id="{B818F0D4-CF4A-491A-845F-B7A9A5DB1E71}"/>
              </a:ext>
            </a:extLst>
          </p:cNvPr>
          <p:cNvSpPr>
            <a:spLocks xmlns:a="http://schemas.openxmlformats.org/drawingml/2006/main" noGrp="1"/>
          </p:cNvSpPr>
          <p:nvPr/>
        </p:nvSpPr>
        <p:spPr>
          <a:xfrm xmlns:a="http://schemas.openxmlformats.org/drawingml/2006/main">
            <a:off x="4248150" y="302895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907EA58-39D0-4422-9EC6-75D1F8814D78}"/>
              </a:ext>
            </a:extLst>
          </p:cNvPr>
          <p:cNvSpPr>
            <a:spLocks xmlns:a="http://schemas.openxmlformats.org/drawingml/2006/main" noGrp="1"/>
          </p:cNvSpPr>
          <p:nvPr/>
        </p:nvSpPr>
        <p:spPr>
          <a:xfrm xmlns:a="http://schemas.openxmlformats.org/drawingml/2006/main">
            <a:off x="4419600" y="30861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1" i="0">
                <a:solidFill>
                  <a:srgbClr val="87591F"/>
                </a:solidFill>
                <a:latin typeface="Consolas"/>
                <a:ea typeface="Consolas"/>
                <a:cs typeface="Consolas"/>
              </a:defRPr>
            </a:pPr>
            <a:r>
              <a:rPr sz="1050" b="1" i="0">
                <a:solidFill>
                  <a:srgbClr val="87591F"/>
                </a:solidFill>
                <a:latin typeface="Consolas"/>
                <a:ea typeface="Consolas"/>
                <a:cs typeface="Consolas"/>
              </a:rPr>
              <a:t>selected row</a:t>
            </a:r>
          </a:p>
        </p:txBody>
      </p:sp>
      <p:sp>
        <p:nvSpPr>
          <p:cNvPr id="29" name="">
            <a:extLst xmlns:a="http://schemas.openxmlformats.org/drawingml/2006/main">
              <a:ext uri="{FF2B5EF4-FFF2-40B4-BE49-F238E27FC236}">
                <a16:creationId xmlns:a16="http://schemas.microsoft.com/office/drawing/2014/main" id="{E0817798-BB36-4E86-B121-6EF48CC6D356}"/>
              </a:ext>
            </a:extLst>
          </p:cNvPr>
          <p:cNvSpPr>
            <a:spLocks xmlns:a="http://schemas.openxmlformats.org/drawingml/2006/main" noGrp="1"/>
          </p:cNvSpPr>
          <p:nvPr/>
        </p:nvSpPr>
        <p:spPr>
          <a:xfrm xmlns:a="http://schemas.openxmlformats.org/drawingml/2006/main">
            <a:off x="4248150" y="3248025"/>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F39A9F8-0B8F-4ABF-BED0-7916C8D0678E}"/>
              </a:ext>
            </a:extLst>
          </p:cNvPr>
          <p:cNvSpPr>
            <a:spLocks xmlns:a="http://schemas.openxmlformats.org/drawingml/2006/main" noGrp="1"/>
          </p:cNvSpPr>
          <p:nvPr/>
        </p:nvSpPr>
        <p:spPr>
          <a:xfrm xmlns:a="http://schemas.openxmlformats.org/drawingml/2006/main">
            <a:off x="4419600" y="330517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31" name="">
            <a:extLst xmlns:a="http://schemas.openxmlformats.org/drawingml/2006/main">
              <a:ext uri="{FF2B5EF4-FFF2-40B4-BE49-F238E27FC236}">
                <a16:creationId xmlns:a16="http://schemas.microsoft.com/office/drawing/2014/main" id="{8B635911-692C-4C2E-8D11-E4D9C1E9DDE6}"/>
              </a:ext>
            </a:extLst>
          </p:cNvPr>
          <p:cNvSpPr>
            <a:spLocks xmlns:a="http://schemas.openxmlformats.org/drawingml/2006/main" noGrp="1"/>
          </p:cNvSpPr>
          <p:nvPr/>
        </p:nvSpPr>
        <p:spPr>
          <a:xfrm xmlns:a="http://schemas.openxmlformats.org/drawingml/2006/main">
            <a:off x="4248150" y="346710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CF3675AF-1096-4B24-9FFE-E891459A1534}"/>
              </a:ext>
            </a:extLst>
          </p:cNvPr>
          <p:cNvSpPr>
            <a:spLocks xmlns:a="http://schemas.openxmlformats.org/drawingml/2006/main" noGrp="1"/>
          </p:cNvSpPr>
          <p:nvPr/>
        </p:nvSpPr>
        <p:spPr>
          <a:xfrm xmlns:a="http://schemas.openxmlformats.org/drawingml/2006/main">
            <a:off x="4419600" y="35242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33" name="">
            <a:extLst xmlns:a="http://schemas.openxmlformats.org/drawingml/2006/main">
              <a:ext uri="{FF2B5EF4-FFF2-40B4-BE49-F238E27FC236}">
                <a16:creationId xmlns:a16="http://schemas.microsoft.com/office/drawing/2014/main" id="{493F9D33-F62B-4899-97A0-BAF08D1E615F}"/>
              </a:ext>
            </a:extLst>
          </p:cNvPr>
          <p:cNvSpPr>
            <a:spLocks xmlns:a="http://schemas.openxmlformats.org/drawingml/2006/main" noGrp="1"/>
          </p:cNvSpPr>
          <p:nvPr/>
        </p:nvSpPr>
        <p:spPr>
          <a:xfrm xmlns:a="http://schemas.openxmlformats.org/drawingml/2006/main">
            <a:off x="6591300" y="3000375"/>
            <a:ext cx="7048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CEF0E66-CE7C-418E-AE17-21A04E5430BD}"/>
              </a:ext>
            </a:extLst>
          </p:cNvPr>
          <p:cNvSpPr>
            <a:spLocks xmlns:a="http://schemas.openxmlformats.org/drawingml/2006/main" noGrp="1"/>
          </p:cNvSpPr>
          <p:nvPr/>
        </p:nvSpPr>
        <p:spPr>
          <a:xfrm xmlns:a="http://schemas.openxmlformats.org/drawingml/2006/main">
            <a:off x="7543800" y="2095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315F63"/>
                </a:solidFill>
                <a:latin typeface="Arial"/>
                <a:ea typeface="Arial"/>
                <a:cs typeface="Arial"/>
              </a:defRPr>
            </a:pPr>
            <a:r>
              <a:rPr sz="1650" b="1" i="0">
                <a:solidFill>
                  <a:srgbClr val="315F63"/>
                </a:solidFill>
                <a:latin typeface="Arial"/>
                <a:ea typeface="Arial"/>
                <a:cs typeface="Arial"/>
              </a:rPr>
              <a:t>Dense vector</a:t>
            </a:r>
          </a:p>
        </p:txBody>
      </p:sp>
      <p:sp>
        <p:nvSpPr>
          <p:cNvPr id="35" name="">
            <a:extLst xmlns:a="http://schemas.openxmlformats.org/drawingml/2006/main">
              <a:ext uri="{FF2B5EF4-FFF2-40B4-BE49-F238E27FC236}">
                <a16:creationId xmlns:a16="http://schemas.microsoft.com/office/drawing/2014/main" id="{83A0D1C7-DCCD-42E8-9E2E-20E86A20622D}"/>
              </a:ext>
            </a:extLst>
          </p:cNvPr>
          <p:cNvSpPr>
            <a:spLocks xmlns:a="http://schemas.openxmlformats.org/drawingml/2006/main" noGrp="1"/>
          </p:cNvSpPr>
          <p:nvPr/>
        </p:nvSpPr>
        <p:spPr>
          <a:xfrm xmlns:a="http://schemas.openxmlformats.org/drawingml/2006/main">
            <a:off x="7639050" y="2667000"/>
            <a:ext cx="3143250" cy="800100"/>
          </a:xfrm>
          <a:prstGeom xmlns:a="http://schemas.openxmlformats.org/drawingml/2006/main" prst="roundRect">
            <a:avLst>
              <a:gd name="adj" fmla="val 9524"/>
            </a:avLst>
          </a:prstGeom>
          <a:solidFill xmlns:a="http://schemas.openxmlformats.org/drawingml/2006/main">
            <a:srgbClr val="EEF6F5"/>
          </a:solidFill>
          <a:ln xmlns:a="http://schemas.openxmlformats.org/drawingml/2006/main" w="11906">
            <a:solidFill>
              <a:srgbClr val="CBD1D8"/>
            </a:solidFill>
            <a:prstDash val="solid"/>
          </a:ln>
        </p:spPr>
      </p:sp>
      <p:sp>
        <p:nvSpPr>
          <p:cNvPr id="36" name="">
            <a:extLst xmlns:a="http://schemas.openxmlformats.org/drawingml/2006/main">
              <a:ext uri="{FF2B5EF4-FFF2-40B4-BE49-F238E27FC236}">
                <a16:creationId xmlns:a16="http://schemas.microsoft.com/office/drawing/2014/main" id="{8EE2D515-9EE7-4B97-BA13-A8454EA21BA8}"/>
              </a:ext>
            </a:extLst>
          </p:cNvPr>
          <p:cNvSpPr>
            <a:spLocks xmlns:a="http://schemas.openxmlformats.org/drawingml/2006/main" noGrp="1"/>
          </p:cNvSpPr>
          <p:nvPr/>
        </p:nvSpPr>
        <p:spPr>
          <a:xfrm xmlns:a="http://schemas.openxmlformats.org/drawingml/2006/main">
            <a:off x="7753350" y="29146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[0.18, -0.42, ..., 0.07]</a:t>
            </a:r>
          </a:p>
        </p:txBody>
      </p:sp>
      <p:sp>
        <p:nvSpPr>
          <p:cNvPr id="37" name="">
            <a:extLst xmlns:a="http://schemas.openxmlformats.org/drawingml/2006/main">
              <a:ext uri="{FF2B5EF4-FFF2-40B4-BE49-F238E27FC236}">
                <a16:creationId xmlns:a16="http://schemas.microsoft.com/office/drawing/2014/main" id="{62B472B3-7DEC-427A-B4A7-3F6C03A1D960}"/>
              </a:ext>
            </a:extLst>
          </p:cNvPr>
          <p:cNvSpPr>
            <a:spLocks xmlns:a="http://schemas.openxmlformats.org/drawingml/2006/main" noGrp="1"/>
          </p:cNvSpPr>
          <p:nvPr/>
        </p:nvSpPr>
        <p:spPr>
          <a:xfrm xmlns:a="http://schemas.openxmlformats.org/drawingml/2006/main">
            <a:off x="800100" y="40386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5FA1DD2-DCF9-4F61-AE13-41B7BC95D023}"/>
              </a:ext>
            </a:extLst>
          </p:cNvPr>
          <p:cNvSpPr>
            <a:spLocks xmlns:a="http://schemas.openxmlformats.org/drawingml/2006/main" noGrp="1"/>
          </p:cNvSpPr>
          <p:nvPr/>
        </p:nvSpPr>
        <p:spPr>
          <a:xfrm xmlns:a="http://schemas.openxmlformats.org/drawingml/2006/main">
            <a:off x="800100" y="42862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What the vector does</a:t>
            </a:r>
          </a:p>
        </p:txBody>
      </p:sp>
      <p:sp>
        <p:nvSpPr>
          <p:cNvPr id="39" name="">
            <a:extLst xmlns:a="http://schemas.openxmlformats.org/drawingml/2006/main">
              <a:ext uri="{FF2B5EF4-FFF2-40B4-BE49-F238E27FC236}">
                <a16:creationId xmlns:a16="http://schemas.microsoft.com/office/drawing/2014/main" id="{A0AD60C9-A67E-4192-B969-87021B93C086}"/>
              </a:ext>
            </a:extLst>
          </p:cNvPr>
          <p:cNvSpPr>
            <a:spLocks xmlns:a="http://schemas.openxmlformats.org/drawingml/2006/main" noGrp="1"/>
          </p:cNvSpPr>
          <p:nvPr/>
        </p:nvSpPr>
        <p:spPr>
          <a:xfrm xmlns:a="http://schemas.openxmlformats.org/drawingml/2006/main">
            <a:off x="800100" y="470535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8"/>
          </a:bodyPr>
          <a:lstStyle xmlns:a="http://schemas.openxmlformats.org/drawingml/2006/main"/>
          <a:p xmlns:a="http://schemas.openxmlformats.org/drawingml/2006/main">
            <a:pPr algn="l">
              <a:lnSpc>
                <a:spcPct val="118000"/>
              </a:lnSpc>
              <a:buNone/>
              <a:defRPr sz="1500" b="0" i="0">
                <a:solidFill>
                  <a:srgbClr val="283643"/>
                </a:solidFill>
                <a:latin typeface="Arial"/>
                <a:ea typeface="Arial"/>
                <a:cs typeface="Arial"/>
              </a:defRPr>
            </a:pPr>
            <a:r>
              <a:rPr sz="1500" b="0" i="0">
                <a:solidFill>
                  <a:srgbClr val="283643"/>
                </a:solidFill>
                <a:latin typeface="Arial"/>
                <a:ea typeface="Arial"/>
                <a:cs typeface="Arial"/>
              </a:rPr>
              <a:t>It gives the model a continuous starting representation for that token. Position information is added so the same token can be interpreted differently across the sequence.</a:t>
            </a:r>
          </a:p>
        </p:txBody>
      </p:sp>
      <p:sp>
        <p:nvSpPr>
          <p:cNvPr id="40" name="">
            <a:extLst xmlns:a="http://schemas.openxmlformats.org/drawingml/2006/main">
              <a:ext uri="{FF2B5EF4-FFF2-40B4-BE49-F238E27FC236}">
                <a16:creationId xmlns:a16="http://schemas.microsoft.com/office/drawing/2014/main" id="{9A0AFEE9-D958-44DA-8340-956523177337}"/>
              </a:ext>
            </a:extLst>
          </p:cNvPr>
          <p:cNvSpPr>
            <a:spLocks xmlns:a="http://schemas.openxmlformats.org/drawingml/2006/main" noGrp="1"/>
          </p:cNvSpPr>
          <p:nvPr/>
        </p:nvSpPr>
        <p:spPr>
          <a:xfrm xmlns:a="http://schemas.openxmlformats.org/drawingml/2006/main">
            <a:off x="6153150" y="42862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Decision-research implication</a:t>
            </a:r>
          </a:p>
        </p:txBody>
      </p:sp>
      <p:sp>
        <p:nvSpPr>
          <p:cNvPr id="41" name="">
            <a:extLst xmlns:a="http://schemas.openxmlformats.org/drawingml/2006/main">
              <a:ext uri="{FF2B5EF4-FFF2-40B4-BE49-F238E27FC236}">
                <a16:creationId xmlns:a16="http://schemas.microsoft.com/office/drawing/2014/main" id="{B900735D-9FDE-4929-961C-0E9572240665}"/>
              </a:ext>
            </a:extLst>
          </p:cNvPr>
          <p:cNvSpPr>
            <a:spLocks xmlns:a="http://schemas.openxmlformats.org/drawingml/2006/main" noGrp="1"/>
          </p:cNvSpPr>
          <p:nvPr/>
        </p:nvSpPr>
        <p:spPr>
          <a:xfrm xmlns:a="http://schemas.openxmlformats.org/drawingml/2006/main">
            <a:off x="6153150" y="4705350"/>
            <a:ext cx="4667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8"/>
          </a:bodyPr>
          <a:lstStyle xmlns:a="http://schemas.openxmlformats.org/drawingml/2006/main"/>
          <a:p xmlns:a="http://schemas.openxmlformats.org/drawingml/2006/main">
            <a:pPr algn="l">
              <a:lnSpc>
                <a:spcPct val="118000"/>
              </a:lnSpc>
              <a:buNone/>
              <a:defRPr sz="1500" b="0" i="0">
                <a:solidFill>
                  <a:srgbClr val="283643"/>
                </a:solidFill>
                <a:latin typeface="Arial"/>
                <a:ea typeface="Arial"/>
                <a:cs typeface="Arial"/>
              </a:defRPr>
            </a:pPr>
            <a:r>
              <a:rPr sz="1500" b="0" i="0">
                <a:solidFill>
                  <a:srgbClr val="283643"/>
                </a:solidFill>
                <a:latin typeface="Arial"/>
                <a:ea typeface="Arial"/>
                <a:cs typeface="Arial"/>
              </a:rPr>
              <a:t>Probabilities, payoffs, labels, and instructions all enter as learned vectors. Their geometry may support prediction, but it is not automatically a human psychological representation.</a:t>
            </a:r>
          </a:p>
        </p:txBody>
      </p:sp>
      <p:sp>
        <p:nvSpPr>
          <p:cNvPr id="42" name="">
            <a:extLst xmlns:a="http://schemas.openxmlformats.org/drawingml/2006/main">
              <a:ext uri="{FF2B5EF4-FFF2-40B4-BE49-F238E27FC236}">
                <a16:creationId xmlns:a16="http://schemas.microsoft.com/office/drawing/2014/main" id="{CD98A48E-F8EC-429D-8569-82C954E4C1A6}"/>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4AEC457-C961-4311-A65E-11EBFADB922A}"/>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Embeddings are learned coordinates for computation, not ready-made cognitive constructs.</a:t>
            </a:r>
          </a:p>
        </p:txBody>
      </p:sp>
    </p:spTree>
    <p:extLst>
      <p:ext uri="{BB962C8B-B14F-4D97-AF65-F5344CB8AC3E}">
        <p14:creationId xmlns:p14="http://schemas.microsoft.com/office/powerpoint/2010/main" val="20362322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EEAD74C4-21BD-4887-B88B-7A993A6FD42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residual stream carries an evolving representation</a:t>
            </a:r>
          </a:p>
        </p:txBody>
      </p:sp>
      <p:sp>
        <p:nvSpPr>
          <p:cNvPr id="2" name="">
            <a:extLst xmlns:a="http://schemas.openxmlformats.org/drawingml/2006/main">
              <a:ext uri="{FF2B5EF4-FFF2-40B4-BE49-F238E27FC236}">
                <a16:creationId xmlns:a16="http://schemas.microsoft.com/office/drawing/2014/main" id="{7837B24C-E066-4D9A-B071-9D74622D2C3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A7DECCA6-25FD-46AA-B5EA-2268E554ADA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E490CD5-4379-466E-A512-FEFFBF92EA5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2A7AC2F1-5942-447B-B597-9CD776495BB7}"/>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317EB2A-620F-4FCB-8FA8-8A77D9263F4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C69D6A6-B24B-4CED-A41D-752DC2178B7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617828A-F27E-42FC-A97A-D6F8D01954E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D9F4542-D0DC-4A58-BC79-789172630BD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14734B-CAE2-4EBB-8631-1850785C5C9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2578C0E-12CE-4CBD-8DC8-E00AE69EFF3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7CC5C0B-22B6-4EDF-9905-3DD56B600B8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CF37A95-CD27-471C-83DE-2B3DCDB6C58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D971E24-7A76-47DA-8638-DA2D9CB7E1B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3ABDFCB-6CC4-4FF7-9FF3-E9B8579D2CA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Simplified view of a decoder-only language model</a:t>
            </a:r>
          </a:p>
        </p:txBody>
      </p:sp>
      <p:sp>
        <p:nvSpPr>
          <p:cNvPr id="16" name="">
            <a:extLst xmlns:a="http://schemas.openxmlformats.org/drawingml/2006/main">
              <a:ext uri="{FF2B5EF4-FFF2-40B4-BE49-F238E27FC236}">
                <a16:creationId xmlns:a16="http://schemas.microsoft.com/office/drawing/2014/main" id="{0B032005-02B5-4D6D-84C6-12896C3734B3}"/>
              </a:ext>
            </a:extLst>
          </p:cNvPr>
          <p:cNvSpPr>
            <a:spLocks xmlns:a="http://schemas.openxmlformats.org/drawingml/2006/main" noGrp="1"/>
          </p:cNvSpPr>
          <p:nvPr/>
        </p:nvSpPr>
        <p:spPr>
          <a:xfrm xmlns:a="http://schemas.openxmlformats.org/drawingml/2006/main">
            <a:off x="800100" y="20383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For each token position</a:t>
            </a:r>
          </a:p>
        </p:txBody>
      </p:sp>
      <p:sp>
        <p:nvSpPr>
          <p:cNvPr id="17" name="">
            <a:extLst xmlns:a="http://schemas.openxmlformats.org/drawingml/2006/main">
              <a:ext uri="{FF2B5EF4-FFF2-40B4-BE49-F238E27FC236}">
                <a16:creationId xmlns:a16="http://schemas.microsoft.com/office/drawing/2014/main" id="{D4168648-D30C-4021-B131-47DEC0FBDA48}"/>
              </a:ext>
            </a:extLst>
          </p:cNvPr>
          <p:cNvSpPr>
            <a:spLocks xmlns:a="http://schemas.openxmlformats.org/drawingml/2006/main" noGrp="1"/>
          </p:cNvSpPr>
          <p:nvPr/>
        </p:nvSpPr>
        <p:spPr>
          <a:xfrm xmlns:a="http://schemas.openxmlformats.org/drawingml/2006/main">
            <a:off x="2781300" y="3114675"/>
            <a:ext cx="6667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C8A7550-A4BE-4D84-B39F-FE0C0865DEFB}"/>
              </a:ext>
            </a:extLst>
          </p:cNvPr>
          <p:cNvSpPr>
            <a:spLocks xmlns:a="http://schemas.openxmlformats.org/drawingml/2006/main" noGrp="1"/>
          </p:cNvSpPr>
          <p:nvPr/>
        </p:nvSpPr>
        <p:spPr>
          <a:xfrm xmlns:a="http://schemas.openxmlformats.org/drawingml/2006/main">
            <a:off x="5448300" y="3114675"/>
            <a:ext cx="6667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EDB2C94-E4C1-4CF3-AD2F-0E428CDA2915}"/>
              </a:ext>
            </a:extLst>
          </p:cNvPr>
          <p:cNvSpPr>
            <a:spLocks xmlns:a="http://schemas.openxmlformats.org/drawingml/2006/main" noGrp="1"/>
          </p:cNvSpPr>
          <p:nvPr/>
        </p:nvSpPr>
        <p:spPr>
          <a:xfrm xmlns:a="http://schemas.openxmlformats.org/drawingml/2006/main">
            <a:off x="8115300" y="3114675"/>
            <a:ext cx="6667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51FB429-3E4F-4DFB-8A2B-0EEFC409C3A0}"/>
              </a:ext>
            </a:extLst>
          </p:cNvPr>
          <p:cNvSpPr>
            <a:spLocks xmlns:a="http://schemas.openxmlformats.org/drawingml/2006/main" noGrp="1"/>
          </p:cNvSpPr>
          <p:nvPr/>
        </p:nvSpPr>
        <p:spPr>
          <a:xfrm xmlns:a="http://schemas.openxmlformats.org/drawingml/2006/main">
            <a:off x="1066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1" name="">
            <a:extLst xmlns:a="http://schemas.openxmlformats.org/drawingml/2006/main">
              <a:ext uri="{FF2B5EF4-FFF2-40B4-BE49-F238E27FC236}">
                <a16:creationId xmlns:a16="http://schemas.microsoft.com/office/drawing/2014/main" id="{21AC8616-4ED6-45DD-B599-B346B07975AC}"/>
              </a:ext>
            </a:extLst>
          </p:cNvPr>
          <p:cNvSpPr>
            <a:spLocks xmlns:a="http://schemas.openxmlformats.org/drawingml/2006/main" noGrp="1"/>
          </p:cNvSpPr>
          <p:nvPr/>
        </p:nvSpPr>
        <p:spPr>
          <a:xfrm xmlns:a="http://schemas.openxmlformats.org/drawingml/2006/main">
            <a:off x="1257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r0</a:t>
            </a:r>
          </a:p>
        </p:txBody>
      </p:sp>
      <p:sp>
        <p:nvSpPr>
          <p:cNvPr id="22" name="">
            <a:extLst xmlns:a="http://schemas.openxmlformats.org/drawingml/2006/main">
              <a:ext uri="{FF2B5EF4-FFF2-40B4-BE49-F238E27FC236}">
                <a16:creationId xmlns:a16="http://schemas.microsoft.com/office/drawing/2014/main" id="{971AED8C-8E50-40D7-9076-1180F0546698}"/>
              </a:ext>
            </a:extLst>
          </p:cNvPr>
          <p:cNvSpPr>
            <a:spLocks xmlns:a="http://schemas.openxmlformats.org/drawingml/2006/main" noGrp="1"/>
          </p:cNvSpPr>
          <p:nvPr/>
        </p:nvSpPr>
        <p:spPr>
          <a:xfrm xmlns:a="http://schemas.openxmlformats.org/drawingml/2006/main">
            <a:off x="1181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token + position</a:t>
            </a:r>
          </a:p>
        </p:txBody>
      </p:sp>
      <p:sp>
        <p:nvSpPr>
          <p:cNvPr id="23" name="">
            <a:extLst xmlns:a="http://schemas.openxmlformats.org/drawingml/2006/main">
              <a:ext uri="{FF2B5EF4-FFF2-40B4-BE49-F238E27FC236}">
                <a16:creationId xmlns:a16="http://schemas.microsoft.com/office/drawing/2014/main" id="{98DFFC1E-1DAF-4236-A93A-54A63F568B31}"/>
              </a:ext>
            </a:extLst>
          </p:cNvPr>
          <p:cNvSpPr>
            <a:spLocks xmlns:a="http://schemas.openxmlformats.org/drawingml/2006/main" noGrp="1"/>
          </p:cNvSpPr>
          <p:nvPr/>
        </p:nvSpPr>
        <p:spPr>
          <a:xfrm xmlns:a="http://schemas.openxmlformats.org/drawingml/2006/main">
            <a:off x="3733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4" name="">
            <a:extLst xmlns:a="http://schemas.openxmlformats.org/drawingml/2006/main">
              <a:ext uri="{FF2B5EF4-FFF2-40B4-BE49-F238E27FC236}">
                <a16:creationId xmlns:a16="http://schemas.microsoft.com/office/drawing/2014/main" id="{FD8ACC1B-23B7-4E1A-8E9F-2DFA22EE775B}"/>
              </a:ext>
            </a:extLst>
          </p:cNvPr>
          <p:cNvSpPr>
            <a:spLocks xmlns:a="http://schemas.openxmlformats.org/drawingml/2006/main" noGrp="1"/>
          </p:cNvSpPr>
          <p:nvPr/>
        </p:nvSpPr>
        <p:spPr>
          <a:xfrm xmlns:a="http://schemas.openxmlformats.org/drawingml/2006/main">
            <a:off x="3924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r1</a:t>
            </a:r>
          </a:p>
        </p:txBody>
      </p:sp>
      <p:sp>
        <p:nvSpPr>
          <p:cNvPr id="25" name="">
            <a:extLst xmlns:a="http://schemas.openxmlformats.org/drawingml/2006/main">
              <a:ext uri="{FF2B5EF4-FFF2-40B4-BE49-F238E27FC236}">
                <a16:creationId xmlns:a16="http://schemas.microsoft.com/office/drawing/2014/main" id="{C1C73DDC-17A0-472D-ADF6-35800977F6B5}"/>
              </a:ext>
            </a:extLst>
          </p:cNvPr>
          <p:cNvSpPr>
            <a:spLocks xmlns:a="http://schemas.openxmlformats.org/drawingml/2006/main" noGrp="1"/>
          </p:cNvSpPr>
          <p:nvPr/>
        </p:nvSpPr>
        <p:spPr>
          <a:xfrm xmlns:a="http://schemas.openxmlformats.org/drawingml/2006/main">
            <a:off x="3848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after block 1</a:t>
            </a:r>
          </a:p>
        </p:txBody>
      </p:sp>
      <p:sp>
        <p:nvSpPr>
          <p:cNvPr id="26" name="">
            <a:extLst xmlns:a="http://schemas.openxmlformats.org/drawingml/2006/main">
              <a:ext uri="{FF2B5EF4-FFF2-40B4-BE49-F238E27FC236}">
                <a16:creationId xmlns:a16="http://schemas.microsoft.com/office/drawing/2014/main" id="{C88FDF01-4224-4905-AE2B-7BFDA272B5B0}"/>
              </a:ext>
            </a:extLst>
          </p:cNvPr>
          <p:cNvSpPr>
            <a:spLocks xmlns:a="http://schemas.openxmlformats.org/drawingml/2006/main" noGrp="1"/>
          </p:cNvSpPr>
          <p:nvPr/>
        </p:nvSpPr>
        <p:spPr>
          <a:xfrm xmlns:a="http://schemas.openxmlformats.org/drawingml/2006/main">
            <a:off x="6400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7" name="">
            <a:extLst xmlns:a="http://schemas.openxmlformats.org/drawingml/2006/main">
              <a:ext uri="{FF2B5EF4-FFF2-40B4-BE49-F238E27FC236}">
                <a16:creationId xmlns:a16="http://schemas.microsoft.com/office/drawing/2014/main" id="{683FD975-1D95-402E-BA35-A878B4BEDFFE}"/>
              </a:ext>
            </a:extLst>
          </p:cNvPr>
          <p:cNvSpPr>
            <a:spLocks xmlns:a="http://schemas.openxmlformats.org/drawingml/2006/main" noGrp="1"/>
          </p:cNvSpPr>
          <p:nvPr/>
        </p:nvSpPr>
        <p:spPr>
          <a:xfrm xmlns:a="http://schemas.openxmlformats.org/drawingml/2006/main">
            <a:off x="6591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r2</a:t>
            </a:r>
          </a:p>
        </p:txBody>
      </p:sp>
      <p:sp>
        <p:nvSpPr>
          <p:cNvPr id="28" name="">
            <a:extLst xmlns:a="http://schemas.openxmlformats.org/drawingml/2006/main">
              <a:ext uri="{FF2B5EF4-FFF2-40B4-BE49-F238E27FC236}">
                <a16:creationId xmlns:a16="http://schemas.microsoft.com/office/drawing/2014/main" id="{80CF5AF4-9221-4AA9-9AEC-D696C32F8596}"/>
              </a:ext>
            </a:extLst>
          </p:cNvPr>
          <p:cNvSpPr>
            <a:spLocks xmlns:a="http://schemas.openxmlformats.org/drawingml/2006/main" noGrp="1"/>
          </p:cNvSpPr>
          <p:nvPr/>
        </p:nvSpPr>
        <p:spPr>
          <a:xfrm xmlns:a="http://schemas.openxmlformats.org/drawingml/2006/main">
            <a:off x="6515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after block 2</a:t>
            </a:r>
          </a:p>
        </p:txBody>
      </p:sp>
      <p:sp>
        <p:nvSpPr>
          <p:cNvPr id="29" name="">
            <a:extLst xmlns:a="http://schemas.openxmlformats.org/drawingml/2006/main">
              <a:ext uri="{FF2B5EF4-FFF2-40B4-BE49-F238E27FC236}">
                <a16:creationId xmlns:a16="http://schemas.microsoft.com/office/drawing/2014/main" id="{8005EE0C-F59E-4BCE-B4CE-363AEF36AF96}"/>
              </a:ext>
            </a:extLst>
          </p:cNvPr>
          <p:cNvSpPr>
            <a:spLocks xmlns:a="http://schemas.openxmlformats.org/drawingml/2006/main" noGrp="1"/>
          </p:cNvSpPr>
          <p:nvPr/>
        </p:nvSpPr>
        <p:spPr>
          <a:xfrm xmlns:a="http://schemas.openxmlformats.org/drawingml/2006/main">
            <a:off x="9067800" y="2667000"/>
            <a:ext cx="1714500" cy="990600"/>
          </a:xfrm>
          <a:prstGeom xmlns:a="http://schemas.openxmlformats.org/drawingml/2006/main" prst="roundRect">
            <a:avLst>
              <a:gd name="adj" fmla="val 7692"/>
            </a:avLst>
          </a:prstGeom>
          <a:solidFill xmlns:a="http://schemas.openxmlformats.org/drawingml/2006/main">
            <a:srgbClr val="EEF6F5"/>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17CD25FF-35BB-41E6-A4A0-1CAEA79A5DA1}"/>
              </a:ext>
            </a:extLst>
          </p:cNvPr>
          <p:cNvSpPr>
            <a:spLocks xmlns:a="http://schemas.openxmlformats.org/drawingml/2006/main" noGrp="1"/>
          </p:cNvSpPr>
          <p:nvPr/>
        </p:nvSpPr>
        <p:spPr>
          <a:xfrm xmlns:a="http://schemas.openxmlformats.org/drawingml/2006/main">
            <a:off x="9258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315F63"/>
                </a:solidFill>
                <a:latin typeface="Consolas"/>
                <a:ea typeface="Consolas"/>
                <a:cs typeface="Consolas"/>
              </a:defRPr>
            </a:pPr>
            <a:r>
              <a:rPr sz="2025" b="1" i="0">
                <a:solidFill>
                  <a:srgbClr val="315F63"/>
                </a:solidFill>
                <a:latin typeface="Consolas"/>
                <a:ea typeface="Consolas"/>
                <a:cs typeface="Consolas"/>
              </a:rPr>
              <a:t>rL</a:t>
            </a:r>
          </a:p>
        </p:txBody>
      </p:sp>
      <p:sp>
        <p:nvSpPr>
          <p:cNvPr id="31" name="">
            <a:extLst xmlns:a="http://schemas.openxmlformats.org/drawingml/2006/main">
              <a:ext uri="{FF2B5EF4-FFF2-40B4-BE49-F238E27FC236}">
                <a16:creationId xmlns:a16="http://schemas.microsoft.com/office/drawing/2014/main" id="{76691A47-984F-4F64-A6AF-31D640A79087}"/>
              </a:ext>
            </a:extLst>
          </p:cNvPr>
          <p:cNvSpPr>
            <a:spLocks xmlns:a="http://schemas.openxmlformats.org/drawingml/2006/main" noGrp="1"/>
          </p:cNvSpPr>
          <p:nvPr/>
        </p:nvSpPr>
        <p:spPr>
          <a:xfrm xmlns:a="http://schemas.openxmlformats.org/drawingml/2006/main">
            <a:off x="9182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final state</a:t>
            </a:r>
          </a:p>
        </p:txBody>
      </p:sp>
      <p:sp>
        <p:nvSpPr>
          <p:cNvPr id="32" name="">
            <a:extLst xmlns:a="http://schemas.openxmlformats.org/drawingml/2006/main">
              <a:ext uri="{FF2B5EF4-FFF2-40B4-BE49-F238E27FC236}">
                <a16:creationId xmlns:a16="http://schemas.microsoft.com/office/drawing/2014/main" id="{4A0845D1-46A9-46FD-975E-0C3C5D5FB08F}"/>
              </a:ext>
            </a:extLst>
          </p:cNvPr>
          <p:cNvSpPr>
            <a:spLocks xmlns:a="http://schemas.openxmlformats.org/drawingml/2006/main" noGrp="1"/>
          </p:cNvSpPr>
          <p:nvPr/>
        </p:nvSpPr>
        <p:spPr>
          <a:xfrm xmlns:a="http://schemas.openxmlformats.org/drawingml/2006/main">
            <a:off x="1257300" y="3981450"/>
            <a:ext cx="609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Each model block reads the current state and adds an update:</a:t>
            </a:r>
          </a:p>
        </p:txBody>
      </p:sp>
      <p:sp>
        <p:nvSpPr>
          <p:cNvPr id="33" name="">
            <a:extLst xmlns:a="http://schemas.openxmlformats.org/drawingml/2006/main">
              <a:ext uri="{FF2B5EF4-FFF2-40B4-BE49-F238E27FC236}">
                <a16:creationId xmlns:a16="http://schemas.microsoft.com/office/drawing/2014/main" id="{73ACF47B-BD8E-42CC-9C54-99C3F29301D8}"/>
              </a:ext>
            </a:extLst>
          </p:cNvPr>
          <p:cNvSpPr>
            <a:spLocks xmlns:a="http://schemas.openxmlformats.org/drawingml/2006/main" noGrp="1"/>
          </p:cNvSpPr>
          <p:nvPr/>
        </p:nvSpPr>
        <p:spPr>
          <a:xfrm xmlns:a="http://schemas.openxmlformats.org/drawingml/2006/main">
            <a:off x="7448550" y="3943350"/>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5A4B6E"/>
                </a:solidFill>
                <a:latin typeface="Consolas"/>
                <a:ea typeface="Consolas"/>
                <a:cs typeface="Consolas"/>
              </a:defRPr>
            </a:pPr>
            <a:r>
              <a:rPr sz="1875" b="1" i="0">
                <a:solidFill>
                  <a:srgbClr val="5A4B6E"/>
                </a:solidFill>
                <a:latin typeface="Consolas"/>
                <a:ea typeface="Consolas"/>
                <a:cs typeface="Consolas"/>
              </a:rPr>
              <a:t>r(l+1) = r(l) + delta(l)</a:t>
            </a:r>
          </a:p>
        </p:txBody>
      </p:sp>
      <p:sp>
        <p:nvSpPr>
          <p:cNvPr id="34" name="">
            <a:extLst xmlns:a="http://schemas.openxmlformats.org/drawingml/2006/main">
              <a:ext uri="{FF2B5EF4-FFF2-40B4-BE49-F238E27FC236}">
                <a16:creationId xmlns:a16="http://schemas.microsoft.com/office/drawing/2014/main" id="{33DEDFD3-214F-4945-9958-BEB8AA5425D3}"/>
              </a:ext>
            </a:extLst>
          </p:cNvPr>
          <p:cNvSpPr>
            <a:spLocks xmlns:a="http://schemas.openxmlformats.org/drawingml/2006/main" noGrp="1"/>
          </p:cNvSpPr>
          <p:nvPr/>
        </p:nvSpPr>
        <p:spPr>
          <a:xfrm xmlns:a="http://schemas.openxmlformats.org/drawingml/2006/main">
            <a:off x="800100" y="45720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77F6681-1A0D-41EE-ADB3-ECB15227F1F8}"/>
              </a:ext>
            </a:extLst>
          </p:cNvPr>
          <p:cNvSpPr>
            <a:spLocks xmlns:a="http://schemas.openxmlformats.org/drawingml/2006/main" noGrp="1"/>
          </p:cNvSpPr>
          <p:nvPr/>
        </p:nvSpPr>
        <p:spPr>
          <a:xfrm xmlns:a="http://schemas.openxmlformats.org/drawingml/2006/main">
            <a:off x="800100" y="48196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ctr">
              <a:lnSpc>
                <a:spcPct val="116000"/>
              </a:lnSpc>
              <a:buNone/>
              <a:defRPr sz="1575" b="0" i="0">
                <a:solidFill>
                  <a:srgbClr val="283643"/>
                </a:solidFill>
                <a:latin typeface="Arial"/>
                <a:ea typeface="Arial"/>
                <a:cs typeface="Arial"/>
              </a:defRPr>
            </a:pPr>
            <a:r>
              <a:rPr sz="1575" b="0" i="0">
                <a:solidFill>
                  <a:srgbClr val="283643"/>
                </a:solidFill>
                <a:latin typeface="Arial"/>
                <a:ea typeface="Arial"/>
                <a:cs typeface="Arial"/>
              </a:rPr>
              <a:t>Attention mixes information across tokens; feed-forward layers transform each position. Both write updates into the same residual stream.</a:t>
            </a:r>
          </a:p>
        </p:txBody>
      </p:sp>
      <p:sp>
        <p:nvSpPr>
          <p:cNvPr id="36" name="">
            <a:extLst xmlns:a="http://schemas.openxmlformats.org/drawingml/2006/main">
              <a:ext uri="{FF2B5EF4-FFF2-40B4-BE49-F238E27FC236}">
                <a16:creationId xmlns:a16="http://schemas.microsoft.com/office/drawing/2014/main" id="{88DE93B5-20EB-46A2-B2EA-937E4B4C3FCB}"/>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A988858-0DBF-4F19-B3C9-8CE353428EEA}"/>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Residual means an additive information pathway, not a prediction error or unexplained variance.</a:t>
            </a:r>
          </a:p>
        </p:txBody>
      </p:sp>
    </p:spTree>
    <p:extLst>
      <p:ext uri="{BB962C8B-B14F-4D97-AF65-F5344CB8AC3E}">
        <p14:creationId xmlns:p14="http://schemas.microsoft.com/office/powerpoint/2010/main" val="7904103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047363F-9AB4-4036-B859-FA3B7D3D833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language model returns a distribution over next tokens</a:t>
            </a:r>
          </a:p>
        </p:txBody>
      </p:sp>
      <p:sp>
        <p:nvSpPr>
          <p:cNvPr id="2" name="">
            <a:extLst xmlns:a="http://schemas.openxmlformats.org/drawingml/2006/main">
              <a:ext uri="{FF2B5EF4-FFF2-40B4-BE49-F238E27FC236}">
                <a16:creationId xmlns:a16="http://schemas.microsoft.com/office/drawing/2014/main" id="{19D4DD77-B772-41FA-AB29-A4668A96716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418EA413-61F7-4F62-8117-2E9AAF9A152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9116C95-1557-47D6-8253-FE4B0B71C16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C866320B-8EBE-4EBD-B85E-4984A9AF7549}"/>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826F0AF-4E8B-49CD-8D01-D6347C8EBB8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1118C47-D579-45A0-BC1B-184423E86428}"/>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1FE9D14-DB55-4AC1-8C60-8BD173C02AC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8373CA8-E3A2-4138-B81E-A809291F618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81803F-C182-4131-B155-E2ED3F45CD8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DF817C2-2D6B-42BF-8EAC-CFAE7700EA8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388FD50-2EEB-4C61-8276-988FB6E66E3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2271D3F-8B18-41AF-A03B-E69401EE669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2A1B24-5857-455B-8957-54C8A27C084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85F065A-A05F-4592-B977-A899A2477F5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2026-07-21</a:t>
            </a:r>
          </a:p>
        </p:txBody>
      </p:sp>
      <p:sp>
        <p:nvSpPr>
          <p:cNvPr id="16" name="">
            <a:extLst xmlns:a="http://schemas.openxmlformats.org/drawingml/2006/main">
              <a:ext uri="{FF2B5EF4-FFF2-40B4-BE49-F238E27FC236}">
                <a16:creationId xmlns:a16="http://schemas.microsoft.com/office/drawing/2014/main" id="{706A6D18-2657-484A-8F53-67F4BA73EA75}"/>
              </a:ext>
            </a:extLst>
          </p:cNvPr>
          <p:cNvSpPr>
            <a:spLocks xmlns:a="http://schemas.openxmlformats.org/drawingml/2006/main" noGrp="1"/>
          </p:cNvSpPr>
          <p:nvPr/>
        </p:nvSpPr>
        <p:spPr>
          <a:xfrm xmlns:a="http://schemas.openxmlformats.org/drawingml/2006/main">
            <a:off x="762000" y="2038350"/>
            <a:ext cx="10668000" cy="27051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BDBF2DB-36DA-44F4-911D-D202FBAD9945}"/>
              </a:ext>
            </a:extLst>
          </p:cNvPr>
          <p:cNvSpPr>
            <a:spLocks xmlns:a="http://schemas.openxmlformats.org/drawingml/2006/main" noGrp="1"/>
          </p:cNvSpPr>
          <p:nvPr/>
        </p:nvSpPr>
        <p:spPr>
          <a:xfrm xmlns:a="http://schemas.openxmlformats.org/drawingml/2006/main">
            <a:off x="1104900" y="2438400"/>
            <a:ext cx="5334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A: 75% chance of -16; 25% chance of 40</a:t>
            </a:r>
          </a:p>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B: -3 for sure</a:t>
            </a:r>
          </a:p>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Reply with A or B only:</a:t>
            </a:r>
          </a:p>
        </p:txBody>
      </p:sp>
      <p:sp>
        <p:nvSpPr>
          <p:cNvPr id="18" name="">
            <a:extLst xmlns:a="http://schemas.openxmlformats.org/drawingml/2006/main">
              <a:ext uri="{FF2B5EF4-FFF2-40B4-BE49-F238E27FC236}">
                <a16:creationId xmlns:a16="http://schemas.microsoft.com/office/drawing/2014/main" id="{DFB381C6-86F5-4F13-8C60-CE9647AEA8B1}"/>
              </a:ext>
            </a:extLst>
          </p:cNvPr>
          <p:cNvSpPr>
            <a:spLocks xmlns:a="http://schemas.openxmlformats.org/drawingml/2006/main" noGrp="1"/>
          </p:cNvSpPr>
          <p:nvPr/>
        </p:nvSpPr>
        <p:spPr>
          <a:xfrm xmlns:a="http://schemas.openxmlformats.org/drawingml/2006/main">
            <a:off x="6705600" y="2266950"/>
            <a:ext cx="9525" cy="2152650"/>
          </a:xfrm>
          <a:prstGeom xmlns:a="http://schemas.openxmlformats.org/drawingml/2006/main" prst="rect">
            <a:avLst/>
          </a:prstGeom>
          <a:solidFill xmlns:a="http://schemas.openxmlformats.org/drawingml/2006/main">
            <a:srgbClr val="39415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53F6305-A887-4BD2-8AAF-D3B2BBA47023}"/>
              </a:ext>
            </a:extLst>
          </p:cNvPr>
          <p:cNvSpPr>
            <a:spLocks xmlns:a="http://schemas.openxmlformats.org/drawingml/2006/main" noGrp="1"/>
          </p:cNvSpPr>
          <p:nvPr/>
        </p:nvSpPr>
        <p:spPr>
          <a:xfrm xmlns:a="http://schemas.openxmlformats.org/drawingml/2006/main">
            <a:off x="712470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AEB8C4"/>
                </a:solidFill>
                <a:latin typeface="Consolas"/>
                <a:ea typeface="Consolas"/>
                <a:cs typeface="Consolas"/>
              </a:defRPr>
            </a:pPr>
            <a:r>
              <a:rPr sz="1275" b="1" i="0">
                <a:solidFill>
                  <a:srgbClr val="AEB8C4"/>
                </a:solidFill>
                <a:latin typeface="Consolas"/>
                <a:ea typeface="Consolas"/>
                <a:cs typeface="Consolas"/>
              </a:rPr>
              <a:t>top_logprobs</a:t>
            </a:r>
          </a:p>
        </p:txBody>
      </p:sp>
      <p:sp>
        <p:nvSpPr>
          <p:cNvPr id="20" name="">
            <a:extLst xmlns:a="http://schemas.openxmlformats.org/drawingml/2006/main">
              <a:ext uri="{FF2B5EF4-FFF2-40B4-BE49-F238E27FC236}">
                <a16:creationId xmlns:a16="http://schemas.microsoft.com/office/drawing/2014/main" id="{A579C0F7-5B29-42F0-8819-66F3B1938DA4}"/>
              </a:ext>
            </a:extLst>
          </p:cNvPr>
          <p:cNvSpPr>
            <a:spLocks xmlns:a="http://schemas.openxmlformats.org/drawingml/2006/main" noGrp="1"/>
          </p:cNvSpPr>
          <p:nvPr/>
        </p:nvSpPr>
        <p:spPr>
          <a:xfrm xmlns:a="http://schemas.openxmlformats.org/drawingml/2006/main">
            <a:off x="7124700" y="26289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EB8C4"/>
                </a:solidFill>
                <a:latin typeface="Consolas"/>
                <a:ea typeface="Consolas"/>
                <a:cs typeface="Consolas"/>
              </a:defRPr>
            </a:pPr>
            <a:r>
              <a:rPr sz="1200" b="0" i="0">
                <a:solidFill>
                  <a:srgbClr val="AEB8C4"/>
                </a:solidFill>
                <a:latin typeface="Consolas"/>
                <a:ea typeface="Consolas"/>
                <a:cs typeface="Consolas"/>
              </a:rPr>
              <a:t>token</a:t>
            </a:r>
          </a:p>
        </p:txBody>
      </p:sp>
      <p:sp>
        <p:nvSpPr>
          <p:cNvPr id="21" name="">
            <a:extLst xmlns:a="http://schemas.openxmlformats.org/drawingml/2006/main">
              <a:ext uri="{FF2B5EF4-FFF2-40B4-BE49-F238E27FC236}">
                <a16:creationId xmlns:a16="http://schemas.microsoft.com/office/drawing/2014/main" id="{BBF4707A-3CFF-4AC6-9879-E1D97470EDB8}"/>
              </a:ext>
            </a:extLst>
          </p:cNvPr>
          <p:cNvSpPr>
            <a:spLocks xmlns:a="http://schemas.openxmlformats.org/drawingml/2006/main" noGrp="1"/>
          </p:cNvSpPr>
          <p:nvPr/>
        </p:nvSpPr>
        <p:spPr>
          <a:xfrm xmlns:a="http://schemas.openxmlformats.org/drawingml/2006/main">
            <a:off x="9525000" y="26289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200" b="0" i="0">
                <a:solidFill>
                  <a:srgbClr val="AEB8C4"/>
                </a:solidFill>
                <a:latin typeface="Consolas"/>
                <a:ea typeface="Consolas"/>
                <a:cs typeface="Consolas"/>
              </a:defRPr>
            </a:pPr>
            <a:r>
              <a:rPr sz="1200" b="0" i="0">
                <a:solidFill>
                  <a:srgbClr val="AEB8C4"/>
                </a:solidFill>
                <a:latin typeface="Consolas"/>
                <a:ea typeface="Consolas"/>
                <a:cs typeface="Consolas"/>
              </a:rPr>
              <a:t>logprob</a:t>
            </a:r>
          </a:p>
        </p:txBody>
      </p:sp>
      <p:sp>
        <p:nvSpPr>
          <p:cNvPr id="22" name="">
            <a:extLst xmlns:a="http://schemas.openxmlformats.org/drawingml/2006/main">
              <a:ext uri="{FF2B5EF4-FFF2-40B4-BE49-F238E27FC236}">
                <a16:creationId xmlns:a16="http://schemas.microsoft.com/office/drawing/2014/main" id="{6C81F080-1B5C-46A9-BF83-BD795B9948F2}"/>
              </a:ext>
            </a:extLst>
          </p:cNvPr>
          <p:cNvSpPr>
            <a:spLocks xmlns:a="http://schemas.openxmlformats.org/drawingml/2006/main" noGrp="1"/>
          </p:cNvSpPr>
          <p:nvPr/>
        </p:nvSpPr>
        <p:spPr>
          <a:xfrm xmlns:a="http://schemas.openxmlformats.org/drawingml/2006/main">
            <a:off x="7124700" y="2971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E0B273"/>
                </a:solidFill>
                <a:latin typeface="Consolas"/>
                <a:ea typeface="Consolas"/>
                <a:cs typeface="Consolas"/>
              </a:defRPr>
            </a:pPr>
            <a:r>
              <a:rPr sz="1350" b="1" i="0">
                <a:solidFill>
                  <a:srgbClr val="E0B273"/>
                </a:solidFill>
                <a:latin typeface="Consolas"/>
                <a:ea typeface="Consolas"/>
                <a:cs typeface="Consolas"/>
              </a:rPr>
              <a:t>"B"</a:t>
            </a:r>
          </a:p>
        </p:txBody>
      </p:sp>
      <p:sp>
        <p:nvSpPr>
          <p:cNvPr id="23" name="">
            <a:extLst xmlns:a="http://schemas.openxmlformats.org/drawingml/2006/main">
              <a:ext uri="{FF2B5EF4-FFF2-40B4-BE49-F238E27FC236}">
                <a16:creationId xmlns:a16="http://schemas.microsoft.com/office/drawing/2014/main" id="{2944CF88-C70B-4366-9F86-5D193F1A4D70}"/>
              </a:ext>
            </a:extLst>
          </p:cNvPr>
          <p:cNvSpPr>
            <a:spLocks xmlns:a="http://schemas.openxmlformats.org/drawingml/2006/main" noGrp="1"/>
          </p:cNvSpPr>
          <p:nvPr/>
        </p:nvSpPr>
        <p:spPr>
          <a:xfrm xmlns:a="http://schemas.openxmlformats.org/drawingml/2006/main">
            <a:off x="9525000" y="2971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E0B273"/>
                </a:solidFill>
                <a:latin typeface="Consolas"/>
                <a:ea typeface="Consolas"/>
                <a:cs typeface="Consolas"/>
              </a:defRPr>
            </a:pPr>
            <a:r>
              <a:rPr sz="1350" b="1" i="0">
                <a:solidFill>
                  <a:srgbClr val="E0B273"/>
                </a:solidFill>
                <a:latin typeface="Consolas"/>
                <a:ea typeface="Consolas"/>
                <a:cs typeface="Consolas"/>
              </a:rPr>
              <a:t>-0.289</a:t>
            </a:r>
          </a:p>
        </p:txBody>
      </p:sp>
      <p:sp>
        <p:nvSpPr>
          <p:cNvPr id="24" name="">
            <a:extLst xmlns:a="http://schemas.openxmlformats.org/drawingml/2006/main">
              <a:ext uri="{FF2B5EF4-FFF2-40B4-BE49-F238E27FC236}">
                <a16:creationId xmlns:a16="http://schemas.microsoft.com/office/drawing/2014/main" id="{DF9AAC4E-2DC7-42D4-A8D6-97D9306F3834}"/>
              </a:ext>
            </a:extLst>
          </p:cNvPr>
          <p:cNvSpPr>
            <a:spLocks xmlns:a="http://schemas.openxmlformats.org/drawingml/2006/main" noGrp="1"/>
          </p:cNvSpPr>
          <p:nvPr/>
        </p:nvSpPr>
        <p:spPr>
          <a:xfrm xmlns:a="http://schemas.openxmlformats.org/drawingml/2006/main">
            <a:off x="7124700" y="32956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9CC3DD"/>
                </a:solidFill>
                <a:latin typeface="Consolas"/>
                <a:ea typeface="Consolas"/>
                <a:cs typeface="Consolas"/>
              </a:defRPr>
            </a:pPr>
            <a:r>
              <a:rPr sz="1350" b="1" i="0">
                <a:solidFill>
                  <a:srgbClr val="9CC3DD"/>
                </a:solidFill>
                <a:latin typeface="Consolas"/>
                <a:ea typeface="Consolas"/>
                <a:cs typeface="Consolas"/>
              </a:rPr>
              <a:t>"A"</a:t>
            </a:r>
          </a:p>
        </p:txBody>
      </p:sp>
      <p:sp>
        <p:nvSpPr>
          <p:cNvPr id="25" name="">
            <a:extLst xmlns:a="http://schemas.openxmlformats.org/drawingml/2006/main">
              <a:ext uri="{FF2B5EF4-FFF2-40B4-BE49-F238E27FC236}">
                <a16:creationId xmlns:a16="http://schemas.microsoft.com/office/drawing/2014/main" id="{F77D7EAB-A201-4A31-95E7-5AF9350FA835}"/>
              </a:ext>
            </a:extLst>
          </p:cNvPr>
          <p:cNvSpPr>
            <a:spLocks xmlns:a="http://schemas.openxmlformats.org/drawingml/2006/main" noGrp="1"/>
          </p:cNvSpPr>
          <p:nvPr/>
        </p:nvSpPr>
        <p:spPr>
          <a:xfrm xmlns:a="http://schemas.openxmlformats.org/drawingml/2006/main">
            <a:off x="9525000" y="3295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9CC3DD"/>
                </a:solidFill>
                <a:latin typeface="Consolas"/>
                <a:ea typeface="Consolas"/>
                <a:cs typeface="Consolas"/>
              </a:defRPr>
            </a:pPr>
            <a:r>
              <a:rPr sz="1350" b="1" i="0">
                <a:solidFill>
                  <a:srgbClr val="9CC3DD"/>
                </a:solidFill>
                <a:latin typeface="Consolas"/>
                <a:ea typeface="Consolas"/>
                <a:cs typeface="Consolas"/>
              </a:rPr>
              <a:t>-1.383</a:t>
            </a:r>
          </a:p>
        </p:txBody>
      </p:sp>
      <p:sp>
        <p:nvSpPr>
          <p:cNvPr id="26" name="">
            <a:extLst xmlns:a="http://schemas.openxmlformats.org/drawingml/2006/main">
              <a:ext uri="{FF2B5EF4-FFF2-40B4-BE49-F238E27FC236}">
                <a16:creationId xmlns:a16="http://schemas.microsoft.com/office/drawing/2014/main" id="{945C4F13-F24F-41D2-A44D-04905298CDEC}"/>
              </a:ext>
            </a:extLst>
          </p:cNvPr>
          <p:cNvSpPr>
            <a:spLocks xmlns:a="http://schemas.openxmlformats.org/drawingml/2006/main" noGrp="1"/>
          </p:cNvSpPr>
          <p:nvPr/>
        </p:nvSpPr>
        <p:spPr>
          <a:xfrm xmlns:a="http://schemas.openxmlformats.org/drawingml/2006/main">
            <a:off x="7124700" y="36195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"Based"</a:t>
            </a:r>
          </a:p>
        </p:txBody>
      </p:sp>
      <p:sp>
        <p:nvSpPr>
          <p:cNvPr id="27" name="">
            <a:extLst xmlns:a="http://schemas.openxmlformats.org/drawingml/2006/main">
              <a:ext uri="{FF2B5EF4-FFF2-40B4-BE49-F238E27FC236}">
                <a16:creationId xmlns:a16="http://schemas.microsoft.com/office/drawing/2014/main" id="{2B8EB77D-135B-48A5-BF4B-4E88B26BACB0}"/>
              </a:ext>
            </a:extLst>
          </p:cNvPr>
          <p:cNvSpPr>
            <a:spLocks xmlns:a="http://schemas.openxmlformats.org/drawingml/2006/main" noGrp="1"/>
          </p:cNvSpPr>
          <p:nvPr/>
        </p:nvSpPr>
        <p:spPr>
          <a:xfrm xmlns:a="http://schemas.openxmlformats.org/drawingml/2006/main">
            <a:off x="9525000" y="36195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-14.395</a:t>
            </a:r>
          </a:p>
        </p:txBody>
      </p:sp>
      <p:sp>
        <p:nvSpPr>
          <p:cNvPr id="28" name="">
            <a:extLst xmlns:a="http://schemas.openxmlformats.org/drawingml/2006/main">
              <a:ext uri="{FF2B5EF4-FFF2-40B4-BE49-F238E27FC236}">
                <a16:creationId xmlns:a16="http://schemas.microsoft.com/office/drawing/2014/main" id="{A72832FB-5805-4F83-9279-B9EF1926E036}"/>
              </a:ext>
            </a:extLst>
          </p:cNvPr>
          <p:cNvSpPr>
            <a:spLocks xmlns:a="http://schemas.openxmlformats.org/drawingml/2006/main" noGrp="1"/>
          </p:cNvSpPr>
          <p:nvPr/>
        </p:nvSpPr>
        <p:spPr>
          <a:xfrm xmlns:a="http://schemas.openxmlformats.org/drawingml/2006/main">
            <a:off x="7124700" y="39433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"The"</a:t>
            </a:r>
          </a:p>
        </p:txBody>
      </p:sp>
      <p:sp>
        <p:nvSpPr>
          <p:cNvPr id="29" name="">
            <a:extLst xmlns:a="http://schemas.openxmlformats.org/drawingml/2006/main">
              <a:ext uri="{FF2B5EF4-FFF2-40B4-BE49-F238E27FC236}">
                <a16:creationId xmlns:a16="http://schemas.microsoft.com/office/drawing/2014/main" id="{B5A5EE34-B2C8-4F4D-9612-DE5D4C756B82}"/>
              </a:ext>
            </a:extLst>
          </p:cNvPr>
          <p:cNvSpPr>
            <a:spLocks xmlns:a="http://schemas.openxmlformats.org/drawingml/2006/main" noGrp="1"/>
          </p:cNvSpPr>
          <p:nvPr/>
        </p:nvSpPr>
        <p:spPr>
          <a:xfrm xmlns:a="http://schemas.openxmlformats.org/drawingml/2006/main">
            <a:off x="9525000" y="3943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-14.960</a:t>
            </a:r>
          </a:p>
        </p:txBody>
      </p:sp>
      <p:sp>
        <p:nvSpPr>
          <p:cNvPr id="30" name="">
            <a:extLst xmlns:a="http://schemas.openxmlformats.org/drawingml/2006/main">
              <a:ext uri="{FF2B5EF4-FFF2-40B4-BE49-F238E27FC236}">
                <a16:creationId xmlns:a16="http://schemas.microsoft.com/office/drawing/2014/main" id="{8D71D950-00C4-40A6-9DA9-879E8E13E2FA}"/>
              </a:ext>
            </a:extLst>
          </p:cNvPr>
          <p:cNvSpPr>
            <a:spLocks xmlns:a="http://schemas.openxmlformats.org/drawingml/2006/main" noGrp="1"/>
          </p:cNvSpPr>
          <p:nvPr/>
        </p:nvSpPr>
        <p:spPr>
          <a:xfrm xmlns:a="http://schemas.openxmlformats.org/drawingml/2006/main">
            <a:off x="7124700" y="42672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"Let"</a:t>
            </a:r>
          </a:p>
        </p:txBody>
      </p:sp>
      <p:sp>
        <p:nvSpPr>
          <p:cNvPr id="31" name="">
            <a:extLst xmlns:a="http://schemas.openxmlformats.org/drawingml/2006/main">
              <a:ext uri="{FF2B5EF4-FFF2-40B4-BE49-F238E27FC236}">
                <a16:creationId xmlns:a16="http://schemas.microsoft.com/office/drawing/2014/main" id="{68E80C02-9929-40AC-BA4D-A85D57024016}"/>
              </a:ext>
            </a:extLst>
          </p:cNvPr>
          <p:cNvSpPr>
            <a:spLocks xmlns:a="http://schemas.openxmlformats.org/drawingml/2006/main" noGrp="1"/>
          </p:cNvSpPr>
          <p:nvPr/>
        </p:nvSpPr>
        <p:spPr>
          <a:xfrm xmlns:a="http://schemas.openxmlformats.org/drawingml/2006/main">
            <a:off x="9525000" y="426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-15.220</a:t>
            </a:r>
          </a:p>
        </p:txBody>
      </p:sp>
      <p:sp>
        <p:nvSpPr>
          <p:cNvPr id="32" name="">
            <a:extLst xmlns:a="http://schemas.openxmlformats.org/drawingml/2006/main">
              <a:ext uri="{FF2B5EF4-FFF2-40B4-BE49-F238E27FC236}">
                <a16:creationId xmlns:a16="http://schemas.microsoft.com/office/drawing/2014/main" id="{7E43DF26-8807-4514-9321-EB33BB60EE2E}"/>
              </a:ext>
            </a:extLst>
          </p:cNvPr>
          <p:cNvSpPr>
            <a:spLocks xmlns:a="http://schemas.openxmlformats.org/drawingml/2006/main" noGrp="1"/>
          </p:cNvSpPr>
          <p:nvPr/>
        </p:nvSpPr>
        <p:spPr>
          <a:xfrm xmlns:a="http://schemas.openxmlformats.org/drawingml/2006/main">
            <a:off x="800100" y="5162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09F51C3-9A00-47E6-A0CE-DEF4062D7039}"/>
              </a:ext>
            </a:extLst>
          </p:cNvPr>
          <p:cNvSpPr>
            <a:spLocks xmlns:a="http://schemas.openxmlformats.org/drawingml/2006/main" noGrp="1"/>
          </p:cNvSpPr>
          <p:nvPr/>
        </p:nvSpPr>
        <p:spPr>
          <a:xfrm xmlns:a="http://schemas.openxmlformats.org/drawingml/2006/main">
            <a:off x="1028700" y="5143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model interface returns vocabulary log probabilities; a choice probability is constructed later.</a:t>
            </a:r>
          </a:p>
        </p:txBody>
      </p:sp>
    </p:spTree>
    <p:extLst>
      <p:ext uri="{BB962C8B-B14F-4D97-AF65-F5344CB8AC3E}">
        <p14:creationId xmlns:p14="http://schemas.microsoft.com/office/powerpoint/2010/main" val="213952085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693E7C2C-34F7-4424-A28B-FC85EA8C6C8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Sampling controls which token is chosen from the scores</a:t>
            </a:r>
          </a:p>
        </p:txBody>
      </p:sp>
      <p:sp>
        <p:nvSpPr>
          <p:cNvPr id="2" name="">
            <a:extLst xmlns:a="http://schemas.openxmlformats.org/drawingml/2006/main">
              <a:ext uri="{FF2B5EF4-FFF2-40B4-BE49-F238E27FC236}">
                <a16:creationId xmlns:a16="http://schemas.microsoft.com/office/drawing/2014/main" id="{E524F445-59B2-4DC9-9C34-C8657588B27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EE6C707B-5C27-45A2-875D-4EC4A0D8EB0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EA8C3A9-FD31-449E-A33F-30AA447CF61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B5D0739D-5D2B-4E26-9AA1-5FABBA40800F}"/>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114450C-7E23-4A60-A505-C7914C3D40F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6C1ADC3-7DC2-4080-AF33-685C1DD5237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5FCA0E6-6FC6-4CF8-8D72-F9F1997E5AA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87C6E68-4C2B-4915-AEF8-2E3A4A900C4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F9A68ED-33B9-4017-8A66-772B2C8C947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6A8E975-ACAE-498F-A92D-83C18A2EFE2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ACB5AA-C49A-4859-957D-7C0E566410C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9D3C270-1418-4A3A-8C7B-BFD783698BD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E7F6CD0-3ACD-45EE-B262-2C501504602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38178D0-3341-4272-BB99-15B2DE3D190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Illustrative probabilities from one fixed set of logits</a:t>
            </a:r>
          </a:p>
        </p:txBody>
      </p:sp>
      <p:sp>
        <p:nvSpPr>
          <p:cNvPr id="16" name="">
            <a:extLst xmlns:a="http://schemas.openxmlformats.org/drawingml/2006/main">
              <a:ext uri="{FF2B5EF4-FFF2-40B4-BE49-F238E27FC236}">
                <a16:creationId xmlns:a16="http://schemas.microsoft.com/office/drawing/2014/main" id="{747D6E05-4EEF-4A70-8479-7908828919F5}"/>
              </a:ext>
            </a:extLst>
          </p:cNvPr>
          <p:cNvSpPr>
            <a:spLocks xmlns:a="http://schemas.openxmlformats.org/drawingml/2006/main" noGrp="1"/>
          </p:cNvSpPr>
          <p:nvPr/>
        </p:nvSpPr>
        <p:spPr>
          <a:xfrm xmlns:a="http://schemas.openxmlformats.org/drawingml/2006/main">
            <a:off x="800100" y="20002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Temperature reshapes the distribution</a:t>
            </a:r>
          </a:p>
        </p:txBody>
      </p:sp>
      <p:sp>
        <p:nvSpPr>
          <p:cNvPr id="17" name="">
            <a:extLst xmlns:a="http://schemas.openxmlformats.org/drawingml/2006/main">
              <a:ext uri="{FF2B5EF4-FFF2-40B4-BE49-F238E27FC236}">
                <a16:creationId xmlns:a16="http://schemas.microsoft.com/office/drawing/2014/main" id="{0B086B0A-420C-40F6-9DED-105BEDC5D258}"/>
              </a:ext>
            </a:extLst>
          </p:cNvPr>
          <p:cNvSpPr>
            <a:spLocks xmlns:a="http://schemas.openxmlformats.org/drawingml/2006/main" noGrp="1"/>
          </p:cNvSpPr>
          <p:nvPr/>
        </p:nvSpPr>
        <p:spPr>
          <a:xfrm xmlns:a="http://schemas.openxmlformats.org/drawingml/2006/main">
            <a:off x="800100" y="243840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5A4B6E"/>
                </a:solidFill>
                <a:latin typeface="Consolas"/>
                <a:ea typeface="Consolas"/>
                <a:cs typeface="Consolas"/>
              </a:defRPr>
            </a:pPr>
            <a:r>
              <a:rPr sz="1500" b="0" i="0">
                <a:solidFill>
                  <a:srgbClr val="5A4B6E"/>
                </a:solidFill>
                <a:latin typeface="Consolas"/>
                <a:ea typeface="Consolas"/>
                <a:cs typeface="Consolas"/>
              </a:rPr>
              <a:t>p(token i) is proportional to exp(logit i / T)</a:t>
            </a:r>
          </a:p>
        </p:txBody>
      </p:sp>
      <p:sp>
        <p:nvSpPr>
          <p:cNvPr id="18" name="">
            <a:extLst xmlns:a="http://schemas.openxmlformats.org/drawingml/2006/main">
              <a:ext uri="{FF2B5EF4-FFF2-40B4-BE49-F238E27FC236}">
                <a16:creationId xmlns:a16="http://schemas.microsoft.com/office/drawing/2014/main" id="{D4F222AE-1FF4-498B-A406-646EE193353F}"/>
              </a:ext>
            </a:extLst>
          </p:cNvPr>
          <p:cNvSpPr>
            <a:spLocks xmlns:a="http://schemas.openxmlformats.org/drawingml/2006/main" noGrp="1"/>
          </p:cNvSpPr>
          <p:nvPr/>
        </p:nvSpPr>
        <p:spPr>
          <a:xfrm xmlns:a="http://schemas.openxmlformats.org/drawingml/2006/main">
            <a:off x="800100" y="30861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0.5</a:t>
            </a:r>
          </a:p>
        </p:txBody>
      </p:sp>
      <p:sp>
        <p:nvSpPr>
          <p:cNvPr id="19" name="">
            <a:extLst xmlns:a="http://schemas.openxmlformats.org/drawingml/2006/main">
              <a:ext uri="{FF2B5EF4-FFF2-40B4-BE49-F238E27FC236}">
                <a16:creationId xmlns:a16="http://schemas.microsoft.com/office/drawing/2014/main" id="{4C2DF3E7-D022-4A76-802D-401BE9B49449}"/>
              </a:ext>
            </a:extLst>
          </p:cNvPr>
          <p:cNvSpPr>
            <a:spLocks xmlns:a="http://schemas.openxmlformats.org/drawingml/2006/main" noGrp="1"/>
          </p:cNvSpPr>
          <p:nvPr/>
        </p:nvSpPr>
        <p:spPr>
          <a:xfrm xmlns:a="http://schemas.openxmlformats.org/drawingml/2006/main">
            <a:off x="1905000" y="3067050"/>
            <a:ext cx="231457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7CCD939-4565-4862-A234-B6D039E83F61}"/>
              </a:ext>
            </a:extLst>
          </p:cNvPr>
          <p:cNvSpPr>
            <a:spLocks xmlns:a="http://schemas.openxmlformats.org/drawingml/2006/main" noGrp="1"/>
          </p:cNvSpPr>
          <p:nvPr/>
        </p:nvSpPr>
        <p:spPr>
          <a:xfrm xmlns:a="http://schemas.openxmlformats.org/drawingml/2006/main">
            <a:off x="1962150" y="3114675"/>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81%</a:t>
            </a:r>
          </a:p>
        </p:txBody>
      </p:sp>
      <p:sp>
        <p:nvSpPr>
          <p:cNvPr id="21" name="">
            <a:extLst xmlns:a="http://schemas.openxmlformats.org/drawingml/2006/main">
              <a:ext uri="{FF2B5EF4-FFF2-40B4-BE49-F238E27FC236}">
                <a16:creationId xmlns:a16="http://schemas.microsoft.com/office/drawing/2014/main" id="{02A9C836-0E57-4070-AB40-E39B82CE419E}"/>
              </a:ext>
            </a:extLst>
          </p:cNvPr>
          <p:cNvSpPr>
            <a:spLocks xmlns:a="http://schemas.openxmlformats.org/drawingml/2006/main" noGrp="1"/>
          </p:cNvSpPr>
          <p:nvPr/>
        </p:nvSpPr>
        <p:spPr>
          <a:xfrm xmlns:a="http://schemas.openxmlformats.org/drawingml/2006/main">
            <a:off x="4219575" y="3067050"/>
            <a:ext cx="457200"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55FFCB6-AA09-48C3-91CD-087832888F78}"/>
              </a:ext>
            </a:extLst>
          </p:cNvPr>
          <p:cNvSpPr>
            <a:spLocks xmlns:a="http://schemas.openxmlformats.org/drawingml/2006/main" noGrp="1"/>
          </p:cNvSpPr>
          <p:nvPr/>
        </p:nvSpPr>
        <p:spPr>
          <a:xfrm xmlns:a="http://schemas.openxmlformats.org/drawingml/2006/main">
            <a:off x="4276725" y="31146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16%</a:t>
            </a:r>
          </a:p>
        </p:txBody>
      </p:sp>
      <p:sp>
        <p:nvSpPr>
          <p:cNvPr id="23" name="">
            <a:extLst xmlns:a="http://schemas.openxmlformats.org/drawingml/2006/main">
              <a:ext uri="{FF2B5EF4-FFF2-40B4-BE49-F238E27FC236}">
                <a16:creationId xmlns:a16="http://schemas.microsoft.com/office/drawing/2014/main" id="{EF3B1B4B-8C2A-48E7-8392-9265CBA869AF}"/>
              </a:ext>
            </a:extLst>
          </p:cNvPr>
          <p:cNvSpPr>
            <a:spLocks xmlns:a="http://schemas.openxmlformats.org/drawingml/2006/main" noGrp="1"/>
          </p:cNvSpPr>
          <p:nvPr/>
        </p:nvSpPr>
        <p:spPr>
          <a:xfrm xmlns:a="http://schemas.openxmlformats.org/drawingml/2006/main">
            <a:off x="4676775" y="3067050"/>
            <a:ext cx="85725"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2E0D881-D8B8-49F8-870D-CB21975BD903}"/>
              </a:ext>
            </a:extLst>
          </p:cNvPr>
          <p:cNvSpPr>
            <a:spLocks xmlns:a="http://schemas.openxmlformats.org/drawingml/2006/main" noGrp="1"/>
          </p:cNvSpPr>
          <p:nvPr/>
        </p:nvSpPr>
        <p:spPr>
          <a:xfrm xmlns:a="http://schemas.openxmlformats.org/drawingml/2006/main">
            <a:off x="4876800" y="31146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3%</a:t>
            </a:r>
          </a:p>
        </p:txBody>
      </p:sp>
      <p:sp>
        <p:nvSpPr>
          <p:cNvPr id="25" name="">
            <a:extLst xmlns:a="http://schemas.openxmlformats.org/drawingml/2006/main">
              <a:ext uri="{FF2B5EF4-FFF2-40B4-BE49-F238E27FC236}">
                <a16:creationId xmlns:a16="http://schemas.microsoft.com/office/drawing/2014/main" id="{36134EE1-43F3-456A-A866-32AC3F1F8842}"/>
              </a:ext>
            </a:extLst>
          </p:cNvPr>
          <p:cNvSpPr>
            <a:spLocks xmlns:a="http://schemas.openxmlformats.org/drawingml/2006/main" noGrp="1"/>
          </p:cNvSpPr>
          <p:nvPr/>
        </p:nvSpPr>
        <p:spPr>
          <a:xfrm xmlns:a="http://schemas.openxmlformats.org/drawingml/2006/main">
            <a:off x="800100" y="34099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more concentrated</a:t>
            </a:r>
          </a:p>
        </p:txBody>
      </p:sp>
      <p:sp>
        <p:nvSpPr>
          <p:cNvPr id="26" name="">
            <a:extLst xmlns:a="http://schemas.openxmlformats.org/drawingml/2006/main">
              <a:ext uri="{FF2B5EF4-FFF2-40B4-BE49-F238E27FC236}">
                <a16:creationId xmlns:a16="http://schemas.microsoft.com/office/drawing/2014/main" id="{65A73FD9-4683-44EE-9CBB-35D52D2A6CC2}"/>
              </a:ext>
            </a:extLst>
          </p:cNvPr>
          <p:cNvSpPr>
            <a:spLocks xmlns:a="http://schemas.openxmlformats.org/drawingml/2006/main" noGrp="1"/>
          </p:cNvSpPr>
          <p:nvPr/>
        </p:nvSpPr>
        <p:spPr>
          <a:xfrm xmlns:a="http://schemas.openxmlformats.org/drawingml/2006/main">
            <a:off x="800100" y="3810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1.0</a:t>
            </a:r>
          </a:p>
        </p:txBody>
      </p:sp>
      <p:sp>
        <p:nvSpPr>
          <p:cNvPr id="27" name="">
            <a:extLst xmlns:a="http://schemas.openxmlformats.org/drawingml/2006/main">
              <a:ext uri="{FF2B5EF4-FFF2-40B4-BE49-F238E27FC236}">
                <a16:creationId xmlns:a16="http://schemas.microsoft.com/office/drawing/2014/main" id="{D4B78A4B-9804-4821-AECE-3AE638DB9D8B}"/>
              </a:ext>
            </a:extLst>
          </p:cNvPr>
          <p:cNvSpPr>
            <a:spLocks xmlns:a="http://schemas.openxmlformats.org/drawingml/2006/main" noGrp="1"/>
          </p:cNvSpPr>
          <p:nvPr/>
        </p:nvSpPr>
        <p:spPr>
          <a:xfrm xmlns:a="http://schemas.openxmlformats.org/drawingml/2006/main">
            <a:off x="1905000" y="3790950"/>
            <a:ext cx="174307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7F056CC-0CEE-4E53-A4A3-A67D6B25C826}"/>
              </a:ext>
            </a:extLst>
          </p:cNvPr>
          <p:cNvSpPr>
            <a:spLocks xmlns:a="http://schemas.openxmlformats.org/drawingml/2006/main" noGrp="1"/>
          </p:cNvSpPr>
          <p:nvPr/>
        </p:nvSpPr>
        <p:spPr>
          <a:xfrm xmlns:a="http://schemas.openxmlformats.org/drawingml/2006/main">
            <a:off x="1962150" y="3838575"/>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61%</a:t>
            </a:r>
          </a:p>
        </p:txBody>
      </p:sp>
      <p:sp>
        <p:nvSpPr>
          <p:cNvPr id="29" name="">
            <a:extLst xmlns:a="http://schemas.openxmlformats.org/drawingml/2006/main">
              <a:ext uri="{FF2B5EF4-FFF2-40B4-BE49-F238E27FC236}">
                <a16:creationId xmlns:a16="http://schemas.microsoft.com/office/drawing/2014/main" id="{F779FBD7-5BE0-49AD-AF0E-ECB0052CD2DB}"/>
              </a:ext>
            </a:extLst>
          </p:cNvPr>
          <p:cNvSpPr>
            <a:spLocks xmlns:a="http://schemas.openxmlformats.org/drawingml/2006/main" noGrp="1"/>
          </p:cNvSpPr>
          <p:nvPr/>
        </p:nvSpPr>
        <p:spPr>
          <a:xfrm xmlns:a="http://schemas.openxmlformats.org/drawingml/2006/main">
            <a:off x="3648075" y="3790950"/>
            <a:ext cx="771525"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2E2EBA1-934C-418A-B726-9C5D4DD8AC48}"/>
              </a:ext>
            </a:extLst>
          </p:cNvPr>
          <p:cNvSpPr>
            <a:spLocks xmlns:a="http://schemas.openxmlformats.org/drawingml/2006/main" noGrp="1"/>
          </p:cNvSpPr>
          <p:nvPr/>
        </p:nvSpPr>
        <p:spPr>
          <a:xfrm xmlns:a="http://schemas.openxmlformats.org/drawingml/2006/main">
            <a:off x="3705225" y="3838575"/>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27%</a:t>
            </a:r>
          </a:p>
        </p:txBody>
      </p:sp>
      <p:sp>
        <p:nvSpPr>
          <p:cNvPr id="31" name="">
            <a:extLst xmlns:a="http://schemas.openxmlformats.org/drawingml/2006/main">
              <a:ext uri="{FF2B5EF4-FFF2-40B4-BE49-F238E27FC236}">
                <a16:creationId xmlns:a16="http://schemas.microsoft.com/office/drawing/2014/main" id="{3BC80222-0606-431E-8A7C-672DD1C1EC7F}"/>
              </a:ext>
            </a:extLst>
          </p:cNvPr>
          <p:cNvSpPr>
            <a:spLocks xmlns:a="http://schemas.openxmlformats.org/drawingml/2006/main" noGrp="1"/>
          </p:cNvSpPr>
          <p:nvPr/>
        </p:nvSpPr>
        <p:spPr>
          <a:xfrm xmlns:a="http://schemas.openxmlformats.org/drawingml/2006/main">
            <a:off x="4419600" y="3790950"/>
            <a:ext cx="342900"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7D582CB-6B49-4E5B-A0CF-6403DE0B5A63}"/>
              </a:ext>
            </a:extLst>
          </p:cNvPr>
          <p:cNvSpPr>
            <a:spLocks xmlns:a="http://schemas.openxmlformats.org/drawingml/2006/main" noGrp="1"/>
          </p:cNvSpPr>
          <p:nvPr/>
        </p:nvSpPr>
        <p:spPr>
          <a:xfrm xmlns:a="http://schemas.openxmlformats.org/drawingml/2006/main">
            <a:off x="4876800" y="38385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12%</a:t>
            </a:r>
          </a:p>
        </p:txBody>
      </p:sp>
      <p:sp>
        <p:nvSpPr>
          <p:cNvPr id="33" name="">
            <a:extLst xmlns:a="http://schemas.openxmlformats.org/drawingml/2006/main">
              <a:ext uri="{FF2B5EF4-FFF2-40B4-BE49-F238E27FC236}">
                <a16:creationId xmlns:a16="http://schemas.microsoft.com/office/drawing/2014/main" id="{82B0AC43-4CDC-4CCA-9717-B02BD3E6BC19}"/>
              </a:ext>
            </a:extLst>
          </p:cNvPr>
          <p:cNvSpPr>
            <a:spLocks xmlns:a="http://schemas.openxmlformats.org/drawingml/2006/main" noGrp="1"/>
          </p:cNvSpPr>
          <p:nvPr/>
        </p:nvSpPr>
        <p:spPr>
          <a:xfrm xmlns:a="http://schemas.openxmlformats.org/drawingml/2006/main">
            <a:off x="800100" y="41338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original scale</a:t>
            </a:r>
          </a:p>
        </p:txBody>
      </p:sp>
      <p:sp>
        <p:nvSpPr>
          <p:cNvPr id="34" name="">
            <a:extLst xmlns:a="http://schemas.openxmlformats.org/drawingml/2006/main">
              <a:ext uri="{FF2B5EF4-FFF2-40B4-BE49-F238E27FC236}">
                <a16:creationId xmlns:a16="http://schemas.microsoft.com/office/drawing/2014/main" id="{A76A7250-246D-439C-8D4B-DA3092130263}"/>
              </a:ext>
            </a:extLst>
          </p:cNvPr>
          <p:cNvSpPr>
            <a:spLocks xmlns:a="http://schemas.openxmlformats.org/drawingml/2006/main" noGrp="1"/>
          </p:cNvSpPr>
          <p:nvPr/>
        </p:nvSpPr>
        <p:spPr>
          <a:xfrm xmlns:a="http://schemas.openxmlformats.org/drawingml/2006/main">
            <a:off x="800100" y="45339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2.0</a:t>
            </a:r>
          </a:p>
        </p:txBody>
      </p:sp>
      <p:sp>
        <p:nvSpPr>
          <p:cNvPr id="35" name="">
            <a:extLst xmlns:a="http://schemas.openxmlformats.org/drawingml/2006/main">
              <a:ext uri="{FF2B5EF4-FFF2-40B4-BE49-F238E27FC236}">
                <a16:creationId xmlns:a16="http://schemas.microsoft.com/office/drawing/2014/main" id="{FD912BCE-7CAD-4FF5-861D-4FEFEDED1618}"/>
              </a:ext>
            </a:extLst>
          </p:cNvPr>
          <p:cNvSpPr>
            <a:spLocks xmlns:a="http://schemas.openxmlformats.org/drawingml/2006/main" noGrp="1"/>
          </p:cNvSpPr>
          <p:nvPr/>
        </p:nvSpPr>
        <p:spPr>
          <a:xfrm xmlns:a="http://schemas.openxmlformats.org/drawingml/2006/main">
            <a:off x="1905000" y="4514850"/>
            <a:ext cx="134302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E254B88-03C8-40BE-B46A-AB927FEED3B5}"/>
              </a:ext>
            </a:extLst>
          </p:cNvPr>
          <p:cNvSpPr>
            <a:spLocks xmlns:a="http://schemas.openxmlformats.org/drawingml/2006/main" noGrp="1"/>
          </p:cNvSpPr>
          <p:nvPr/>
        </p:nvSpPr>
        <p:spPr>
          <a:xfrm xmlns:a="http://schemas.openxmlformats.org/drawingml/2006/main">
            <a:off x="1962150" y="4562475"/>
            <a:ext cx="1266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47%</a:t>
            </a:r>
          </a:p>
        </p:txBody>
      </p:sp>
      <p:sp>
        <p:nvSpPr>
          <p:cNvPr id="37" name="">
            <a:extLst xmlns:a="http://schemas.openxmlformats.org/drawingml/2006/main">
              <a:ext uri="{FF2B5EF4-FFF2-40B4-BE49-F238E27FC236}">
                <a16:creationId xmlns:a16="http://schemas.microsoft.com/office/drawing/2014/main" id="{68F1E158-A72F-4E09-8620-CDE5C67B0CC4}"/>
              </a:ext>
            </a:extLst>
          </p:cNvPr>
          <p:cNvSpPr>
            <a:spLocks xmlns:a="http://schemas.openxmlformats.org/drawingml/2006/main" noGrp="1"/>
          </p:cNvSpPr>
          <p:nvPr/>
        </p:nvSpPr>
        <p:spPr>
          <a:xfrm xmlns:a="http://schemas.openxmlformats.org/drawingml/2006/main">
            <a:off x="3248025" y="4514850"/>
            <a:ext cx="914400"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B4E0FB6-FF4F-4340-8251-07710CBB65C8}"/>
              </a:ext>
            </a:extLst>
          </p:cNvPr>
          <p:cNvSpPr>
            <a:spLocks xmlns:a="http://schemas.openxmlformats.org/drawingml/2006/main" noGrp="1"/>
          </p:cNvSpPr>
          <p:nvPr/>
        </p:nvSpPr>
        <p:spPr>
          <a:xfrm xmlns:a="http://schemas.openxmlformats.org/drawingml/2006/main">
            <a:off x="3305175" y="4562475"/>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32%</a:t>
            </a:r>
          </a:p>
        </p:txBody>
      </p:sp>
      <p:sp>
        <p:nvSpPr>
          <p:cNvPr id="39" name="">
            <a:extLst xmlns:a="http://schemas.openxmlformats.org/drawingml/2006/main">
              <a:ext uri="{FF2B5EF4-FFF2-40B4-BE49-F238E27FC236}">
                <a16:creationId xmlns:a16="http://schemas.microsoft.com/office/drawing/2014/main" id="{D9B1B644-605E-4E93-9B67-2A510D41D0D2}"/>
              </a:ext>
            </a:extLst>
          </p:cNvPr>
          <p:cNvSpPr>
            <a:spLocks xmlns:a="http://schemas.openxmlformats.org/drawingml/2006/main" noGrp="1"/>
          </p:cNvSpPr>
          <p:nvPr/>
        </p:nvSpPr>
        <p:spPr>
          <a:xfrm xmlns:a="http://schemas.openxmlformats.org/drawingml/2006/main">
            <a:off x="4162425" y="4514850"/>
            <a:ext cx="600075"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749E78F2-99F2-4C4F-920E-F383212804BF}"/>
              </a:ext>
            </a:extLst>
          </p:cNvPr>
          <p:cNvSpPr>
            <a:spLocks xmlns:a="http://schemas.openxmlformats.org/drawingml/2006/main" noGrp="1"/>
          </p:cNvSpPr>
          <p:nvPr/>
        </p:nvSpPr>
        <p:spPr>
          <a:xfrm xmlns:a="http://schemas.openxmlformats.org/drawingml/2006/main">
            <a:off x="4876800" y="45624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21%</a:t>
            </a:r>
          </a:p>
        </p:txBody>
      </p:sp>
      <p:sp>
        <p:nvSpPr>
          <p:cNvPr id="41" name="">
            <a:extLst xmlns:a="http://schemas.openxmlformats.org/drawingml/2006/main">
              <a:ext uri="{FF2B5EF4-FFF2-40B4-BE49-F238E27FC236}">
                <a16:creationId xmlns:a16="http://schemas.microsoft.com/office/drawing/2014/main" id="{E99126BC-EFEC-45AE-B561-6723580D8349}"/>
              </a:ext>
            </a:extLst>
          </p:cNvPr>
          <p:cNvSpPr>
            <a:spLocks xmlns:a="http://schemas.openxmlformats.org/drawingml/2006/main" noGrp="1"/>
          </p:cNvSpPr>
          <p:nvPr/>
        </p:nvSpPr>
        <p:spPr>
          <a:xfrm xmlns:a="http://schemas.openxmlformats.org/drawingml/2006/main">
            <a:off x="800100" y="48577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flatter</a:t>
            </a:r>
          </a:p>
        </p:txBody>
      </p:sp>
      <p:sp>
        <p:nvSpPr>
          <p:cNvPr id="42" name="">
            <a:extLst xmlns:a="http://schemas.openxmlformats.org/drawingml/2006/main">
              <a:ext uri="{FF2B5EF4-FFF2-40B4-BE49-F238E27FC236}">
                <a16:creationId xmlns:a16="http://schemas.microsoft.com/office/drawing/2014/main" id="{CD8BBAF2-C0BA-40BD-9EBD-B9BB207E70F9}"/>
              </a:ext>
            </a:extLst>
          </p:cNvPr>
          <p:cNvSpPr>
            <a:spLocks xmlns:a="http://schemas.openxmlformats.org/drawingml/2006/main" noGrp="1"/>
          </p:cNvSpPr>
          <p:nvPr/>
        </p:nvSpPr>
        <p:spPr>
          <a:xfrm xmlns:a="http://schemas.openxmlformats.org/drawingml/2006/main">
            <a:off x="6115050" y="2019300"/>
            <a:ext cx="9525" cy="32766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1D1030CF-478C-4F30-9720-A1AEDE4B20D7}"/>
              </a:ext>
            </a:extLst>
          </p:cNvPr>
          <p:cNvSpPr>
            <a:spLocks xmlns:a="http://schemas.openxmlformats.org/drawingml/2006/main" noGrp="1"/>
          </p:cNvSpPr>
          <p:nvPr/>
        </p:nvSpPr>
        <p:spPr>
          <a:xfrm xmlns:a="http://schemas.openxmlformats.org/drawingml/2006/main">
            <a:off x="6591300" y="20002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Other generation controls</a:t>
            </a:r>
          </a:p>
        </p:txBody>
      </p:sp>
      <p:sp>
        <p:nvSpPr>
          <p:cNvPr id="44" name="">
            <a:extLst xmlns:a="http://schemas.openxmlformats.org/drawingml/2006/main">
              <a:ext uri="{FF2B5EF4-FFF2-40B4-BE49-F238E27FC236}">
                <a16:creationId xmlns:a16="http://schemas.microsoft.com/office/drawing/2014/main" id="{35CF4F75-91A9-458A-AD8B-288AEDA7E8A9}"/>
              </a:ext>
            </a:extLst>
          </p:cNvPr>
          <p:cNvSpPr>
            <a:spLocks xmlns:a="http://schemas.openxmlformats.org/drawingml/2006/main" noGrp="1"/>
          </p:cNvSpPr>
          <p:nvPr/>
        </p:nvSpPr>
        <p:spPr>
          <a:xfrm xmlns:a="http://schemas.openxmlformats.org/drawingml/2006/main">
            <a:off x="6591300" y="25717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Top-k</a:t>
            </a:r>
          </a:p>
        </p:txBody>
      </p:sp>
      <p:sp>
        <p:nvSpPr>
          <p:cNvPr id="45" name="">
            <a:extLst xmlns:a="http://schemas.openxmlformats.org/drawingml/2006/main">
              <a:ext uri="{FF2B5EF4-FFF2-40B4-BE49-F238E27FC236}">
                <a16:creationId xmlns:a16="http://schemas.microsoft.com/office/drawing/2014/main" id="{C4171D39-9388-4054-B40C-BFAFC954F8CB}"/>
              </a:ext>
            </a:extLst>
          </p:cNvPr>
          <p:cNvSpPr>
            <a:spLocks xmlns:a="http://schemas.openxmlformats.org/drawingml/2006/main" noGrp="1"/>
          </p:cNvSpPr>
          <p:nvPr/>
        </p:nvSpPr>
        <p:spPr>
          <a:xfrm xmlns:a="http://schemas.openxmlformats.org/drawingml/2006/main">
            <a:off x="8782050" y="25717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466"/>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only the k highest-scoring tokens.</a:t>
            </a:r>
          </a:p>
        </p:txBody>
      </p:sp>
      <p:sp>
        <p:nvSpPr>
          <p:cNvPr id="46" name="">
            <a:extLst xmlns:a="http://schemas.openxmlformats.org/drawingml/2006/main">
              <a:ext uri="{FF2B5EF4-FFF2-40B4-BE49-F238E27FC236}">
                <a16:creationId xmlns:a16="http://schemas.microsoft.com/office/drawing/2014/main" id="{9F070225-EEA9-43D4-8810-5DD1E5A9FE87}"/>
              </a:ext>
            </a:extLst>
          </p:cNvPr>
          <p:cNvSpPr>
            <a:spLocks xmlns:a="http://schemas.openxmlformats.org/drawingml/2006/main" noGrp="1"/>
          </p:cNvSpPr>
          <p:nvPr/>
        </p:nvSpPr>
        <p:spPr>
          <a:xfrm xmlns:a="http://schemas.openxmlformats.org/drawingml/2006/main">
            <a:off x="6591300" y="31051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F45DCE94-74FC-4822-80EB-77D6D02249FB}"/>
              </a:ext>
            </a:extLst>
          </p:cNvPr>
          <p:cNvSpPr>
            <a:spLocks xmlns:a="http://schemas.openxmlformats.org/drawingml/2006/main" noGrp="1"/>
          </p:cNvSpPr>
          <p:nvPr/>
        </p:nvSpPr>
        <p:spPr>
          <a:xfrm xmlns:a="http://schemas.openxmlformats.org/drawingml/2006/main">
            <a:off x="6591300" y="32575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Top-p</a:t>
            </a:r>
          </a:p>
        </p:txBody>
      </p:sp>
      <p:sp>
        <p:nvSpPr>
          <p:cNvPr id="48" name="">
            <a:extLst xmlns:a="http://schemas.openxmlformats.org/drawingml/2006/main">
              <a:ext uri="{FF2B5EF4-FFF2-40B4-BE49-F238E27FC236}">
                <a16:creationId xmlns:a16="http://schemas.microsoft.com/office/drawing/2014/main" id="{2CA22563-35DB-462E-986C-C2F967815AE6}"/>
              </a:ext>
            </a:extLst>
          </p:cNvPr>
          <p:cNvSpPr>
            <a:spLocks xmlns:a="http://schemas.openxmlformats.org/drawingml/2006/main" noGrp="1"/>
          </p:cNvSpPr>
          <p:nvPr/>
        </p:nvSpPr>
        <p:spPr>
          <a:xfrm xmlns:a="http://schemas.openxmlformats.org/drawingml/2006/main">
            <a:off x="8782050" y="32575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392"/>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the smallest set whose cumulative probability reaches p.</a:t>
            </a:r>
          </a:p>
        </p:txBody>
      </p:sp>
      <p:sp>
        <p:nvSpPr>
          <p:cNvPr id="49" name="">
            <a:extLst xmlns:a="http://schemas.openxmlformats.org/drawingml/2006/main">
              <a:ext uri="{FF2B5EF4-FFF2-40B4-BE49-F238E27FC236}">
                <a16:creationId xmlns:a16="http://schemas.microsoft.com/office/drawing/2014/main" id="{E17994F4-CA6B-4272-82C2-4B79890A6E8E}"/>
              </a:ext>
            </a:extLst>
          </p:cNvPr>
          <p:cNvSpPr>
            <a:spLocks xmlns:a="http://schemas.openxmlformats.org/drawingml/2006/main" noGrp="1"/>
          </p:cNvSpPr>
          <p:nvPr/>
        </p:nvSpPr>
        <p:spPr>
          <a:xfrm xmlns:a="http://schemas.openxmlformats.org/drawingml/2006/main">
            <a:off x="6591300" y="37909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F39F5BA6-AA4B-4DB3-820C-3D96F7080A56}"/>
              </a:ext>
            </a:extLst>
          </p:cNvPr>
          <p:cNvSpPr>
            <a:spLocks xmlns:a="http://schemas.openxmlformats.org/drawingml/2006/main" noGrp="1"/>
          </p:cNvSpPr>
          <p:nvPr/>
        </p:nvSpPr>
        <p:spPr>
          <a:xfrm xmlns:a="http://schemas.openxmlformats.org/drawingml/2006/main">
            <a:off x="6591300" y="39433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Penalties</a:t>
            </a:r>
          </a:p>
        </p:txBody>
      </p:sp>
      <p:sp>
        <p:nvSpPr>
          <p:cNvPr id="51" name="">
            <a:extLst xmlns:a="http://schemas.openxmlformats.org/drawingml/2006/main">
              <a:ext uri="{FF2B5EF4-FFF2-40B4-BE49-F238E27FC236}">
                <a16:creationId xmlns:a16="http://schemas.microsoft.com/office/drawing/2014/main" id="{4AC4505A-F975-4B84-AD38-DB332925A735}"/>
              </a:ext>
            </a:extLst>
          </p:cNvPr>
          <p:cNvSpPr>
            <a:spLocks xmlns:a="http://schemas.openxmlformats.org/drawingml/2006/main" noGrp="1"/>
          </p:cNvSpPr>
          <p:nvPr/>
        </p:nvSpPr>
        <p:spPr>
          <a:xfrm xmlns:a="http://schemas.openxmlformats.org/drawingml/2006/main">
            <a:off x="8782050" y="39433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508"/>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Repetition or frequency penalties lower scores for tokens that already appeared.</a:t>
            </a:r>
          </a:p>
        </p:txBody>
      </p:sp>
      <p:sp>
        <p:nvSpPr>
          <p:cNvPr id="52" name="">
            <a:extLst xmlns:a="http://schemas.openxmlformats.org/drawingml/2006/main">
              <a:ext uri="{FF2B5EF4-FFF2-40B4-BE49-F238E27FC236}">
                <a16:creationId xmlns:a16="http://schemas.microsoft.com/office/drawing/2014/main" id="{B8FD4F8A-CDBB-48A3-BD44-01AE8D960C27}"/>
              </a:ext>
            </a:extLst>
          </p:cNvPr>
          <p:cNvSpPr>
            <a:spLocks xmlns:a="http://schemas.openxmlformats.org/drawingml/2006/main" noGrp="1"/>
          </p:cNvSpPr>
          <p:nvPr/>
        </p:nvSpPr>
        <p:spPr>
          <a:xfrm xmlns:a="http://schemas.openxmlformats.org/drawingml/2006/main">
            <a:off x="6591300" y="44767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363256B3-1723-4989-930C-10236CE1DD30}"/>
              </a:ext>
            </a:extLst>
          </p:cNvPr>
          <p:cNvSpPr>
            <a:spLocks xmlns:a="http://schemas.openxmlformats.org/drawingml/2006/main" noGrp="1"/>
          </p:cNvSpPr>
          <p:nvPr/>
        </p:nvSpPr>
        <p:spPr>
          <a:xfrm xmlns:a="http://schemas.openxmlformats.org/drawingml/2006/main">
            <a:off x="6591300" y="4629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Random seed</a:t>
            </a:r>
          </a:p>
        </p:txBody>
      </p:sp>
      <p:sp>
        <p:nvSpPr>
          <p:cNvPr id="54" name="">
            <a:extLst xmlns:a="http://schemas.openxmlformats.org/drawingml/2006/main">
              <a:ext uri="{FF2B5EF4-FFF2-40B4-BE49-F238E27FC236}">
                <a16:creationId xmlns:a16="http://schemas.microsoft.com/office/drawing/2014/main" id="{51ED0494-E0C6-4FEF-A369-25D119EE6D25}"/>
              </a:ext>
            </a:extLst>
          </p:cNvPr>
          <p:cNvSpPr>
            <a:spLocks xmlns:a="http://schemas.openxmlformats.org/drawingml/2006/main" noGrp="1"/>
          </p:cNvSpPr>
          <p:nvPr/>
        </p:nvSpPr>
        <p:spPr>
          <a:xfrm xmlns:a="http://schemas.openxmlformats.org/drawingml/2006/main">
            <a:off x="8782050" y="4629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380"/>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Makes a sampled path reproducible when the service supports it.</a:t>
            </a:r>
          </a:p>
        </p:txBody>
      </p:sp>
      <p:sp>
        <p:nvSpPr>
          <p:cNvPr id="55" name="">
            <a:extLst xmlns:a="http://schemas.openxmlformats.org/drawingml/2006/main">
              <a:ext uri="{FF2B5EF4-FFF2-40B4-BE49-F238E27FC236}">
                <a16:creationId xmlns:a16="http://schemas.microsoft.com/office/drawing/2014/main" id="{DB3B4AB2-CC68-411B-BEA7-9D30AAD40B44}"/>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9EF4B43C-F3B4-4685-B9B6-FD128EB11467}"/>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For A/B behavioral prediction, read and re-normalize the label log probabilities; report generation settings separately.</a:t>
            </a:r>
          </a:p>
        </p:txBody>
      </p:sp>
    </p:spTree>
    <p:extLst>
      <p:ext uri="{BB962C8B-B14F-4D97-AF65-F5344CB8AC3E}">
        <p14:creationId xmlns:p14="http://schemas.microsoft.com/office/powerpoint/2010/main" val="732517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3D595ED-B38C-4B7D-A5E1-EF522D8683AD}"/>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2BA115CC-0EA3-4907-AE2E-7AA25BBB61E3}"/>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Improve choice prediction with decision-relevant evidence</a:t>
            </a:r>
          </a:p>
        </p:txBody>
      </p:sp>
      <p:sp>
        <p:nvSpPr>
          <p:cNvPr id="3" name="">
            <a:extLst xmlns:a="http://schemas.openxmlformats.org/drawingml/2006/main">
              <a:ext uri="{FF2B5EF4-FFF2-40B4-BE49-F238E27FC236}">
                <a16:creationId xmlns:a16="http://schemas.microsoft.com/office/drawing/2014/main" id="{4B3D26C7-D3AE-4A2C-B980-68C5CDD9B37C}"/>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C60F4A-2D27-4364-9FD8-7E1BBBAC2063}"/>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Start with option information, then test whether the person's history or task-specific training adds predictive value.</a:t>
            </a:r>
          </a:p>
        </p:txBody>
      </p:sp>
      <p:sp>
        <p:nvSpPr>
          <p:cNvPr id="5" name="">
            <a:extLst xmlns:a="http://schemas.openxmlformats.org/drawingml/2006/main">
              <a:ext uri="{FF2B5EF4-FFF2-40B4-BE49-F238E27FC236}">
                <a16:creationId xmlns:a16="http://schemas.microsoft.com/office/drawing/2014/main" id="{A0F4F6EE-42CC-404F-9531-CF5471E4045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F67DA4B-853E-4C88-BAF3-C1321041C61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45076AF-281D-4D9C-B441-0D77FA4D7CC6}"/>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1617859-8AE6-433E-A0F7-01A81F02C84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973DE3E-5719-4AA7-8A80-D030F562AC0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732DDE-1044-4679-92A6-A0213B13DD1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8475370-6EB3-4B3B-BE03-31392167770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AC4320C-DFEA-4BAF-8FDB-6DF8904F61E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FDCC35F-9A31-46B8-AD39-D519279840D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8509B3A-7C70-4865-AD02-63436A9D8A4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3640671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3518D41-1A84-4734-9B33-9A3097E1658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Prediction methods test different decision questions</a:t>
            </a:r>
          </a:p>
        </p:txBody>
      </p:sp>
      <p:sp>
        <p:nvSpPr>
          <p:cNvPr id="2" name="">
            <a:extLst xmlns:a="http://schemas.openxmlformats.org/drawingml/2006/main">
              <a:ext uri="{FF2B5EF4-FFF2-40B4-BE49-F238E27FC236}">
                <a16:creationId xmlns:a16="http://schemas.microsoft.com/office/drawing/2014/main" id="{19A691DC-DCFC-4DE7-B5D5-2556F34C940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overview</a:t>
            </a:r>
          </a:p>
        </p:txBody>
      </p:sp>
      <p:sp>
        <p:nvSpPr>
          <p:cNvPr id="3" name="">
            <a:extLst xmlns:a="http://schemas.openxmlformats.org/drawingml/2006/main">
              <a:ext uri="{FF2B5EF4-FFF2-40B4-BE49-F238E27FC236}">
                <a16:creationId xmlns:a16="http://schemas.microsoft.com/office/drawing/2014/main" id="{A94276AC-81DB-4445-9758-CC24F12FE49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A0C82A-C0C4-4C5E-9577-B2CEF05AD7B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5A625CB6-3EE8-468F-A6BF-D42EF3D84D7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879FA98-656D-4495-9B71-0381D346D47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A6D3F89-7E3E-4FA5-9E59-3352D95F9A1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E0A6A1F-1988-4FCF-9407-4A72B5FA404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0D99579-82BF-4F5A-B229-6AE59FFF0F5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0C3EC50-2326-465F-9CC6-78CA0E712D1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5D7B2EE-D660-4875-85C2-DE6B555F297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4953BEF-BFB3-46D6-99CA-C63E50F42A1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A3CD34D-EFC2-4E27-9C9F-13A9B7CDDBD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DE772CA-2028-47EC-A810-38CFF50EEC3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18163A6-B5F9-4BBA-8181-BB5C7F22C550}"/>
              </a:ext>
            </a:extLst>
          </p:cNvPr>
          <p:cNvSpPr>
            <a:spLocks xmlns:a="http://schemas.openxmlformats.org/drawingml/2006/main" noGrp="1"/>
          </p:cNvSpPr>
          <p:nvPr/>
        </p:nvSpPr>
        <p:spPr>
          <a:xfrm xmlns:a="http://schemas.openxmlformats.org/drawingml/2006/main">
            <a:off x="800100" y="1981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Decision question</a:t>
            </a:r>
          </a:p>
        </p:txBody>
      </p:sp>
      <p:sp>
        <p:nvSpPr>
          <p:cNvPr id="16" name="">
            <a:extLst xmlns:a="http://schemas.openxmlformats.org/drawingml/2006/main">
              <a:ext uri="{FF2B5EF4-FFF2-40B4-BE49-F238E27FC236}">
                <a16:creationId xmlns:a16="http://schemas.microsoft.com/office/drawing/2014/main" id="{B9962A79-825D-4DF6-AC05-6CD2367D1B2A}"/>
              </a:ext>
            </a:extLst>
          </p:cNvPr>
          <p:cNvSpPr>
            <a:spLocks xmlns:a="http://schemas.openxmlformats.org/drawingml/2006/main" noGrp="1"/>
          </p:cNvSpPr>
          <p:nvPr/>
        </p:nvSpPr>
        <p:spPr>
          <a:xfrm xmlns:a="http://schemas.openxmlformats.org/drawingml/2006/main">
            <a:off x="3638550" y="1981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Evidence available</a:t>
            </a:r>
          </a:p>
        </p:txBody>
      </p:sp>
      <p:sp>
        <p:nvSpPr>
          <p:cNvPr id="17" name="">
            <a:extLst xmlns:a="http://schemas.openxmlformats.org/drawingml/2006/main">
              <a:ext uri="{FF2B5EF4-FFF2-40B4-BE49-F238E27FC236}">
                <a16:creationId xmlns:a16="http://schemas.microsoft.com/office/drawing/2014/main" id="{C40992C9-1841-42E6-8845-DE07F76EF93F}"/>
              </a:ext>
            </a:extLst>
          </p:cNvPr>
          <p:cNvSpPr>
            <a:spLocks xmlns:a="http://schemas.openxmlformats.org/drawingml/2006/main" noGrp="1"/>
          </p:cNvSpPr>
          <p:nvPr/>
        </p:nvSpPr>
        <p:spPr>
          <a:xfrm xmlns:a="http://schemas.openxmlformats.org/drawingml/2006/main">
            <a:off x="6572250" y="19812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Technical move</a:t>
            </a:r>
          </a:p>
        </p:txBody>
      </p:sp>
      <p:sp>
        <p:nvSpPr>
          <p:cNvPr id="18" name="">
            <a:extLst xmlns:a="http://schemas.openxmlformats.org/drawingml/2006/main">
              <a:ext uri="{FF2B5EF4-FFF2-40B4-BE49-F238E27FC236}">
                <a16:creationId xmlns:a16="http://schemas.microsoft.com/office/drawing/2014/main" id="{338F4B6E-2CA3-4CB0-90C8-E280A4DC2674}"/>
              </a:ext>
            </a:extLst>
          </p:cNvPr>
          <p:cNvSpPr>
            <a:spLocks xmlns:a="http://schemas.openxmlformats.org/drawingml/2006/main" noGrp="1"/>
          </p:cNvSpPr>
          <p:nvPr/>
        </p:nvSpPr>
        <p:spPr>
          <a:xfrm xmlns:a="http://schemas.openxmlformats.org/drawingml/2006/main">
            <a:off x="8763000" y="1981200"/>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What the result can support</a:t>
            </a:r>
          </a:p>
        </p:txBody>
      </p:sp>
      <p:sp>
        <p:nvSpPr>
          <p:cNvPr id="19" name="">
            <a:extLst xmlns:a="http://schemas.openxmlformats.org/drawingml/2006/main">
              <a:ext uri="{FF2B5EF4-FFF2-40B4-BE49-F238E27FC236}">
                <a16:creationId xmlns:a16="http://schemas.microsoft.com/office/drawing/2014/main" id="{FC13BF1B-EB10-4003-A1D4-248CC00EDD21}"/>
              </a:ext>
            </a:extLst>
          </p:cNvPr>
          <p:cNvSpPr>
            <a:spLocks xmlns:a="http://schemas.openxmlformats.org/drawingml/2006/main" noGrp="1"/>
          </p:cNvSpPr>
          <p:nvPr/>
        </p:nvSpPr>
        <p:spPr>
          <a:xfrm xmlns:a="http://schemas.openxmlformats.org/drawingml/2006/main">
            <a:off x="800100" y="24003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5A852F5-3FDA-49CB-96C8-BC774E541C9E}"/>
              </a:ext>
            </a:extLst>
          </p:cNvPr>
          <p:cNvSpPr>
            <a:spLocks xmlns:a="http://schemas.openxmlformats.org/drawingml/2006/main" noGrp="1"/>
          </p:cNvSpPr>
          <p:nvPr/>
        </p:nvSpPr>
        <p:spPr>
          <a:xfrm xmlns:a="http://schemas.openxmlformats.org/drawingml/2006/main">
            <a:off x="800100" y="2647950"/>
            <a:ext cx="38100" cy="5715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41E3D8C-C763-4C62-BD4A-4C7E4CF84883}"/>
              </a:ext>
            </a:extLst>
          </p:cNvPr>
          <p:cNvSpPr>
            <a:spLocks xmlns:a="http://schemas.openxmlformats.org/drawingml/2006/main" noGrp="1"/>
          </p:cNvSpPr>
          <p:nvPr/>
        </p:nvSpPr>
        <p:spPr>
          <a:xfrm xmlns:a="http://schemas.openxmlformats.org/drawingml/2006/main">
            <a:off x="971550" y="2552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option attributes predict a new choice?</a:t>
            </a:r>
          </a:p>
        </p:txBody>
      </p:sp>
      <p:sp>
        <p:nvSpPr>
          <p:cNvPr id="22" name="">
            <a:extLst xmlns:a="http://schemas.openxmlformats.org/drawingml/2006/main">
              <a:ext uri="{FF2B5EF4-FFF2-40B4-BE49-F238E27FC236}">
                <a16:creationId xmlns:a16="http://schemas.microsoft.com/office/drawing/2014/main" id="{1614CB98-F3F8-4660-B802-7F880B925217}"/>
              </a:ext>
            </a:extLst>
          </p:cNvPr>
          <p:cNvSpPr>
            <a:spLocks xmlns:a="http://schemas.openxmlformats.org/drawingml/2006/main" noGrp="1"/>
          </p:cNvSpPr>
          <p:nvPr/>
        </p:nvSpPr>
        <p:spPr>
          <a:xfrm xmlns:a="http://schemas.openxmlformats.org/drawingml/2006/main">
            <a:off x="3638550" y="25527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Current trial only</a:t>
            </a:r>
          </a:p>
        </p:txBody>
      </p:sp>
      <p:sp>
        <p:nvSpPr>
          <p:cNvPr id="23" name="">
            <a:extLst xmlns:a="http://schemas.openxmlformats.org/drawingml/2006/main">
              <a:ext uri="{FF2B5EF4-FFF2-40B4-BE49-F238E27FC236}">
                <a16:creationId xmlns:a16="http://schemas.microsoft.com/office/drawing/2014/main" id="{6B62AE4C-B82F-4EEA-BE37-A6C013244221}"/>
              </a:ext>
            </a:extLst>
          </p:cNvPr>
          <p:cNvSpPr>
            <a:spLocks xmlns:a="http://schemas.openxmlformats.org/drawingml/2006/main" noGrp="1"/>
          </p:cNvSpPr>
          <p:nvPr/>
        </p:nvSpPr>
        <p:spPr>
          <a:xfrm xmlns:a="http://schemas.openxmlformats.org/drawingml/2006/main">
            <a:off x="6572250" y="25527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Use the base model as-is</a:t>
            </a:r>
          </a:p>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(zero-shot)</a:t>
            </a:r>
          </a:p>
        </p:txBody>
      </p:sp>
      <p:sp>
        <p:nvSpPr>
          <p:cNvPr id="24" name="">
            <a:extLst xmlns:a="http://schemas.openxmlformats.org/drawingml/2006/main">
              <a:ext uri="{FF2B5EF4-FFF2-40B4-BE49-F238E27FC236}">
                <a16:creationId xmlns:a16="http://schemas.microsoft.com/office/drawing/2014/main" id="{C92D6492-CCF0-4350-8086-B966BA3EECBF}"/>
              </a:ext>
            </a:extLst>
          </p:cNvPr>
          <p:cNvSpPr>
            <a:spLocks xmlns:a="http://schemas.openxmlformats.org/drawingml/2006/main" noGrp="1"/>
          </p:cNvSpPr>
          <p:nvPr/>
        </p:nvSpPr>
        <p:spPr>
          <a:xfrm xmlns:a="http://schemas.openxmlformats.org/drawingml/2006/main">
            <a:off x="8763000" y="25527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A population-level baseline and sensitivity to task framing</a:t>
            </a:r>
          </a:p>
        </p:txBody>
      </p:sp>
      <p:sp>
        <p:nvSpPr>
          <p:cNvPr id="25" name="">
            <a:extLst xmlns:a="http://schemas.openxmlformats.org/drawingml/2006/main">
              <a:ext uri="{FF2B5EF4-FFF2-40B4-BE49-F238E27FC236}">
                <a16:creationId xmlns:a16="http://schemas.microsoft.com/office/drawing/2014/main" id="{09D2EBEC-1853-47C7-9B5D-80AD3CB44715}"/>
              </a:ext>
            </a:extLst>
          </p:cNvPr>
          <p:cNvSpPr>
            <a:spLocks xmlns:a="http://schemas.openxmlformats.org/drawingml/2006/main" noGrp="1"/>
          </p:cNvSpPr>
          <p:nvPr/>
        </p:nvSpPr>
        <p:spPr>
          <a:xfrm xmlns:a="http://schemas.openxmlformats.org/drawingml/2006/main">
            <a:off x="800100" y="33337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954595C-E6DA-46A6-86DE-142BF3AED1CC}"/>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A8C2CEA-7833-449C-A2F3-BB797423DD72}"/>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Start with the current trial: can option information alone predict a new choice?</a:t>
            </a:r>
          </a:p>
        </p:txBody>
      </p:sp>
    </p:spTree>
    <p:extLst>
      <p:ext uri="{BB962C8B-B14F-4D97-AF65-F5344CB8AC3E}">
        <p14:creationId xmlns:p14="http://schemas.microsoft.com/office/powerpoint/2010/main" val="10287372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C8036362-5FCD-4A6D-B4BB-6225755221B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Prediction methods test different decision questions</a:t>
            </a:r>
          </a:p>
        </p:txBody>
      </p:sp>
      <p:sp>
        <p:nvSpPr>
          <p:cNvPr id="2" name="">
            <a:extLst xmlns:a="http://schemas.openxmlformats.org/drawingml/2006/main">
              <a:ext uri="{FF2B5EF4-FFF2-40B4-BE49-F238E27FC236}">
                <a16:creationId xmlns:a16="http://schemas.microsoft.com/office/drawing/2014/main" id="{461CD46B-B297-4C42-A911-4EF44860219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overview</a:t>
            </a:r>
          </a:p>
        </p:txBody>
      </p:sp>
      <p:sp>
        <p:nvSpPr>
          <p:cNvPr id="3" name="">
            <a:extLst xmlns:a="http://schemas.openxmlformats.org/drawingml/2006/main">
              <a:ext uri="{FF2B5EF4-FFF2-40B4-BE49-F238E27FC236}">
                <a16:creationId xmlns:a16="http://schemas.microsoft.com/office/drawing/2014/main" id="{1BB00BC3-7752-4B6C-B2A3-57A39C7A5A2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988D931-2609-4350-AB93-3BF86C1995B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537058F2-9EB7-4816-9483-9899B837569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B322E8D-41FB-4D3C-8F1D-257B7AEEE5E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021176F-79AD-4F04-84D6-05B41837A61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0C79D3-190F-4575-9562-22977BDEDF6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88E3DB7-B4D2-48DF-B33F-3E2FF868E4F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06EC130-BA4D-4CD9-9842-86C88094091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1E05EBB-552A-4853-8254-48356376A40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8894EE2-0603-4888-9117-D58365C13CC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34068BF-D0C9-4DDF-A5EF-1969CA88155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915837B-54DC-4CE2-AE9C-A7B2A4B9C78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78B099B-1E76-401E-A73B-5CD12D7C8AD6}"/>
              </a:ext>
            </a:extLst>
          </p:cNvPr>
          <p:cNvSpPr>
            <a:spLocks xmlns:a="http://schemas.openxmlformats.org/drawingml/2006/main" noGrp="1"/>
          </p:cNvSpPr>
          <p:nvPr/>
        </p:nvSpPr>
        <p:spPr>
          <a:xfrm xmlns:a="http://schemas.openxmlformats.org/drawingml/2006/main">
            <a:off x="800100" y="1981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Decision question</a:t>
            </a:r>
          </a:p>
        </p:txBody>
      </p:sp>
      <p:sp>
        <p:nvSpPr>
          <p:cNvPr id="16" name="">
            <a:extLst xmlns:a="http://schemas.openxmlformats.org/drawingml/2006/main">
              <a:ext uri="{FF2B5EF4-FFF2-40B4-BE49-F238E27FC236}">
                <a16:creationId xmlns:a16="http://schemas.microsoft.com/office/drawing/2014/main" id="{768BDB50-1243-4AD2-93C6-5D208AF68EFF}"/>
              </a:ext>
            </a:extLst>
          </p:cNvPr>
          <p:cNvSpPr>
            <a:spLocks xmlns:a="http://schemas.openxmlformats.org/drawingml/2006/main" noGrp="1"/>
          </p:cNvSpPr>
          <p:nvPr/>
        </p:nvSpPr>
        <p:spPr>
          <a:xfrm xmlns:a="http://schemas.openxmlformats.org/drawingml/2006/main">
            <a:off x="3638550" y="1981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Evidence available</a:t>
            </a:r>
          </a:p>
        </p:txBody>
      </p:sp>
      <p:sp>
        <p:nvSpPr>
          <p:cNvPr id="17" name="">
            <a:extLst xmlns:a="http://schemas.openxmlformats.org/drawingml/2006/main">
              <a:ext uri="{FF2B5EF4-FFF2-40B4-BE49-F238E27FC236}">
                <a16:creationId xmlns:a16="http://schemas.microsoft.com/office/drawing/2014/main" id="{281DCE2A-28BC-4441-AFFA-1BBDF9302C0A}"/>
              </a:ext>
            </a:extLst>
          </p:cNvPr>
          <p:cNvSpPr>
            <a:spLocks xmlns:a="http://schemas.openxmlformats.org/drawingml/2006/main" noGrp="1"/>
          </p:cNvSpPr>
          <p:nvPr/>
        </p:nvSpPr>
        <p:spPr>
          <a:xfrm xmlns:a="http://schemas.openxmlformats.org/drawingml/2006/main">
            <a:off x="6572250" y="19812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Technical move</a:t>
            </a:r>
          </a:p>
        </p:txBody>
      </p:sp>
      <p:sp>
        <p:nvSpPr>
          <p:cNvPr id="18" name="">
            <a:extLst xmlns:a="http://schemas.openxmlformats.org/drawingml/2006/main">
              <a:ext uri="{FF2B5EF4-FFF2-40B4-BE49-F238E27FC236}">
                <a16:creationId xmlns:a16="http://schemas.microsoft.com/office/drawing/2014/main" id="{94BC3BF9-BADE-4749-97C4-58326A11A7F0}"/>
              </a:ext>
            </a:extLst>
          </p:cNvPr>
          <p:cNvSpPr>
            <a:spLocks xmlns:a="http://schemas.openxmlformats.org/drawingml/2006/main" noGrp="1"/>
          </p:cNvSpPr>
          <p:nvPr/>
        </p:nvSpPr>
        <p:spPr>
          <a:xfrm xmlns:a="http://schemas.openxmlformats.org/drawingml/2006/main">
            <a:off x="8763000" y="1981200"/>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What the result can support</a:t>
            </a:r>
          </a:p>
        </p:txBody>
      </p:sp>
      <p:sp>
        <p:nvSpPr>
          <p:cNvPr id="19" name="">
            <a:extLst xmlns:a="http://schemas.openxmlformats.org/drawingml/2006/main">
              <a:ext uri="{FF2B5EF4-FFF2-40B4-BE49-F238E27FC236}">
                <a16:creationId xmlns:a16="http://schemas.microsoft.com/office/drawing/2014/main" id="{2223045F-067A-4827-B3A1-F1418CC40FD0}"/>
              </a:ext>
            </a:extLst>
          </p:cNvPr>
          <p:cNvSpPr>
            <a:spLocks xmlns:a="http://schemas.openxmlformats.org/drawingml/2006/main" noGrp="1"/>
          </p:cNvSpPr>
          <p:nvPr/>
        </p:nvSpPr>
        <p:spPr>
          <a:xfrm xmlns:a="http://schemas.openxmlformats.org/drawingml/2006/main">
            <a:off x="800100" y="24003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B3D1A06-DA35-4743-8824-CE7D9FB88A92}"/>
              </a:ext>
            </a:extLst>
          </p:cNvPr>
          <p:cNvSpPr>
            <a:spLocks xmlns:a="http://schemas.openxmlformats.org/drawingml/2006/main" noGrp="1"/>
          </p:cNvSpPr>
          <p:nvPr/>
        </p:nvSpPr>
        <p:spPr>
          <a:xfrm xmlns:a="http://schemas.openxmlformats.org/drawingml/2006/main">
            <a:off x="800100" y="2647950"/>
            <a:ext cx="38100" cy="5715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29D9865-4F47-40CB-842B-4E97699C0BC2}"/>
              </a:ext>
            </a:extLst>
          </p:cNvPr>
          <p:cNvSpPr>
            <a:spLocks xmlns:a="http://schemas.openxmlformats.org/drawingml/2006/main" noGrp="1"/>
          </p:cNvSpPr>
          <p:nvPr/>
        </p:nvSpPr>
        <p:spPr>
          <a:xfrm xmlns:a="http://schemas.openxmlformats.org/drawingml/2006/main">
            <a:off x="971550" y="2552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option attributes predict a new choice?</a:t>
            </a:r>
          </a:p>
        </p:txBody>
      </p:sp>
      <p:sp>
        <p:nvSpPr>
          <p:cNvPr id="22" name="">
            <a:extLst xmlns:a="http://schemas.openxmlformats.org/drawingml/2006/main">
              <a:ext uri="{FF2B5EF4-FFF2-40B4-BE49-F238E27FC236}">
                <a16:creationId xmlns:a16="http://schemas.microsoft.com/office/drawing/2014/main" id="{A779E71E-A70D-478E-BB3C-42276D84CBA3}"/>
              </a:ext>
            </a:extLst>
          </p:cNvPr>
          <p:cNvSpPr>
            <a:spLocks xmlns:a="http://schemas.openxmlformats.org/drawingml/2006/main" noGrp="1"/>
          </p:cNvSpPr>
          <p:nvPr/>
        </p:nvSpPr>
        <p:spPr>
          <a:xfrm xmlns:a="http://schemas.openxmlformats.org/drawingml/2006/main">
            <a:off x="3638550" y="25527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Current trial only</a:t>
            </a:r>
          </a:p>
        </p:txBody>
      </p:sp>
      <p:sp>
        <p:nvSpPr>
          <p:cNvPr id="23" name="">
            <a:extLst xmlns:a="http://schemas.openxmlformats.org/drawingml/2006/main">
              <a:ext uri="{FF2B5EF4-FFF2-40B4-BE49-F238E27FC236}">
                <a16:creationId xmlns:a16="http://schemas.microsoft.com/office/drawing/2014/main" id="{87EB5682-5A89-4BBE-AC27-F211A2669D70}"/>
              </a:ext>
            </a:extLst>
          </p:cNvPr>
          <p:cNvSpPr>
            <a:spLocks xmlns:a="http://schemas.openxmlformats.org/drawingml/2006/main" noGrp="1"/>
          </p:cNvSpPr>
          <p:nvPr/>
        </p:nvSpPr>
        <p:spPr>
          <a:xfrm xmlns:a="http://schemas.openxmlformats.org/drawingml/2006/main">
            <a:off x="6572250" y="25527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Use the base model as-is</a:t>
            </a:r>
          </a:p>
          <a:p xmlns:a="http://schemas.openxmlformats.org/drawingml/2006/main">
            <a:pPr algn="l">
              <a:lnSpc>
                <a:spcPct val="112000"/>
              </a:lnSpc>
              <a:buNone/>
              <a:defRPr sz="1275" b="1" i="0">
                <a:solidFill>
                  <a:srgbClr val="234E70"/>
                </a:solidFill>
                <a:latin typeface="Arial"/>
                <a:ea typeface="Arial"/>
                <a:cs typeface="Arial"/>
              </a:defRPr>
            </a:pPr>
            <a:r>
              <a:rPr sz="1275" b="1" i="0">
                <a:solidFill>
                  <a:srgbClr val="234E70"/>
                </a:solidFill>
                <a:latin typeface="Arial"/>
                <a:ea typeface="Arial"/>
                <a:cs typeface="Arial"/>
              </a:rPr>
              <a:t>(zero-shot)</a:t>
            </a:r>
          </a:p>
        </p:txBody>
      </p:sp>
      <p:sp>
        <p:nvSpPr>
          <p:cNvPr id="24" name="">
            <a:extLst xmlns:a="http://schemas.openxmlformats.org/drawingml/2006/main">
              <a:ext uri="{FF2B5EF4-FFF2-40B4-BE49-F238E27FC236}">
                <a16:creationId xmlns:a16="http://schemas.microsoft.com/office/drawing/2014/main" id="{B8C1FEBB-DDAB-4502-997E-67F75B44FE2B}"/>
              </a:ext>
            </a:extLst>
          </p:cNvPr>
          <p:cNvSpPr>
            <a:spLocks xmlns:a="http://schemas.openxmlformats.org/drawingml/2006/main" noGrp="1"/>
          </p:cNvSpPr>
          <p:nvPr/>
        </p:nvSpPr>
        <p:spPr>
          <a:xfrm xmlns:a="http://schemas.openxmlformats.org/drawingml/2006/main">
            <a:off x="8763000" y="25527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A population-level baseline and sensitivity to task framing</a:t>
            </a:r>
          </a:p>
        </p:txBody>
      </p:sp>
      <p:sp>
        <p:nvSpPr>
          <p:cNvPr id="25" name="">
            <a:extLst xmlns:a="http://schemas.openxmlformats.org/drawingml/2006/main">
              <a:ext uri="{FF2B5EF4-FFF2-40B4-BE49-F238E27FC236}">
                <a16:creationId xmlns:a16="http://schemas.microsoft.com/office/drawing/2014/main" id="{1CFF691C-43DC-41DE-B5F6-8114B3F5DD94}"/>
              </a:ext>
            </a:extLst>
          </p:cNvPr>
          <p:cNvSpPr>
            <a:spLocks xmlns:a="http://schemas.openxmlformats.org/drawingml/2006/main" noGrp="1"/>
          </p:cNvSpPr>
          <p:nvPr/>
        </p:nvSpPr>
        <p:spPr>
          <a:xfrm xmlns:a="http://schemas.openxmlformats.org/drawingml/2006/main">
            <a:off x="800100" y="33337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6DB4FAF-BB0D-48A5-9C35-CB2F146F4B95}"/>
              </a:ext>
            </a:extLst>
          </p:cNvPr>
          <p:cNvSpPr>
            <a:spLocks xmlns:a="http://schemas.openxmlformats.org/drawingml/2006/main" noGrp="1"/>
          </p:cNvSpPr>
          <p:nvPr/>
        </p:nvSpPr>
        <p:spPr>
          <a:xfrm xmlns:a="http://schemas.openxmlformats.org/drawingml/2006/main">
            <a:off x="800100" y="3562350"/>
            <a:ext cx="38100" cy="5715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9816648-536B-4E51-BCE0-3D22632A8216}"/>
              </a:ext>
            </a:extLst>
          </p:cNvPr>
          <p:cNvSpPr>
            <a:spLocks xmlns:a="http://schemas.openxmlformats.org/drawingml/2006/main" noGrp="1"/>
          </p:cNvSpPr>
          <p:nvPr/>
        </p:nvSpPr>
        <p:spPr>
          <a:xfrm xmlns:a="http://schemas.openxmlformats.org/drawingml/2006/main">
            <a:off x="971550" y="34671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Do this person's earlier choices improve later predictions?</a:t>
            </a:r>
          </a:p>
        </p:txBody>
      </p:sp>
      <p:sp>
        <p:nvSpPr>
          <p:cNvPr id="28" name="">
            <a:extLst xmlns:a="http://schemas.openxmlformats.org/drawingml/2006/main">
              <a:ext uri="{FF2B5EF4-FFF2-40B4-BE49-F238E27FC236}">
                <a16:creationId xmlns:a16="http://schemas.microsoft.com/office/drawing/2014/main" id="{C7066581-59D0-4C8D-820C-9E56520C71B8}"/>
              </a:ext>
            </a:extLst>
          </p:cNvPr>
          <p:cNvSpPr>
            <a:spLocks xmlns:a="http://schemas.openxmlformats.org/drawingml/2006/main" noGrp="1"/>
          </p:cNvSpPr>
          <p:nvPr/>
        </p:nvSpPr>
        <p:spPr>
          <a:xfrm xmlns:a="http://schemas.openxmlformats.org/drawingml/2006/main">
            <a:off x="3638550" y="34671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The same participant's prior trials</a:t>
            </a:r>
          </a:p>
        </p:txBody>
      </p:sp>
      <p:sp>
        <p:nvSpPr>
          <p:cNvPr id="29" name="">
            <a:extLst xmlns:a="http://schemas.openxmlformats.org/drawingml/2006/main">
              <a:ext uri="{FF2B5EF4-FFF2-40B4-BE49-F238E27FC236}">
                <a16:creationId xmlns:a16="http://schemas.microsoft.com/office/drawing/2014/main" id="{4BA12875-B338-460D-918D-3C43A7E31F0D}"/>
              </a:ext>
            </a:extLst>
          </p:cNvPr>
          <p:cNvSpPr>
            <a:spLocks xmlns:a="http://schemas.openxmlformats.org/drawingml/2006/main" noGrp="1"/>
          </p:cNvSpPr>
          <p:nvPr/>
        </p:nvSpPr>
        <p:spPr>
          <a:xfrm xmlns:a="http://schemas.openxmlformats.org/drawingml/2006/main">
            <a:off x="6572250" y="34671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87591F"/>
                </a:solidFill>
                <a:latin typeface="Arial"/>
                <a:ea typeface="Arial"/>
                <a:cs typeface="Arial"/>
              </a:defRPr>
            </a:pPr>
            <a:r>
              <a:rPr sz="1275" b="1" i="0">
                <a:solidFill>
                  <a:srgbClr val="87591F"/>
                </a:solidFill>
                <a:latin typeface="Arial"/>
                <a:ea typeface="Arial"/>
                <a:cs typeface="Arial"/>
              </a:rPr>
              <a:t>Add history to the context</a:t>
            </a:r>
          </a:p>
          <a:p xmlns:a="http://schemas.openxmlformats.org/drawingml/2006/main">
            <a:pPr algn="l">
              <a:lnSpc>
                <a:spcPct val="112000"/>
              </a:lnSpc>
              <a:buNone/>
              <a:defRPr sz="1275" b="1" i="0">
                <a:solidFill>
                  <a:srgbClr val="87591F"/>
                </a:solidFill>
                <a:latin typeface="Arial"/>
                <a:ea typeface="Arial"/>
                <a:cs typeface="Arial"/>
              </a:defRPr>
            </a:pPr>
            <a:r>
              <a:rPr sz="1275" b="1" i="0">
                <a:solidFill>
                  <a:srgbClr val="87591F"/>
                </a:solidFill>
                <a:latin typeface="Arial"/>
                <a:ea typeface="Arial"/>
                <a:cs typeface="Arial"/>
              </a:rPr>
              <a:t>(in-context learning)</a:t>
            </a:r>
          </a:p>
        </p:txBody>
      </p:sp>
      <p:sp>
        <p:nvSpPr>
          <p:cNvPr id="30" name="">
            <a:extLst xmlns:a="http://schemas.openxmlformats.org/drawingml/2006/main">
              <a:ext uri="{FF2B5EF4-FFF2-40B4-BE49-F238E27FC236}">
                <a16:creationId xmlns:a16="http://schemas.microsoft.com/office/drawing/2014/main" id="{7F03D1EE-0EE0-476A-81F7-91152CB77F3B}"/>
              </a:ext>
            </a:extLst>
          </p:cNvPr>
          <p:cNvSpPr>
            <a:spLocks xmlns:a="http://schemas.openxmlformats.org/drawingml/2006/main" noGrp="1"/>
          </p:cNvSpPr>
          <p:nvPr/>
        </p:nvSpPr>
        <p:spPr>
          <a:xfrm xmlns:a="http://schemas.openxmlformats.org/drawingml/2006/main">
            <a:off x="8763000" y="34671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Within-person adaptation and evidence for individual differences</a:t>
            </a:r>
          </a:p>
        </p:txBody>
      </p:sp>
      <p:sp>
        <p:nvSpPr>
          <p:cNvPr id="31" name="">
            <a:extLst xmlns:a="http://schemas.openxmlformats.org/drawingml/2006/main">
              <a:ext uri="{FF2B5EF4-FFF2-40B4-BE49-F238E27FC236}">
                <a16:creationId xmlns:a16="http://schemas.microsoft.com/office/drawing/2014/main" id="{7213ECD6-79DC-4FD4-B3FE-322602212E54}"/>
              </a:ext>
            </a:extLst>
          </p:cNvPr>
          <p:cNvSpPr>
            <a:spLocks xmlns:a="http://schemas.openxmlformats.org/drawingml/2006/main" noGrp="1"/>
          </p:cNvSpPr>
          <p:nvPr/>
        </p:nvSpPr>
        <p:spPr>
          <a:xfrm xmlns:a="http://schemas.openxmlformats.org/drawingml/2006/main">
            <a:off x="800100" y="42481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DD48251-9733-441C-B03D-D592FB4CF0A1}"/>
              </a:ext>
            </a:extLst>
          </p:cNvPr>
          <p:cNvSpPr>
            <a:spLocks xmlns:a="http://schemas.openxmlformats.org/drawingml/2006/main" noGrp="1"/>
          </p:cNvSpPr>
          <p:nvPr/>
        </p:nvSpPr>
        <p:spPr>
          <a:xfrm xmlns:a="http://schemas.openxmlformats.org/drawingml/2006/main">
            <a:off x="800100" y="4476750"/>
            <a:ext cx="38100" cy="571500"/>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300538E-5DAE-4CE3-9DC1-873937808954}"/>
              </a:ext>
            </a:extLst>
          </p:cNvPr>
          <p:cNvSpPr>
            <a:spLocks xmlns:a="http://schemas.openxmlformats.org/drawingml/2006/main" noGrp="1"/>
          </p:cNvSpPr>
          <p:nvPr/>
        </p:nvSpPr>
        <p:spPr>
          <a:xfrm xmlns:a="http://schemas.openxmlformats.org/drawingml/2006/main">
            <a:off x="971550" y="43815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labeled choices teach a stable task mapping?</a:t>
            </a:r>
          </a:p>
        </p:txBody>
      </p:sp>
      <p:sp>
        <p:nvSpPr>
          <p:cNvPr id="34" name="">
            <a:extLst xmlns:a="http://schemas.openxmlformats.org/drawingml/2006/main">
              <a:ext uri="{FF2B5EF4-FFF2-40B4-BE49-F238E27FC236}">
                <a16:creationId xmlns:a16="http://schemas.microsoft.com/office/drawing/2014/main" id="{8E5F4301-5337-4C30-BE50-2C99CD2EBEA1}"/>
              </a:ext>
            </a:extLst>
          </p:cNvPr>
          <p:cNvSpPr>
            <a:spLocks xmlns:a="http://schemas.openxmlformats.org/drawingml/2006/main" noGrp="1"/>
          </p:cNvSpPr>
          <p:nvPr/>
        </p:nvSpPr>
        <p:spPr>
          <a:xfrm xmlns:a="http://schemas.openxmlformats.org/drawingml/2006/main">
            <a:off x="3638550" y="43815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Training choices from other participants</a:t>
            </a:r>
          </a:p>
        </p:txBody>
      </p:sp>
      <p:sp>
        <p:nvSpPr>
          <p:cNvPr id="35" name="">
            <a:extLst xmlns:a="http://schemas.openxmlformats.org/drawingml/2006/main">
              <a:ext uri="{FF2B5EF4-FFF2-40B4-BE49-F238E27FC236}">
                <a16:creationId xmlns:a16="http://schemas.microsoft.com/office/drawing/2014/main" id="{D3F0160A-2809-47D3-8B46-52CA63D7BF2B}"/>
              </a:ext>
            </a:extLst>
          </p:cNvPr>
          <p:cNvSpPr>
            <a:spLocks xmlns:a="http://schemas.openxmlformats.org/drawingml/2006/main" noGrp="1"/>
          </p:cNvSpPr>
          <p:nvPr/>
        </p:nvSpPr>
        <p:spPr>
          <a:xfrm xmlns:a="http://schemas.openxmlformats.org/drawingml/2006/main">
            <a:off x="6572250" y="43815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1" i="0">
                <a:solidFill>
                  <a:srgbClr val="8A3B35"/>
                </a:solidFill>
                <a:latin typeface="Arial"/>
                <a:ea typeface="Arial"/>
                <a:cs typeface="Arial"/>
              </a:defRPr>
            </a:pPr>
            <a:r>
              <a:rPr sz="1275" b="1" i="0">
                <a:solidFill>
                  <a:srgbClr val="8A3B35"/>
                </a:solidFill>
                <a:latin typeface="Arial"/>
                <a:ea typeface="Arial"/>
                <a:cs typeface="Arial"/>
              </a:rPr>
              <a:t>Update model parameters</a:t>
            </a:r>
          </a:p>
          <a:p xmlns:a="http://schemas.openxmlformats.org/drawingml/2006/main">
            <a:pPr algn="l">
              <a:lnSpc>
                <a:spcPct val="112000"/>
              </a:lnSpc>
              <a:buNone/>
              <a:defRPr sz="1275" b="1" i="0">
                <a:solidFill>
                  <a:srgbClr val="8A3B35"/>
                </a:solidFill>
                <a:latin typeface="Arial"/>
                <a:ea typeface="Arial"/>
                <a:cs typeface="Arial"/>
              </a:defRPr>
            </a:pPr>
            <a:r>
              <a:rPr sz="1275" b="1" i="0">
                <a:solidFill>
                  <a:srgbClr val="8A3B35"/>
                </a:solidFill>
                <a:latin typeface="Arial"/>
                <a:ea typeface="Arial"/>
                <a:cs typeface="Arial"/>
              </a:rPr>
              <a:t>(supervised fine-tuning)</a:t>
            </a:r>
          </a:p>
        </p:txBody>
      </p:sp>
      <p:sp>
        <p:nvSpPr>
          <p:cNvPr id="36" name="">
            <a:extLst xmlns:a="http://schemas.openxmlformats.org/drawingml/2006/main">
              <a:ext uri="{FF2B5EF4-FFF2-40B4-BE49-F238E27FC236}">
                <a16:creationId xmlns:a16="http://schemas.microsoft.com/office/drawing/2014/main" id="{F88EDEE8-DD15-46F4-910C-325B765FF089}"/>
              </a:ext>
            </a:extLst>
          </p:cNvPr>
          <p:cNvSpPr>
            <a:spLocks xmlns:a="http://schemas.openxmlformats.org/drawingml/2006/main" noGrp="1"/>
          </p:cNvSpPr>
          <p:nvPr/>
        </p:nvSpPr>
        <p:spPr>
          <a:xfrm xmlns:a="http://schemas.openxmlformats.org/drawingml/2006/main">
            <a:off x="8763000" y="43815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75" b="0" i="0">
                <a:solidFill>
                  <a:srgbClr val="283643"/>
                </a:solidFill>
                <a:latin typeface="Arial"/>
                <a:ea typeface="Arial"/>
                <a:cs typeface="Arial"/>
              </a:defRPr>
            </a:pPr>
            <a:r>
              <a:rPr sz="1275" b="0" i="0">
                <a:solidFill>
                  <a:srgbClr val="283643"/>
                </a:solidFill>
                <a:latin typeface="Arial"/>
                <a:ea typeface="Arial"/>
                <a:cs typeface="Arial"/>
              </a:rPr>
              <a:t>Task-level population regularities that generalize to held-out people</a:t>
            </a:r>
          </a:p>
        </p:txBody>
      </p:sp>
      <p:sp>
        <p:nvSpPr>
          <p:cNvPr id="37" name="">
            <a:extLst xmlns:a="http://schemas.openxmlformats.org/drawingml/2006/main">
              <a:ext uri="{FF2B5EF4-FFF2-40B4-BE49-F238E27FC236}">
                <a16:creationId xmlns:a16="http://schemas.microsoft.com/office/drawing/2014/main" id="{8D1AE59E-4715-446C-96C9-F64D975FE1CC}"/>
              </a:ext>
            </a:extLst>
          </p:cNvPr>
          <p:cNvSpPr>
            <a:spLocks xmlns:a="http://schemas.openxmlformats.org/drawingml/2006/main" noGrp="1"/>
          </p:cNvSpPr>
          <p:nvPr/>
        </p:nvSpPr>
        <p:spPr>
          <a:xfrm xmlns:a="http://schemas.openxmlformats.org/drawingml/2006/main">
            <a:off x="800100" y="51625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9B6684A-C628-4341-A40D-22F1EF219790}"/>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FE7B117-5B6F-4DEF-A7E2-6ABF7D1D52D8}"/>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These methods are not a ladder of understanding; they test different sources of predictive information.</a:t>
            </a:r>
          </a:p>
        </p:txBody>
      </p:sp>
    </p:spTree>
    <p:extLst>
      <p:ext uri="{BB962C8B-B14F-4D97-AF65-F5344CB8AC3E}">
        <p14:creationId xmlns:p14="http://schemas.microsoft.com/office/powerpoint/2010/main" val="6844089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C9EA8C1-9DCC-4536-B067-D3900C8336F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Begin with one real held-out choice</a:t>
            </a:r>
          </a:p>
        </p:txBody>
      </p:sp>
      <p:sp>
        <p:nvSpPr>
          <p:cNvPr id="2" name="">
            <a:extLst xmlns:a="http://schemas.openxmlformats.org/drawingml/2006/main">
              <a:ext uri="{FF2B5EF4-FFF2-40B4-BE49-F238E27FC236}">
                <a16:creationId xmlns:a16="http://schemas.microsoft.com/office/drawing/2014/main" id="{9E5AEAB8-3774-40B5-90A8-99F20FCBD80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051EEB90-05C5-43A8-A42E-A753BDE82B8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F09DEE-95E6-44EF-BF68-F8AF976D2FA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9E4C75BC-2022-4C5D-9D58-DD72F50F624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23D5CAD-C320-473D-9A63-2A1F2E060F6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BCFD5F4-E5B1-4EC2-A9BF-9953464705FE}"/>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1DE3286-4E8C-4B38-833C-B0C63008F85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8891B7D-BEA5-4E57-B06E-3570F270C8B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D135F47-E22C-400F-A1CB-56FE6013101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CF7F2B1-CEE2-4831-AFFC-A301E04302A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6C741B3-D86A-4D65-8DDA-A988F65C779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70190C6-490D-4A86-B890-5CC591B1042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5ABEDF-D920-4D09-A6C9-9DAC9C04AF5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5D57A8D-8690-4972-A29C-4BF7AD6904E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 P025 / trial 21</a:t>
            </a:r>
          </a:p>
        </p:txBody>
      </p:sp>
      <p:sp>
        <p:nvSpPr>
          <p:cNvPr id="16" name="">
            <a:extLst xmlns:a="http://schemas.openxmlformats.org/drawingml/2006/main">
              <a:ext uri="{FF2B5EF4-FFF2-40B4-BE49-F238E27FC236}">
                <a16:creationId xmlns:a16="http://schemas.microsoft.com/office/drawing/2014/main" id="{ABAD95C3-F44E-44DC-8647-CF342D806CA0}"/>
              </a:ext>
            </a:extLst>
          </p:cNvPr>
          <p:cNvSpPr>
            <a:spLocks xmlns:a="http://schemas.openxmlformats.org/drawingml/2006/main" noGrp="1"/>
          </p:cNvSpPr>
          <p:nvPr/>
        </p:nvSpPr>
        <p:spPr>
          <a:xfrm xmlns:a="http://schemas.openxmlformats.org/drawingml/2006/main">
            <a:off x="800100" y="2133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Available before prediction</a:t>
            </a:r>
          </a:p>
        </p:txBody>
      </p:sp>
      <p:sp>
        <p:nvSpPr>
          <p:cNvPr id="17" name="">
            <a:extLst xmlns:a="http://schemas.openxmlformats.org/drawingml/2006/main">
              <a:ext uri="{FF2B5EF4-FFF2-40B4-BE49-F238E27FC236}">
                <a16:creationId xmlns:a16="http://schemas.microsoft.com/office/drawing/2014/main" id="{245A1DC8-C7F2-4CA4-A195-3E540E95D01D}"/>
              </a:ext>
            </a:extLst>
          </p:cNvPr>
          <p:cNvSpPr>
            <a:spLocks xmlns:a="http://schemas.openxmlformats.org/drawingml/2006/main" noGrp="1"/>
          </p:cNvSpPr>
          <p:nvPr/>
        </p:nvSpPr>
        <p:spPr>
          <a:xfrm xmlns:a="http://schemas.openxmlformats.org/drawingml/2006/main">
            <a:off x="990600" y="280035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Task instruction</a:t>
            </a:r>
          </a:p>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Option A: 75% of -16; 25% of 40</a:t>
            </a:r>
          </a:p>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Option B: -3 for sure</a:t>
            </a:r>
          </a:p>
        </p:txBody>
      </p:sp>
      <p:sp>
        <p:nvSpPr>
          <p:cNvPr id="18" name="">
            <a:extLst xmlns:a="http://schemas.openxmlformats.org/drawingml/2006/main">
              <a:ext uri="{FF2B5EF4-FFF2-40B4-BE49-F238E27FC236}">
                <a16:creationId xmlns:a16="http://schemas.microsoft.com/office/drawing/2014/main" id="{FCCC075D-8A0A-4E51-8954-72E5ECD501FE}"/>
              </a:ext>
            </a:extLst>
          </p:cNvPr>
          <p:cNvSpPr>
            <a:spLocks xmlns:a="http://schemas.openxmlformats.org/drawingml/2006/main" noGrp="1"/>
          </p:cNvSpPr>
          <p:nvPr/>
        </p:nvSpPr>
        <p:spPr>
          <a:xfrm xmlns:a="http://schemas.openxmlformats.org/drawingml/2006/main">
            <a:off x="6096000" y="2076450"/>
            <a:ext cx="14288" cy="30480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6B5850B-A77C-4EE5-A55C-4931BB8560C2}"/>
              </a:ext>
            </a:extLst>
          </p:cNvPr>
          <p:cNvSpPr>
            <a:spLocks xmlns:a="http://schemas.openxmlformats.org/drawingml/2006/main" noGrp="1"/>
          </p:cNvSpPr>
          <p:nvPr/>
        </p:nvSpPr>
        <p:spPr>
          <a:xfrm xmlns:a="http://schemas.openxmlformats.org/drawingml/2006/main">
            <a:off x="6667500" y="2133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Hidden until evaluation</a:t>
            </a:r>
          </a:p>
        </p:txBody>
      </p:sp>
      <p:sp>
        <p:nvSpPr>
          <p:cNvPr id="20" name="">
            <a:extLst xmlns:a="http://schemas.openxmlformats.org/drawingml/2006/main">
              <a:ext uri="{FF2B5EF4-FFF2-40B4-BE49-F238E27FC236}">
                <a16:creationId xmlns:a16="http://schemas.microsoft.com/office/drawing/2014/main" id="{86C47B0A-9DDB-4B31-81C8-918E9DA36028}"/>
              </a:ext>
            </a:extLst>
          </p:cNvPr>
          <p:cNvSpPr>
            <a:spLocks xmlns:a="http://schemas.openxmlformats.org/drawingml/2006/main" noGrp="1"/>
          </p:cNvSpPr>
          <p:nvPr/>
        </p:nvSpPr>
        <p:spPr>
          <a:xfrm xmlns:a="http://schemas.openxmlformats.org/drawingml/2006/main">
            <a:off x="6915150" y="314325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2250" b="1" i="0">
                <a:solidFill>
                  <a:srgbClr val="111827"/>
                </a:solidFill>
                <a:latin typeface="Arial"/>
                <a:ea typeface="Arial"/>
                <a:cs typeface="Arial"/>
              </a:defRPr>
            </a:pPr>
            <a:r>
              <a:rPr sz="2250" b="1" i="0">
                <a:solidFill>
                  <a:srgbClr val="111827"/>
                </a:solidFill>
                <a:latin typeface="Arial"/>
                <a:ea typeface="Arial"/>
                <a:cs typeface="Arial"/>
              </a:rPr>
              <a:t>P025's observed choice</a:t>
            </a:r>
          </a:p>
        </p:txBody>
      </p:sp>
      <p:sp>
        <p:nvSpPr>
          <p:cNvPr id="21" name="">
            <a:extLst xmlns:a="http://schemas.openxmlformats.org/drawingml/2006/main">
              <a:ext uri="{FF2B5EF4-FFF2-40B4-BE49-F238E27FC236}">
                <a16:creationId xmlns:a16="http://schemas.microsoft.com/office/drawing/2014/main" id="{94BBB868-4B7E-41E2-89EB-51CFAEC4EC0E}"/>
              </a:ext>
            </a:extLst>
          </p:cNvPr>
          <p:cNvSpPr>
            <a:spLocks xmlns:a="http://schemas.openxmlformats.org/drawingml/2006/main" noGrp="1"/>
          </p:cNvSpPr>
          <p:nvPr/>
        </p:nvSpPr>
        <p:spPr>
          <a:xfrm xmlns:a="http://schemas.openxmlformats.org/drawingml/2006/main">
            <a:off x="6667500" y="40767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0" i="0">
                <a:solidFill>
                  <a:srgbClr val="667085"/>
                </a:solidFill>
                <a:latin typeface="Arial"/>
                <a:ea typeface="Arial"/>
                <a:cs typeface="Arial"/>
              </a:defRPr>
            </a:pPr>
            <a:r>
              <a:rPr sz="1650" b="0" i="0">
                <a:solidFill>
                  <a:srgbClr val="667085"/>
                </a:solidFill>
                <a:latin typeface="Arial"/>
                <a:ea typeface="Arial"/>
                <a:cs typeface="Arial"/>
              </a:rPr>
              <a:t>No history, no rationale, no future trials.</a:t>
            </a:r>
          </a:p>
        </p:txBody>
      </p:sp>
      <p:sp>
        <p:nvSpPr>
          <p:cNvPr id="22" name="">
            <a:extLst xmlns:a="http://schemas.openxmlformats.org/drawingml/2006/main">
              <a:ext uri="{FF2B5EF4-FFF2-40B4-BE49-F238E27FC236}">
                <a16:creationId xmlns:a16="http://schemas.microsoft.com/office/drawing/2014/main" id="{E2E53FF2-98D7-4C96-8095-A21B6E6471F3}"/>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CF45038-3486-4E04-B7CE-964F77590737}"/>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First make one prediction under a clean observation contract.</a:t>
            </a:r>
          </a:p>
        </p:txBody>
      </p:sp>
    </p:spTree>
    <p:extLst>
      <p:ext uri="{BB962C8B-B14F-4D97-AF65-F5344CB8AC3E}">
        <p14:creationId xmlns:p14="http://schemas.microsoft.com/office/powerpoint/2010/main" val="11883941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F5865B18-46E4-4A84-A38F-1DB68EFEBC5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first prompt contains only the current trial</a:t>
            </a:r>
          </a:p>
        </p:txBody>
      </p:sp>
      <p:sp>
        <p:nvSpPr>
          <p:cNvPr id="2" name="">
            <a:extLst xmlns:a="http://schemas.openxmlformats.org/drawingml/2006/main">
              <a:ext uri="{FF2B5EF4-FFF2-40B4-BE49-F238E27FC236}">
                <a16:creationId xmlns:a16="http://schemas.microsoft.com/office/drawing/2014/main" id="{5D1C48A4-7073-4D48-9732-F1FCB304887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584DC747-826F-45F6-8648-4B8904BA168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39CBBC3-0AEA-4DAA-8C53-6A5B2BF3769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3B0295E2-3227-4DBE-B808-8EB35AEB12F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43FC76-F5E6-4E6C-BA81-3169B403C55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1FE73E6-1051-48CB-9525-1E117C63E7BF}"/>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17B7E17-F856-405D-AA79-7D48BA05DAE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35BA909-3F7E-4C67-85D6-54D81CFACE6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C44C8F3-EEA1-40E3-A04C-E402ABB818C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540BFC5-E790-4F78-BB67-685EE19BBE4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2FED560-F9E9-4274-913D-66EAD8DD0D1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A8AFCE2-5008-464E-A4E8-D0633AF3285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9E04720-C3B1-4D4A-9FEA-0DD48A79499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CAC5927-69C8-4387-8A5D-4B9A090AF06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Exact structure used in Notebook 1</a:t>
            </a:r>
          </a:p>
        </p:txBody>
      </p:sp>
      <p:sp>
        <p:nvSpPr>
          <p:cNvPr id="16" name="">
            <a:extLst xmlns:a="http://schemas.openxmlformats.org/drawingml/2006/main">
              <a:ext uri="{FF2B5EF4-FFF2-40B4-BE49-F238E27FC236}">
                <a16:creationId xmlns:a16="http://schemas.microsoft.com/office/drawing/2014/main" id="{CDE91208-6D16-4745-8FFD-D4A87E82B835}"/>
              </a:ext>
            </a:extLst>
          </p:cNvPr>
          <p:cNvSpPr>
            <a:spLocks xmlns:a="http://schemas.openxmlformats.org/drawingml/2006/main" noGrp="1"/>
          </p:cNvSpPr>
          <p:nvPr/>
        </p:nvSpPr>
        <p:spPr>
          <a:xfrm xmlns:a="http://schemas.openxmlformats.org/drawingml/2006/main">
            <a:off x="819150" y="2076450"/>
            <a:ext cx="1055370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17" name="">
            <a:extLst xmlns:a="http://schemas.openxmlformats.org/drawingml/2006/main">
              <a:ext uri="{FF2B5EF4-FFF2-40B4-BE49-F238E27FC236}">
                <a16:creationId xmlns:a16="http://schemas.microsoft.com/office/drawing/2014/main" id="{355B95E1-634A-4BAB-A2F2-1D616776843A}"/>
              </a:ext>
            </a:extLst>
          </p:cNvPr>
          <p:cNvSpPr>
            <a:spLocks xmlns:a="http://schemas.openxmlformats.org/drawingml/2006/main" noGrp="1"/>
          </p:cNvSpPr>
          <p:nvPr/>
        </p:nvSpPr>
        <p:spPr>
          <a:xfrm xmlns:a="http://schemas.openxmlformats.org/drawingml/2006/main">
            <a:off x="1104900" y="2362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SYSTEM</a:t>
            </a:r>
          </a:p>
        </p:txBody>
      </p:sp>
      <p:sp>
        <p:nvSpPr>
          <p:cNvPr id="18" name="">
            <a:extLst xmlns:a="http://schemas.openxmlformats.org/drawingml/2006/main">
              <a:ext uri="{FF2B5EF4-FFF2-40B4-BE49-F238E27FC236}">
                <a16:creationId xmlns:a16="http://schemas.microsoft.com/office/drawing/2014/main" id="{37DE6AD3-746F-435C-B071-834A875F58BB}"/>
              </a:ext>
            </a:extLst>
          </p:cNvPr>
          <p:cNvSpPr>
            <a:spLocks xmlns:a="http://schemas.openxmlformats.org/drawingml/2006/main" noGrp="1"/>
          </p:cNvSpPr>
          <p:nvPr/>
        </p:nvSpPr>
        <p:spPr>
          <a:xfrm xmlns:a="http://schemas.openxmlformats.org/drawingml/2006/main">
            <a:off x="2724150" y="2362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Answer with exactly one token: A or B.</a:t>
            </a:r>
          </a:p>
        </p:txBody>
      </p:sp>
      <p:sp>
        <p:nvSpPr>
          <p:cNvPr id="19" name="">
            <a:extLst xmlns:a="http://schemas.openxmlformats.org/drawingml/2006/main">
              <a:ext uri="{FF2B5EF4-FFF2-40B4-BE49-F238E27FC236}">
                <a16:creationId xmlns:a16="http://schemas.microsoft.com/office/drawing/2014/main" id="{C87E6819-1DDD-4119-BAAC-DC0669AF9822}"/>
              </a:ext>
            </a:extLst>
          </p:cNvPr>
          <p:cNvSpPr>
            <a:spLocks xmlns:a="http://schemas.openxmlformats.org/drawingml/2006/main" noGrp="1"/>
          </p:cNvSpPr>
          <p:nvPr/>
        </p:nvSpPr>
        <p:spPr>
          <a:xfrm xmlns:a="http://schemas.openxmlformats.org/drawingml/2006/main">
            <a:off x="1104900" y="3028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USER</a:t>
            </a:r>
          </a:p>
        </p:txBody>
      </p:sp>
      <p:sp>
        <p:nvSpPr>
          <p:cNvPr id="20" name="">
            <a:extLst xmlns:a="http://schemas.openxmlformats.org/drawingml/2006/main">
              <a:ext uri="{FF2B5EF4-FFF2-40B4-BE49-F238E27FC236}">
                <a16:creationId xmlns:a16="http://schemas.microsoft.com/office/drawing/2014/main" id="{05BB238E-ABFE-4AB8-AB0F-CB493E074221}"/>
              </a:ext>
            </a:extLst>
          </p:cNvPr>
          <p:cNvSpPr>
            <a:spLocks xmlns:a="http://schemas.openxmlformats.org/drawingml/2006/main" noGrp="1"/>
          </p:cNvSpPr>
          <p:nvPr/>
        </p:nvSpPr>
        <p:spPr>
          <a:xfrm xmlns:a="http://schemas.openxmlformats.org/drawingml/2006/main">
            <a:off x="2724150" y="30289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Predict this participant's choice on a new trial.</a:t>
            </a:r>
          </a:p>
        </p:txBody>
      </p:sp>
      <p:sp>
        <p:nvSpPr>
          <p:cNvPr id="21" name="">
            <a:extLst xmlns:a="http://schemas.openxmlformats.org/drawingml/2006/main">
              <a:ext uri="{FF2B5EF4-FFF2-40B4-BE49-F238E27FC236}">
                <a16:creationId xmlns:a16="http://schemas.microsoft.com/office/drawing/2014/main" id="{10D76208-C910-451B-BFB5-04647642C1CA}"/>
              </a:ext>
            </a:extLst>
          </p:cNvPr>
          <p:cNvSpPr>
            <a:spLocks xmlns:a="http://schemas.openxmlformats.org/drawingml/2006/main" noGrp="1"/>
          </p:cNvSpPr>
          <p:nvPr/>
        </p:nvSpPr>
        <p:spPr>
          <a:xfrm xmlns:a="http://schemas.openxmlformats.org/drawingml/2006/main">
            <a:off x="1104900" y="36957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315F63"/>
                </a:solidFill>
                <a:latin typeface="Arial"/>
                <a:ea typeface="Arial"/>
                <a:cs typeface="Arial"/>
              </a:defRPr>
            </a:pPr>
            <a:r>
              <a:rPr sz="1350" b="1" i="0">
                <a:solidFill>
                  <a:srgbClr val="315F63"/>
                </a:solidFill>
                <a:latin typeface="Arial"/>
                <a:ea typeface="Arial"/>
                <a:cs typeface="Arial"/>
              </a:rPr>
              <a:t>TRIAL</a:t>
            </a:r>
          </a:p>
        </p:txBody>
      </p:sp>
      <p:sp>
        <p:nvSpPr>
          <p:cNvPr id="22" name="">
            <a:extLst xmlns:a="http://schemas.openxmlformats.org/drawingml/2006/main">
              <a:ext uri="{FF2B5EF4-FFF2-40B4-BE49-F238E27FC236}">
                <a16:creationId xmlns:a16="http://schemas.microsoft.com/office/drawing/2014/main" id="{C7645313-03B3-4DE6-9A07-21496EBB470A}"/>
              </a:ext>
            </a:extLst>
          </p:cNvPr>
          <p:cNvSpPr>
            <a:spLocks xmlns:a="http://schemas.openxmlformats.org/drawingml/2006/main" noGrp="1"/>
          </p:cNvSpPr>
          <p:nvPr/>
        </p:nvSpPr>
        <p:spPr>
          <a:xfrm xmlns:a="http://schemas.openxmlformats.org/drawingml/2006/main">
            <a:off x="2724150" y="36957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 75% of -16; 25% of 40    B: -3 for sure</a:t>
            </a:r>
          </a:p>
        </p:txBody>
      </p:sp>
      <p:sp>
        <p:nvSpPr>
          <p:cNvPr id="23" name="">
            <a:extLst xmlns:a="http://schemas.openxmlformats.org/drawingml/2006/main">
              <a:ext uri="{FF2B5EF4-FFF2-40B4-BE49-F238E27FC236}">
                <a16:creationId xmlns:a16="http://schemas.microsoft.com/office/drawing/2014/main" id="{74D951CD-E3FA-4434-B2A7-8382BE03814E}"/>
              </a:ext>
            </a:extLst>
          </p:cNvPr>
          <p:cNvSpPr>
            <a:spLocks xmlns:a="http://schemas.openxmlformats.org/drawingml/2006/main" noGrp="1"/>
          </p:cNvSpPr>
          <p:nvPr/>
        </p:nvSpPr>
        <p:spPr>
          <a:xfrm xmlns:a="http://schemas.openxmlformats.org/drawingml/2006/main">
            <a:off x="1104900" y="4362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TARGET</a:t>
            </a:r>
          </a:p>
        </p:txBody>
      </p:sp>
      <p:sp>
        <p:nvSpPr>
          <p:cNvPr id="24" name="">
            <a:extLst xmlns:a="http://schemas.openxmlformats.org/drawingml/2006/main">
              <a:ext uri="{FF2B5EF4-FFF2-40B4-BE49-F238E27FC236}">
                <a16:creationId xmlns:a16="http://schemas.microsoft.com/office/drawing/2014/main" id="{FB6F0BFB-9758-46C2-8A01-4FEC49344864}"/>
              </a:ext>
            </a:extLst>
          </p:cNvPr>
          <p:cNvSpPr>
            <a:spLocks xmlns:a="http://schemas.openxmlformats.org/drawingml/2006/main" noGrp="1"/>
          </p:cNvSpPr>
          <p:nvPr/>
        </p:nvSpPr>
        <p:spPr>
          <a:xfrm xmlns:a="http://schemas.openxmlformats.org/drawingml/2006/main">
            <a:off x="2724150" y="43624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667085"/>
                </a:solidFill>
                <a:latin typeface="Consolas"/>
                <a:ea typeface="Consolas"/>
                <a:cs typeface="Consolas"/>
              </a:defRPr>
            </a:pPr>
            <a:r>
              <a:rPr sz="1725" b="0" i="0">
                <a:solidFill>
                  <a:srgbClr val="667085"/>
                </a:solidFill>
                <a:latin typeface="Consolas"/>
                <a:ea typeface="Consolas"/>
                <a:cs typeface="Consolas"/>
              </a:rPr>
              <a:t>Answer: [next token]</a:t>
            </a:r>
          </a:p>
        </p:txBody>
      </p:sp>
      <p:sp>
        <p:nvSpPr>
          <p:cNvPr id="25" name="">
            <a:extLst xmlns:a="http://schemas.openxmlformats.org/drawingml/2006/main">
              <a:ext uri="{FF2B5EF4-FFF2-40B4-BE49-F238E27FC236}">
                <a16:creationId xmlns:a16="http://schemas.microsoft.com/office/drawing/2014/main" id="{B1EC5DCA-685A-4A39-9635-57B344587316}"/>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3C29FD7-9A83-4406-9187-3F2BC455A401}"/>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Zero-shot asks what the base model predicts before seeing P025's history.</a:t>
            </a:r>
          </a:p>
        </p:txBody>
      </p:sp>
    </p:spTree>
    <p:extLst>
      <p:ext uri="{BB962C8B-B14F-4D97-AF65-F5344CB8AC3E}">
        <p14:creationId xmlns:p14="http://schemas.microsoft.com/office/powerpoint/2010/main" val="14889706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0B3C927-30E2-4F66-9778-88C91648CA7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choice-prediction study needs a fixed interface</a:t>
            </a:r>
          </a:p>
        </p:txBody>
      </p:sp>
      <p:sp>
        <p:nvSpPr>
          <p:cNvPr id="2" name="">
            <a:extLst xmlns:a="http://schemas.openxmlformats.org/drawingml/2006/main">
              <a:ext uri="{FF2B5EF4-FFF2-40B4-BE49-F238E27FC236}">
                <a16:creationId xmlns:a16="http://schemas.microsoft.com/office/drawing/2014/main" id="{7056B79B-8E4D-453C-871C-7610E6E8625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step 1/3</a:t>
            </a:r>
          </a:p>
        </p:txBody>
      </p:sp>
      <p:sp>
        <p:nvSpPr>
          <p:cNvPr id="3" name="">
            <a:extLst xmlns:a="http://schemas.openxmlformats.org/drawingml/2006/main">
              <a:ext uri="{FF2B5EF4-FFF2-40B4-BE49-F238E27FC236}">
                <a16:creationId xmlns:a16="http://schemas.microsoft.com/office/drawing/2014/main" id="{502FFD59-B227-49F8-B1D5-5D2E2289DD3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7E4FE6-6B37-4C31-B74A-3F652E1A357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E479173A-A936-4E2D-BCC7-2BB92EC5B99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C4AD76A-B239-4ABD-B2EF-2A3541D3DD1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9D44646-2D07-4DAC-B0B0-D39A3146D97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60020E8-6ED8-44AB-9716-0F86D5A46F4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7E8C75F-0BA5-4CEB-B1C5-1E912B9EE0B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0EBA5C-8341-457D-8578-D56CAD8BC98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253E2B6-EC92-4345-876D-FD906F4805E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6EF4AA0-DFDC-48FC-BBBD-1D65CAA1956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E230D70-725A-4A01-B8AB-1CBB77A0680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122E94C-0B6C-405F-A391-C88A67A9901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70123FE-3C4F-4605-AA43-6DFCC43C8D7F}"/>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Prompt</a:t>
            </a:r>
          </a:p>
        </p:txBody>
      </p:sp>
      <p:sp>
        <p:nvSpPr>
          <p:cNvPr id="16" name="">
            <a:extLst xmlns:a="http://schemas.openxmlformats.org/drawingml/2006/main">
              <a:ext uri="{FF2B5EF4-FFF2-40B4-BE49-F238E27FC236}">
                <a16:creationId xmlns:a16="http://schemas.microsoft.com/office/drawing/2014/main" id="{CA94EA07-202E-47E8-BE3C-9151EBE76D12}"/>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Task wording and current trial are frozen before evaluation</a:t>
            </a:r>
          </a:p>
        </p:txBody>
      </p:sp>
      <p:sp>
        <p:nvSpPr>
          <p:cNvPr id="17" name="">
            <a:extLst xmlns:a="http://schemas.openxmlformats.org/drawingml/2006/main">
              <a:ext uri="{FF2B5EF4-FFF2-40B4-BE49-F238E27FC236}">
                <a16:creationId xmlns:a16="http://schemas.microsoft.com/office/drawing/2014/main" id="{1D8FAEFD-4A92-4F8D-BC6B-498447C9BBAA}"/>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EBDACB8-EF75-4FBA-AA19-BEE23A786705}"/>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Valid labels</a:t>
            </a:r>
          </a:p>
        </p:txBody>
      </p:sp>
      <p:sp>
        <p:nvSpPr>
          <p:cNvPr id="19" name="">
            <a:extLst xmlns:a="http://schemas.openxmlformats.org/drawingml/2006/main">
              <a:ext uri="{FF2B5EF4-FFF2-40B4-BE49-F238E27FC236}">
                <a16:creationId xmlns:a16="http://schemas.microsoft.com/office/drawing/2014/main" id="{EBE2615A-8424-4AEB-8389-14EFDE8E55DF}"/>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The allowed answers are exactly A and B</a:t>
            </a:r>
          </a:p>
        </p:txBody>
      </p:sp>
      <p:sp>
        <p:nvSpPr>
          <p:cNvPr id="20" name="">
            <a:extLst xmlns:a="http://schemas.openxmlformats.org/drawingml/2006/main">
              <a:ext uri="{FF2B5EF4-FFF2-40B4-BE49-F238E27FC236}">
                <a16:creationId xmlns:a16="http://schemas.microsoft.com/office/drawing/2014/main" id="{75E8A541-C68F-44BB-ACF2-52E2E00F04FC}"/>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670AF02-0690-489C-BB7B-12FF600FECD1}"/>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Probability</a:t>
            </a:r>
          </a:p>
        </p:txBody>
      </p:sp>
      <p:sp>
        <p:nvSpPr>
          <p:cNvPr id="22" name="">
            <a:extLst xmlns:a="http://schemas.openxmlformats.org/drawingml/2006/main">
              <a:ext uri="{FF2B5EF4-FFF2-40B4-BE49-F238E27FC236}">
                <a16:creationId xmlns:a16="http://schemas.microsoft.com/office/drawing/2014/main" id="{CE382944-8A8C-4D97-9279-489A467F2CA0}"/>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Use token log probabilities, then normalize over valid labels</a:t>
            </a:r>
          </a:p>
        </p:txBody>
      </p:sp>
      <p:sp>
        <p:nvSpPr>
          <p:cNvPr id="23" name="">
            <a:extLst xmlns:a="http://schemas.openxmlformats.org/drawingml/2006/main">
              <a:ext uri="{FF2B5EF4-FFF2-40B4-BE49-F238E27FC236}">
                <a16:creationId xmlns:a16="http://schemas.microsoft.com/office/drawing/2014/main" id="{EA691E8E-27B5-4A16-80FA-C170071D4F67}"/>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8C52B2B-2D4F-4030-879B-BDAC9DB372F2}"/>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Record</a:t>
            </a:r>
          </a:p>
        </p:txBody>
      </p:sp>
      <p:sp>
        <p:nvSpPr>
          <p:cNvPr id="25" name="">
            <a:extLst xmlns:a="http://schemas.openxmlformats.org/drawingml/2006/main">
              <a:ext uri="{FF2B5EF4-FFF2-40B4-BE49-F238E27FC236}">
                <a16:creationId xmlns:a16="http://schemas.microsoft.com/office/drawing/2014/main" id="{0CD2920E-C6BD-47C3-A275-FE6976607765}"/>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Save model version, prompt, tokenization, and output</a:t>
            </a:r>
          </a:p>
        </p:txBody>
      </p:sp>
      <p:sp>
        <p:nvSpPr>
          <p:cNvPr id="26" name="">
            <a:extLst xmlns:a="http://schemas.openxmlformats.org/drawingml/2006/main">
              <a:ext uri="{FF2B5EF4-FFF2-40B4-BE49-F238E27FC236}">
                <a16:creationId xmlns:a16="http://schemas.microsoft.com/office/drawing/2014/main" id="{B4600D1D-F83C-47DC-9E28-75EA75076ADD}"/>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AB996DD-7782-4503-A53D-D502C1B35439}"/>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4266618-DA0A-4CDE-A99A-7F239DF3E7BB}"/>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prediction is reproducible only when its interface is reproducible.</a:t>
            </a:r>
          </a:p>
        </p:txBody>
      </p:sp>
    </p:spTree>
    <p:extLst>
      <p:ext uri="{BB962C8B-B14F-4D97-AF65-F5344CB8AC3E}">
        <p14:creationId xmlns:p14="http://schemas.microsoft.com/office/powerpoint/2010/main" val="16809581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A9A8CB8-67C3-4DB8-A61A-E7013E528129}"/>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1A</a:t>
            </a:r>
          </a:p>
        </p:txBody>
      </p:sp>
      <p:sp>
        <p:nvSpPr>
          <p:cNvPr id="2" name="">
            <a:extLst xmlns:a="http://schemas.openxmlformats.org/drawingml/2006/main">
              <a:ext uri="{FF2B5EF4-FFF2-40B4-BE49-F238E27FC236}">
                <a16:creationId xmlns:a16="http://schemas.microsoft.com/office/drawing/2014/main" id="{9FABA8BF-C72B-4301-B362-40E3782E8261}"/>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Run one held-out prediction</a:t>
            </a:r>
          </a:p>
        </p:txBody>
      </p:sp>
      <p:sp>
        <p:nvSpPr>
          <p:cNvPr id="3" name="">
            <a:extLst xmlns:a="http://schemas.openxmlformats.org/drawingml/2006/main">
              <a:ext uri="{FF2B5EF4-FFF2-40B4-BE49-F238E27FC236}">
                <a16:creationId xmlns:a16="http://schemas.microsoft.com/office/drawing/2014/main" id="{B0C4C78F-9C84-4C22-A2E3-D548426E0E7E}"/>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3EC8552-493C-4E77-8D10-D1D48E7EEF60}"/>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A54526C8-844E-40A8-9EBD-843296974404}"/>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notebooks/01_prediction_from_zero_shot_to_icl.ipynb</a:t>
            </a:r>
          </a:p>
        </p:txBody>
      </p:sp>
      <p:sp>
        <p:nvSpPr>
          <p:cNvPr id="6" name="">
            <a:extLst xmlns:a="http://schemas.openxmlformats.org/drawingml/2006/main">
              <a:ext uri="{FF2B5EF4-FFF2-40B4-BE49-F238E27FC236}">
                <a16:creationId xmlns:a16="http://schemas.microsoft.com/office/drawing/2014/main" id="{1C0AA17E-1D92-404D-8ED2-2662C5FF1172}"/>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C6F0B2F0-14AD-467D-9EC3-260FFF6126AF}"/>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Section 1: Begin with one real held-out choice</a:t>
            </a:r>
          </a:p>
        </p:txBody>
      </p:sp>
      <p:sp>
        <p:nvSpPr>
          <p:cNvPr id="8" name="">
            <a:extLst xmlns:a="http://schemas.openxmlformats.org/drawingml/2006/main">
              <a:ext uri="{FF2B5EF4-FFF2-40B4-BE49-F238E27FC236}">
                <a16:creationId xmlns:a16="http://schemas.microsoft.com/office/drawing/2014/main" id="{B86A06AF-3D2D-4712-A205-9A923F031DC2}"/>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9FC8DBA-10B2-4E07-BB98-FC921322E45D}"/>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24F5C491-CDB8-4141-9011-85661B49C84C}"/>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A144A300-F8F1-4331-9D71-ED4E66EAA36C}"/>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Call the DeepSeek API</a:t>
            </a:r>
          </a:p>
        </p:txBody>
      </p:sp>
      <p:sp>
        <p:nvSpPr>
          <p:cNvPr id="12" name="">
            <a:extLst xmlns:a="http://schemas.openxmlformats.org/drawingml/2006/main">
              <a:ext uri="{FF2B5EF4-FFF2-40B4-BE49-F238E27FC236}">
                <a16:creationId xmlns:a16="http://schemas.microsoft.com/office/drawing/2014/main" id="{CA02D608-58FC-44D5-A6ED-F3602044A377}"/>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73317077-0B61-4E2D-A446-D3D70020F2A1}"/>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69"/>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Inspect completion and token log probabilities</a:t>
            </a:r>
          </a:p>
        </p:txBody>
      </p:sp>
      <p:sp>
        <p:nvSpPr>
          <p:cNvPr id="14" name="">
            <a:extLst xmlns:a="http://schemas.openxmlformats.org/drawingml/2006/main">
              <a:ext uri="{FF2B5EF4-FFF2-40B4-BE49-F238E27FC236}">
                <a16:creationId xmlns:a16="http://schemas.microsoft.com/office/drawing/2014/main" id="{2BB8019D-FE5B-4EBE-89CE-D0719AC99DB6}"/>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CB910F79-E8C0-4C84-B2B4-F86FE75E13FF}"/>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Re-normalize probability over A and B</a:t>
            </a:r>
          </a:p>
        </p:txBody>
      </p:sp>
      <p:sp>
        <p:nvSpPr>
          <p:cNvPr id="16" name="">
            <a:extLst xmlns:a="http://schemas.openxmlformats.org/drawingml/2006/main">
              <a:ext uri="{FF2B5EF4-FFF2-40B4-BE49-F238E27FC236}">
                <a16:creationId xmlns:a16="http://schemas.microsoft.com/office/drawing/2014/main" id="{08619438-F393-407A-A54C-D01624AFFB68}"/>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AA04F1D3-50A1-4BD5-B38D-7EE7D1294C9E}"/>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Reveal the choice and compute log loss</a:t>
            </a:r>
          </a:p>
        </p:txBody>
      </p:sp>
      <p:sp>
        <p:nvSpPr>
          <p:cNvPr id="18" name="">
            <a:extLst xmlns:a="http://schemas.openxmlformats.org/drawingml/2006/main">
              <a:ext uri="{FF2B5EF4-FFF2-40B4-BE49-F238E27FC236}">
                <a16:creationId xmlns:a16="http://schemas.microsoft.com/office/drawing/2014/main" id="{2D4CCC36-BA22-4EDC-9A40-B12917F346B7}"/>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80C5F498-6047-4B42-A335-C549F712294E}"/>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After Section 4: optional reasoning trace</a:t>
            </a:r>
          </a:p>
        </p:txBody>
      </p:sp>
      <p:sp>
        <p:nvSpPr>
          <p:cNvPr id="20" name="">
            <a:extLst xmlns:a="http://schemas.openxmlformats.org/drawingml/2006/main">
              <a:ext uri="{FF2B5EF4-FFF2-40B4-BE49-F238E27FC236}">
                <a16:creationId xmlns:a16="http://schemas.microsoft.com/office/drawing/2014/main" id="{D738583E-C86C-4B05-BECE-8979D4315480}"/>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9960604-2530-40F1-A13E-F7731B04FEE1}"/>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Map token surface forms to labels, then normalize</a:t>
            </a:r>
          </a:p>
        </p:txBody>
      </p:sp>
      <p:sp>
        <p:nvSpPr>
          <p:cNvPr id="22" name="">
            <a:extLst xmlns:a="http://schemas.openxmlformats.org/drawingml/2006/main">
              <a:ext uri="{FF2B5EF4-FFF2-40B4-BE49-F238E27FC236}">
                <a16:creationId xmlns:a16="http://schemas.microsoft.com/office/drawing/2014/main" id="{8F43BB73-FA0F-43E6-B654-56C2F1FEFDA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0E4E410-378F-4375-9407-3C784A1CA81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4DE0B253-4896-44A1-B697-CD261530164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EF4C97E-7ED3-41F2-86CC-7D4266BDB6E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9764B3BE-FE09-4C3A-8F6E-EEE407C6E6B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3A6AC00-7A70-4B82-9454-4867F6D7A08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740FC799-BF3F-4A00-A72F-C0DF6E454C3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145E3EB-6E65-411D-8C02-1B4FAA60E2F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FE384469-CDEC-474D-BD0C-9644D435B16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FAE22FB-CA06-4D7A-8AD2-C2AFF06B0EA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61359518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08C14C1-8333-4CD2-B610-DE8BAA87434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Map token surface forms to labels, then normalize</a:t>
            </a:r>
          </a:p>
        </p:txBody>
      </p:sp>
      <p:sp>
        <p:nvSpPr>
          <p:cNvPr id="2" name="">
            <a:extLst xmlns:a="http://schemas.openxmlformats.org/drawingml/2006/main">
              <a:ext uri="{FF2B5EF4-FFF2-40B4-BE49-F238E27FC236}">
                <a16:creationId xmlns:a16="http://schemas.microsoft.com/office/drawing/2014/main" id="{6796D499-8E21-43BA-BA86-59E848E0A82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probability</a:t>
            </a:r>
          </a:p>
        </p:txBody>
      </p:sp>
      <p:sp>
        <p:nvSpPr>
          <p:cNvPr id="3" name="">
            <a:extLst xmlns:a="http://schemas.openxmlformats.org/drawingml/2006/main">
              <a:ext uri="{FF2B5EF4-FFF2-40B4-BE49-F238E27FC236}">
                <a16:creationId xmlns:a16="http://schemas.microsoft.com/office/drawing/2014/main" id="{7ACDA3E4-5503-4EB2-BA35-77B9FDF2709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C367BA9-1CEA-43B4-B91A-5CFB13A99DB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F709327D-30ED-4E38-89FC-3740A4C0A37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E63D286-FA5B-4A22-B8B8-B69AC8C4E70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7A10A9D-87F5-46A1-9368-1C075951EE2F}"/>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6308F98-7343-4E88-92E8-7477D4DA33A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21A3B5C-D50D-4539-86DF-D9BC6AB367A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CBBB9A9-42BF-4789-98DB-9645504B92A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E1E0F7E-8AB3-40F8-A298-2BBF044D7A6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7EF137-4A00-490C-9B86-56421B3D1DE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3B014A1-FE70-47ED-B0BF-040A8161638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8CC1643-8B7F-4A5A-85D2-2D4500D92AC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60D8AE8-E4C2-42B3-9080-FE3784393D2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P025 trial 21</a:t>
            </a:r>
          </a:p>
        </p:txBody>
      </p:sp>
      <p:sp>
        <p:nvSpPr>
          <p:cNvPr id="16" name="">
            <a:extLst xmlns:a="http://schemas.openxmlformats.org/drawingml/2006/main">
              <a:ext uri="{FF2B5EF4-FFF2-40B4-BE49-F238E27FC236}">
                <a16:creationId xmlns:a16="http://schemas.microsoft.com/office/drawing/2014/main" id="{CE172ED1-1CB1-41F4-9E90-B5372D126742}"/>
              </a:ext>
            </a:extLst>
          </p:cNvPr>
          <p:cNvSpPr>
            <a:spLocks xmlns:a="http://schemas.openxmlformats.org/drawingml/2006/main" noGrp="1"/>
          </p:cNvSpPr>
          <p:nvPr/>
        </p:nvSpPr>
        <p:spPr>
          <a:xfrm xmlns:a="http://schemas.openxmlformats.org/drawingml/2006/main">
            <a:off x="800100" y="20764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Top-token logprobs</a:t>
            </a:r>
          </a:p>
        </p:txBody>
      </p:sp>
      <p:sp>
        <p:nvSpPr>
          <p:cNvPr id="17" name="">
            <a:extLst xmlns:a="http://schemas.openxmlformats.org/drawingml/2006/main">
              <a:ext uri="{FF2B5EF4-FFF2-40B4-BE49-F238E27FC236}">
                <a16:creationId xmlns:a16="http://schemas.microsoft.com/office/drawing/2014/main" id="{FEA1B755-0B35-479A-BAEF-85D057202052}"/>
              </a:ext>
            </a:extLst>
          </p:cNvPr>
          <p:cNvSpPr>
            <a:spLocks xmlns:a="http://schemas.openxmlformats.org/drawingml/2006/main" noGrp="1"/>
          </p:cNvSpPr>
          <p:nvPr/>
        </p:nvSpPr>
        <p:spPr>
          <a:xfrm xmlns:a="http://schemas.openxmlformats.org/drawingml/2006/main">
            <a:off x="933450" y="2647950"/>
            <a:ext cx="2762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"B"   -0.289</a:t>
            </a:r>
          </a:p>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   -1.383</a:t>
            </a:r>
          </a:p>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"Based"  -14.395</a:t>
            </a:r>
          </a:p>
        </p:txBody>
      </p:sp>
      <p:sp>
        <p:nvSpPr>
          <p:cNvPr id="18" name="">
            <a:extLst xmlns:a="http://schemas.openxmlformats.org/drawingml/2006/main">
              <a:ext uri="{FF2B5EF4-FFF2-40B4-BE49-F238E27FC236}">
                <a16:creationId xmlns:a16="http://schemas.microsoft.com/office/drawing/2014/main" id="{E6F171A9-7714-4B5A-8E6D-F3D6F0535CAE}"/>
              </a:ext>
            </a:extLst>
          </p:cNvPr>
          <p:cNvSpPr>
            <a:spLocks xmlns:a="http://schemas.openxmlformats.org/drawingml/2006/main" noGrp="1"/>
          </p:cNvSpPr>
          <p:nvPr/>
        </p:nvSpPr>
        <p:spPr>
          <a:xfrm xmlns:a="http://schemas.openxmlformats.org/drawingml/2006/main">
            <a:off x="933450" y="40005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42"/>
          </a:bodyPr>
          <a:lstStyle xmlns:a="http://schemas.openxmlformats.org/drawingml/2006/main"/>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also among lower-ranked tokens:</a:t>
            </a:r>
          </a:p>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 B"  -15.284</a:t>
            </a:r>
          </a:p>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 A"  -16.229</a:t>
            </a:r>
          </a:p>
        </p:txBody>
      </p:sp>
      <p:sp>
        <p:nvSpPr>
          <p:cNvPr id="19" name="">
            <a:extLst xmlns:a="http://schemas.openxmlformats.org/drawingml/2006/main">
              <a:ext uri="{FF2B5EF4-FFF2-40B4-BE49-F238E27FC236}">
                <a16:creationId xmlns:a16="http://schemas.microsoft.com/office/drawing/2014/main" id="{D34AC0BC-0DB9-45D0-A21E-E5680C0C27A4}"/>
              </a:ext>
            </a:extLst>
          </p:cNvPr>
          <p:cNvSpPr>
            <a:spLocks xmlns:a="http://schemas.openxmlformats.org/drawingml/2006/main" noGrp="1"/>
          </p:cNvSpPr>
          <p:nvPr/>
        </p:nvSpPr>
        <p:spPr>
          <a:xfrm xmlns:a="http://schemas.openxmlformats.org/drawingml/2006/main">
            <a:off x="4038600" y="3505200"/>
            <a:ext cx="4953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DA6772F-5C31-4BBA-BE64-ED653C17A731}"/>
              </a:ext>
            </a:extLst>
          </p:cNvPr>
          <p:cNvSpPr>
            <a:spLocks xmlns:a="http://schemas.openxmlformats.org/drawingml/2006/main" noGrp="1"/>
          </p:cNvSpPr>
          <p:nvPr/>
        </p:nvSpPr>
        <p:spPr>
          <a:xfrm xmlns:a="http://schemas.openxmlformats.org/drawingml/2006/main">
            <a:off x="4705350" y="20764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Aggregate valid forms</a:t>
            </a:r>
          </a:p>
        </p:txBody>
      </p:sp>
      <p:sp>
        <p:nvSpPr>
          <p:cNvPr id="21" name="">
            <a:extLst xmlns:a="http://schemas.openxmlformats.org/drawingml/2006/main">
              <a:ext uri="{FF2B5EF4-FFF2-40B4-BE49-F238E27FC236}">
                <a16:creationId xmlns:a16="http://schemas.microsoft.com/office/drawing/2014/main" id="{44A320DD-B15D-4F2D-99FA-EE4B9870569C}"/>
              </a:ext>
            </a:extLst>
          </p:cNvPr>
          <p:cNvSpPr>
            <a:spLocks xmlns:a="http://schemas.openxmlformats.org/drawingml/2006/main" noGrp="1"/>
          </p:cNvSpPr>
          <p:nvPr/>
        </p:nvSpPr>
        <p:spPr>
          <a:xfrm xmlns:a="http://schemas.openxmlformats.org/drawingml/2006/main">
            <a:off x="4800600" y="2724150"/>
            <a:ext cx="27051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37"/>
          </a:bodyPr>
          <a:lstStyle xmlns:a="http://schemas.openxmlformats.org/drawingml/2006/main"/>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 P(label B)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logsumexp(-0.289, -15.284)</a:t>
            </a:r>
          </a:p>
          <a:p xmlns:a="http://schemas.openxmlformats.org/drawingml/2006/main">
            <a:r>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 P(label A)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logsumexp(-1.383, -16.229)</a:t>
            </a:r>
          </a:p>
        </p:txBody>
      </p:sp>
      <p:sp>
        <p:nvSpPr>
          <p:cNvPr id="22" name="">
            <a:extLst xmlns:a="http://schemas.openxmlformats.org/drawingml/2006/main">
              <a:ext uri="{FF2B5EF4-FFF2-40B4-BE49-F238E27FC236}">
                <a16:creationId xmlns:a16="http://schemas.microsoft.com/office/drawing/2014/main" id="{6B342695-20E3-4B23-8CB3-ECC55502A2D2}"/>
              </a:ext>
            </a:extLst>
          </p:cNvPr>
          <p:cNvSpPr>
            <a:spLocks xmlns:a="http://schemas.openxmlformats.org/drawingml/2006/main" noGrp="1"/>
          </p:cNvSpPr>
          <p:nvPr/>
        </p:nvSpPr>
        <p:spPr>
          <a:xfrm xmlns:a="http://schemas.openxmlformats.org/drawingml/2006/main">
            <a:off x="7753350" y="3505200"/>
            <a:ext cx="4953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74D3344-B08A-4957-ADB5-AB54010FE3D2}"/>
              </a:ext>
            </a:extLst>
          </p:cNvPr>
          <p:cNvSpPr>
            <a:spLocks xmlns:a="http://schemas.openxmlformats.org/drawingml/2006/main" noGrp="1"/>
          </p:cNvSpPr>
          <p:nvPr/>
        </p:nvSpPr>
        <p:spPr>
          <a:xfrm xmlns:a="http://schemas.openxmlformats.org/drawingml/2006/main">
            <a:off x="842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Normalize over {A, B}</a:t>
            </a:r>
          </a:p>
        </p:txBody>
      </p:sp>
      <p:sp>
        <p:nvSpPr>
          <p:cNvPr id="24" name="">
            <a:extLst xmlns:a="http://schemas.openxmlformats.org/drawingml/2006/main">
              <a:ext uri="{FF2B5EF4-FFF2-40B4-BE49-F238E27FC236}">
                <a16:creationId xmlns:a16="http://schemas.microsoft.com/office/drawing/2014/main" id="{D0AA76E0-2A3D-4532-92B7-D02C890B2C6D}"/>
              </a:ext>
            </a:extLst>
          </p:cNvPr>
          <p:cNvSpPr>
            <a:spLocks xmlns:a="http://schemas.openxmlformats.org/drawingml/2006/main" noGrp="1"/>
          </p:cNvSpPr>
          <p:nvPr/>
        </p:nvSpPr>
        <p:spPr>
          <a:xfrm xmlns:a="http://schemas.openxmlformats.org/drawingml/2006/main">
            <a:off x="8572500" y="2952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P(A) = 0.251</a:t>
            </a:r>
          </a:p>
        </p:txBody>
      </p:sp>
      <p:sp>
        <p:nvSpPr>
          <p:cNvPr id="25" name="">
            <a:extLst xmlns:a="http://schemas.openxmlformats.org/drawingml/2006/main">
              <a:ext uri="{FF2B5EF4-FFF2-40B4-BE49-F238E27FC236}">
                <a16:creationId xmlns:a16="http://schemas.microsoft.com/office/drawing/2014/main" id="{1B58C32A-5108-4BBF-B4F7-D561960C86A6}"/>
              </a:ext>
            </a:extLst>
          </p:cNvPr>
          <p:cNvSpPr>
            <a:spLocks xmlns:a="http://schemas.openxmlformats.org/drawingml/2006/main" noGrp="1"/>
          </p:cNvSpPr>
          <p:nvPr/>
        </p:nvSpPr>
        <p:spPr>
          <a:xfrm xmlns:a="http://schemas.openxmlformats.org/drawingml/2006/main">
            <a:off x="8572500" y="3371850"/>
            <a:ext cx="876300" cy="1524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E8BDA45B-7F8F-45CB-87AF-4CFEB2530CAC}"/>
              </a:ext>
            </a:extLst>
          </p:cNvPr>
          <p:cNvSpPr>
            <a:spLocks xmlns:a="http://schemas.openxmlformats.org/drawingml/2006/main" noGrp="1"/>
          </p:cNvSpPr>
          <p:nvPr/>
        </p:nvSpPr>
        <p:spPr>
          <a:xfrm xmlns:a="http://schemas.openxmlformats.org/drawingml/2006/main">
            <a:off x="8572500" y="3924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P(B) = 0.749</a:t>
            </a:r>
          </a:p>
        </p:txBody>
      </p:sp>
      <p:sp>
        <p:nvSpPr>
          <p:cNvPr id="27" name="">
            <a:extLst xmlns:a="http://schemas.openxmlformats.org/drawingml/2006/main">
              <a:ext uri="{FF2B5EF4-FFF2-40B4-BE49-F238E27FC236}">
                <a16:creationId xmlns:a16="http://schemas.microsoft.com/office/drawing/2014/main" id="{BD5C3BB8-104C-4808-B3A2-AAC7B3A3E26B}"/>
              </a:ext>
            </a:extLst>
          </p:cNvPr>
          <p:cNvSpPr>
            <a:spLocks xmlns:a="http://schemas.openxmlformats.org/drawingml/2006/main" noGrp="1"/>
          </p:cNvSpPr>
          <p:nvPr/>
        </p:nvSpPr>
        <p:spPr>
          <a:xfrm xmlns:a="http://schemas.openxmlformats.org/drawingml/2006/main">
            <a:off x="8572500" y="4343400"/>
            <a:ext cx="2628900" cy="1524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50D5EF1-21D8-4A55-AD84-F4919A49527A}"/>
              </a:ext>
            </a:extLst>
          </p:cNvPr>
          <p:cNvSpPr>
            <a:spLocks xmlns:a="http://schemas.openxmlformats.org/drawingml/2006/main" noGrp="1"/>
          </p:cNvSpPr>
          <p:nvPr/>
        </p:nvSpPr>
        <p:spPr>
          <a:xfrm xmlns:a="http://schemas.openxmlformats.org/drawingml/2006/main">
            <a:off x="800100" y="52768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1F4376A-EEA7-477D-87B6-2192A52C5E57}"/>
              </a:ext>
            </a:extLst>
          </p:cNvPr>
          <p:cNvSpPr>
            <a:spLocks xmlns:a="http://schemas.openxmlformats.org/drawingml/2006/main" noGrp="1"/>
          </p:cNvSpPr>
          <p:nvPr/>
        </p:nvSpPr>
        <p:spPr>
          <a:xfrm xmlns:a="http://schemas.openxmlformats.org/drawingml/2006/main">
            <a:off x="1028700" y="52578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Do not let token stripping overwrite probability mass; aggregate with log-sum-exp.</a:t>
            </a:r>
          </a:p>
        </p:txBody>
      </p:sp>
    </p:spTree>
    <p:extLst>
      <p:ext uri="{BB962C8B-B14F-4D97-AF65-F5344CB8AC3E}">
        <p14:creationId xmlns:p14="http://schemas.microsoft.com/office/powerpoint/2010/main" val="189690454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1350261-7702-46DE-9213-26AAAD42447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Reveal the human choice and compute one loss</a:t>
            </a:r>
          </a:p>
        </p:txBody>
      </p:sp>
      <p:sp>
        <p:nvSpPr>
          <p:cNvPr id="2" name="">
            <a:extLst xmlns:a="http://schemas.openxmlformats.org/drawingml/2006/main">
              <a:ext uri="{FF2B5EF4-FFF2-40B4-BE49-F238E27FC236}">
                <a16:creationId xmlns:a16="http://schemas.microsoft.com/office/drawing/2014/main" id="{F7B94CB1-D011-494A-A0D1-F602C717DDD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F0455665-38CA-4674-A024-32921B18A09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E58D857-1F37-4041-8688-A59CD9E1390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22</a:t>
            </a:r>
          </a:p>
        </p:txBody>
      </p:sp>
      <p:sp>
        <p:nvSpPr>
          <p:cNvPr id="5" name="">
            <a:extLst xmlns:a="http://schemas.openxmlformats.org/drawingml/2006/main">
              <a:ext uri="{FF2B5EF4-FFF2-40B4-BE49-F238E27FC236}">
                <a16:creationId xmlns:a16="http://schemas.microsoft.com/office/drawing/2014/main" id="{3883AA44-CE14-4235-8C4E-8F7D221E2A2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F083192-D431-485C-A2D4-1BD62ADE19C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8B3117F-C95A-4440-81BF-ADC936B0652C}"/>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D865A23-9428-4335-AF24-A946A82EDD5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A55EA33-B0A1-47AD-A588-06E10DE05D4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DBC85EC-9099-468A-AF87-1DD072C131F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0749578-A0C6-4907-BB7D-53377B97FD7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5F8D388-06A9-47F5-B58A-8FE1BACE95F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38EE178-BF9E-409A-B0FB-186541C9326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A9C3F97-50A7-478C-89AF-614D9796563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CF21F22-8EC2-412C-A655-97585C6DCCE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human choice from public slice</a:t>
            </a:r>
          </a:p>
        </p:txBody>
      </p:sp>
      <p:sp>
        <p:nvSpPr>
          <p:cNvPr id="16" name="">
            <a:extLst xmlns:a="http://schemas.openxmlformats.org/drawingml/2006/main">
              <a:ext uri="{FF2B5EF4-FFF2-40B4-BE49-F238E27FC236}">
                <a16:creationId xmlns:a16="http://schemas.microsoft.com/office/drawing/2014/main" id="{44C51D5C-45D5-405D-AF95-7BADFFB815B9}"/>
              </a:ext>
            </a:extLst>
          </p:cNvPr>
          <p:cNvSpPr>
            <a:spLocks xmlns:a="http://schemas.openxmlformats.org/drawingml/2006/main" noGrp="1"/>
          </p:cNvSpPr>
          <p:nvPr/>
        </p:nvSpPr>
        <p:spPr>
          <a:xfrm xmlns:a="http://schemas.openxmlformats.org/drawingml/2006/main">
            <a:off x="800100" y="20764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Model distribution</a:t>
            </a:r>
          </a:p>
        </p:txBody>
      </p:sp>
      <p:sp>
        <p:nvSpPr>
          <p:cNvPr id="17" name="">
            <a:extLst xmlns:a="http://schemas.openxmlformats.org/drawingml/2006/main">
              <a:ext uri="{FF2B5EF4-FFF2-40B4-BE49-F238E27FC236}">
                <a16:creationId xmlns:a16="http://schemas.microsoft.com/office/drawing/2014/main" id="{4580E237-FA39-428D-820E-88E938D3733B}"/>
              </a:ext>
            </a:extLst>
          </p:cNvPr>
          <p:cNvSpPr>
            <a:spLocks xmlns:a="http://schemas.openxmlformats.org/drawingml/2006/main" noGrp="1"/>
          </p:cNvSpPr>
          <p:nvPr/>
        </p:nvSpPr>
        <p:spPr>
          <a:xfrm xmlns:a="http://schemas.openxmlformats.org/drawingml/2006/main">
            <a:off x="1028700" y="2781300"/>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4000"/>
              </a:lnSpc>
              <a:buNone/>
              <a:defRPr sz="2175" b="1" i="0">
                <a:solidFill>
                  <a:srgbClr val="111827"/>
                </a:solidFill>
                <a:latin typeface="Consolas"/>
                <a:ea typeface="Consolas"/>
                <a:cs typeface="Consolas"/>
              </a:defRPr>
            </a:pPr>
            <a:r>
              <a:rPr sz="2175" b="1" i="0">
                <a:solidFill>
                  <a:srgbClr val="111827"/>
                </a:solidFill>
                <a:latin typeface="Consolas"/>
                <a:ea typeface="Consolas"/>
                <a:cs typeface="Consolas"/>
              </a:rPr>
              <a:t>P(A) = 0.251</a:t>
            </a:r>
          </a:p>
          <a:p xmlns:a="http://schemas.openxmlformats.org/drawingml/2006/main">
            <a:pPr algn="l">
              <a:lnSpc>
                <a:spcPct val="124000"/>
              </a:lnSpc>
              <a:buNone/>
              <a:defRPr sz="2175" b="1" i="0">
                <a:solidFill>
                  <a:srgbClr val="111827"/>
                </a:solidFill>
                <a:latin typeface="Consolas"/>
                <a:ea typeface="Consolas"/>
                <a:cs typeface="Consolas"/>
              </a:defRPr>
            </a:pPr>
            <a:r>
              <a:rPr sz="2175" b="1" i="0">
                <a:solidFill>
                  <a:srgbClr val="111827"/>
                </a:solidFill>
                <a:latin typeface="Consolas"/>
                <a:ea typeface="Consolas"/>
                <a:cs typeface="Consolas"/>
              </a:rPr>
              <a:t>P(B) = 0.749</a:t>
            </a:r>
          </a:p>
        </p:txBody>
      </p:sp>
      <p:sp>
        <p:nvSpPr>
          <p:cNvPr id="18" name="">
            <a:extLst xmlns:a="http://schemas.openxmlformats.org/drawingml/2006/main">
              <a:ext uri="{FF2B5EF4-FFF2-40B4-BE49-F238E27FC236}">
                <a16:creationId xmlns:a16="http://schemas.microsoft.com/office/drawing/2014/main" id="{0AE33018-C8D5-496F-88F4-2484E7458689}"/>
              </a:ext>
            </a:extLst>
          </p:cNvPr>
          <p:cNvSpPr>
            <a:spLocks xmlns:a="http://schemas.openxmlformats.org/drawingml/2006/main" noGrp="1"/>
          </p:cNvSpPr>
          <p:nvPr/>
        </p:nvSpPr>
        <p:spPr>
          <a:xfrm xmlns:a="http://schemas.openxmlformats.org/drawingml/2006/main">
            <a:off x="4572000" y="2076450"/>
            <a:ext cx="14288" cy="2857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0BA42CE-1BAD-4C93-8937-B35B141A1154}"/>
              </a:ext>
            </a:extLst>
          </p:cNvPr>
          <p:cNvSpPr>
            <a:spLocks xmlns:a="http://schemas.openxmlformats.org/drawingml/2006/main" noGrp="1"/>
          </p:cNvSpPr>
          <p:nvPr/>
        </p:nvSpPr>
        <p:spPr>
          <a:xfrm xmlns:a="http://schemas.openxmlformats.org/drawingml/2006/main">
            <a:off x="5105400" y="2076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Reveal</a:t>
            </a:r>
          </a:p>
        </p:txBody>
      </p:sp>
      <p:sp>
        <p:nvSpPr>
          <p:cNvPr id="20" name="">
            <a:extLst xmlns:a="http://schemas.openxmlformats.org/drawingml/2006/main">
              <a:ext uri="{FF2B5EF4-FFF2-40B4-BE49-F238E27FC236}">
                <a16:creationId xmlns:a16="http://schemas.microsoft.com/office/drawing/2014/main" id="{286D98B2-E490-4ACC-91CA-D76672EF72E5}"/>
              </a:ext>
            </a:extLst>
          </p:cNvPr>
          <p:cNvSpPr>
            <a:spLocks xmlns:a="http://schemas.openxmlformats.org/drawingml/2006/main" noGrp="1"/>
          </p:cNvSpPr>
          <p:nvPr/>
        </p:nvSpPr>
        <p:spPr>
          <a:xfrm xmlns:a="http://schemas.openxmlformats.org/drawingml/2006/main">
            <a:off x="5105400" y="28575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00" b="1" i="0">
                <a:solidFill>
                  <a:srgbClr val="87591F"/>
                </a:solidFill>
                <a:latin typeface="Arial"/>
                <a:ea typeface="Arial"/>
                <a:cs typeface="Arial"/>
              </a:defRPr>
            </a:pPr>
            <a:r>
              <a:rPr sz="2400" b="1" i="0">
                <a:solidFill>
                  <a:srgbClr val="87591F"/>
                </a:solidFill>
                <a:latin typeface="Arial"/>
                <a:ea typeface="Arial"/>
                <a:cs typeface="Arial"/>
              </a:rPr>
              <a:t>P025 chose B</a:t>
            </a:r>
          </a:p>
        </p:txBody>
      </p:sp>
      <p:sp>
        <p:nvSpPr>
          <p:cNvPr id="21" name="">
            <a:extLst xmlns:a="http://schemas.openxmlformats.org/drawingml/2006/main">
              <a:ext uri="{FF2B5EF4-FFF2-40B4-BE49-F238E27FC236}">
                <a16:creationId xmlns:a16="http://schemas.microsoft.com/office/drawing/2014/main" id="{9FE1E181-7B49-4CC5-B326-5EE2F3E5DC6E}"/>
              </a:ext>
            </a:extLst>
          </p:cNvPr>
          <p:cNvSpPr>
            <a:spLocks xmlns:a="http://schemas.openxmlformats.org/drawingml/2006/main" noGrp="1"/>
          </p:cNvSpPr>
          <p:nvPr/>
        </p:nvSpPr>
        <p:spPr>
          <a:xfrm xmlns:a="http://schemas.openxmlformats.org/drawingml/2006/main">
            <a:off x="7981950" y="2076450"/>
            <a:ext cx="14288" cy="2857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F6C2CBA-4A4A-40F8-9850-4F04E25D049F}"/>
              </a:ext>
            </a:extLst>
          </p:cNvPr>
          <p:cNvSpPr>
            <a:spLocks xmlns:a="http://schemas.openxmlformats.org/drawingml/2006/main" noGrp="1"/>
          </p:cNvSpPr>
          <p:nvPr/>
        </p:nvSpPr>
        <p:spPr>
          <a:xfrm xmlns:a="http://schemas.openxmlformats.org/drawingml/2006/main">
            <a:off x="8572500" y="2076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Score</a:t>
            </a:r>
          </a:p>
        </p:txBody>
      </p:sp>
      <p:sp>
        <p:nvSpPr>
          <p:cNvPr id="23" name="">
            <a:extLst xmlns:a="http://schemas.openxmlformats.org/drawingml/2006/main">
              <a:ext uri="{FF2B5EF4-FFF2-40B4-BE49-F238E27FC236}">
                <a16:creationId xmlns:a16="http://schemas.microsoft.com/office/drawing/2014/main" id="{00F7B7D7-A047-49A5-8893-0ABA46AFF640}"/>
              </a:ext>
            </a:extLst>
          </p:cNvPr>
          <p:cNvSpPr>
            <a:spLocks xmlns:a="http://schemas.openxmlformats.org/drawingml/2006/main" noGrp="1"/>
          </p:cNvSpPr>
          <p:nvPr/>
        </p:nvSpPr>
        <p:spPr>
          <a:xfrm xmlns:a="http://schemas.openxmlformats.org/drawingml/2006/main">
            <a:off x="8572500" y="2781300"/>
            <a:ext cx="2571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loss = -log P(B)</a:t>
            </a:r>
          </a:p>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     = -log 0.749</a:t>
            </a:r>
          </a:p>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     = 0.289</a:t>
            </a:r>
          </a:p>
        </p:txBody>
      </p:sp>
      <p:sp>
        <p:nvSpPr>
          <p:cNvPr id="24" name="">
            <a:extLst xmlns:a="http://schemas.openxmlformats.org/drawingml/2006/main">
              <a:ext uri="{FF2B5EF4-FFF2-40B4-BE49-F238E27FC236}">
                <a16:creationId xmlns:a16="http://schemas.microsoft.com/office/drawing/2014/main" id="{F5119832-3EE3-4CF3-BF82-B9E6AD759C4F}"/>
              </a:ext>
            </a:extLst>
          </p:cNvPr>
          <p:cNvSpPr>
            <a:spLocks xmlns:a="http://schemas.openxmlformats.org/drawingml/2006/main" noGrp="1"/>
          </p:cNvSpPr>
          <p:nvPr/>
        </p:nvSpPr>
        <p:spPr>
          <a:xfrm xmlns:a="http://schemas.openxmlformats.org/drawingml/2006/main">
            <a:off x="800100" y="53721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DFA4819-1A67-4912-95BD-9782EA683A7E}"/>
              </a:ext>
            </a:extLst>
          </p:cNvPr>
          <p:cNvSpPr>
            <a:spLocks xmlns:a="http://schemas.openxmlformats.org/drawingml/2006/main" noGrp="1"/>
          </p:cNvSpPr>
          <p:nvPr/>
        </p:nvSpPr>
        <p:spPr>
          <a:xfrm xmlns:a="http://schemas.openxmlformats.org/drawingml/2006/main">
            <a:off x="1028700" y="53530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Accuracy says correct; log loss also records how much probability supported the observation.</a:t>
            </a:r>
          </a:p>
        </p:txBody>
      </p:sp>
    </p:spTree>
    <p:extLst>
      <p:ext uri="{BB962C8B-B14F-4D97-AF65-F5344CB8AC3E}">
        <p14:creationId xmlns:p14="http://schemas.microsoft.com/office/powerpoint/2010/main" val="77062219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D95EAF4-4385-4449-B756-D941B6F2C8A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reasoning trace is inspectable, but it is another output</a:t>
            </a:r>
          </a:p>
        </p:txBody>
      </p:sp>
      <p:sp>
        <p:nvSpPr>
          <p:cNvPr id="2" name="">
            <a:extLst xmlns:a="http://schemas.openxmlformats.org/drawingml/2006/main">
              <a:ext uri="{FF2B5EF4-FFF2-40B4-BE49-F238E27FC236}">
                <a16:creationId xmlns:a16="http://schemas.microsoft.com/office/drawing/2014/main" id="{D3B91F5B-3E17-491F-B46E-9BFD5C46B59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optional audit</a:t>
            </a:r>
          </a:p>
        </p:txBody>
      </p:sp>
      <p:sp>
        <p:nvSpPr>
          <p:cNvPr id="3" name="">
            <a:extLst xmlns:a="http://schemas.openxmlformats.org/drawingml/2006/main">
              <a:ext uri="{FF2B5EF4-FFF2-40B4-BE49-F238E27FC236}">
                <a16:creationId xmlns:a16="http://schemas.microsoft.com/office/drawing/2014/main" id="{AAB7654A-1135-45B8-85B7-CCF9C31602D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372CE6-3B4D-485D-98B6-D02B57CA2C8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4D6520C0-1490-4D01-A317-9AF9B971BB1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D3B1A65-6F42-4157-AA0C-C89E8F30358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5CE4F5D-685E-4378-BF9E-0D3B37CBE2C6}"/>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B87840-C406-4409-A0FF-7D5F92610AA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1F1B8AA-EC56-4D9D-B04E-A7DAB8EAFDC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C54BEDF-6175-46AA-9054-425630B0899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73B046F-B01B-49CF-8C5E-16B4441BDA6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7058B8F-7F98-4AE8-89E2-91BF1EBF7C3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5C49B44-4398-498B-AE57-2FB23A67282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24966C-CE52-4FC4-8899-279BD992366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A50682B-F622-4ABB-9275-B85E61AD203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thinking-mode excerpt / same trial</a:t>
            </a:r>
          </a:p>
        </p:txBody>
      </p:sp>
      <p:sp>
        <p:nvSpPr>
          <p:cNvPr id="16" name="">
            <a:extLst xmlns:a="http://schemas.openxmlformats.org/drawingml/2006/main">
              <a:ext uri="{FF2B5EF4-FFF2-40B4-BE49-F238E27FC236}">
                <a16:creationId xmlns:a16="http://schemas.microsoft.com/office/drawing/2014/main" id="{BBFC4BC0-F177-4E32-86F9-0C950FFB8C1B}"/>
              </a:ext>
            </a:extLst>
          </p:cNvPr>
          <p:cNvSpPr>
            <a:spLocks xmlns:a="http://schemas.openxmlformats.org/drawingml/2006/main" noGrp="1"/>
          </p:cNvSpPr>
          <p:nvPr/>
        </p:nvSpPr>
        <p:spPr>
          <a:xfrm xmlns:a="http://schemas.openxmlformats.org/drawingml/2006/main">
            <a:off x="800100" y="20764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Model-generated trace</a:t>
            </a:r>
          </a:p>
        </p:txBody>
      </p:sp>
      <p:sp>
        <p:nvSpPr>
          <p:cNvPr id="17" name="">
            <a:extLst xmlns:a="http://schemas.openxmlformats.org/drawingml/2006/main">
              <a:ext uri="{FF2B5EF4-FFF2-40B4-BE49-F238E27FC236}">
                <a16:creationId xmlns:a16="http://schemas.microsoft.com/office/drawing/2014/main" id="{3EA8E6EA-4195-4175-A3CE-6F200F795B5D}"/>
              </a:ext>
            </a:extLst>
          </p:cNvPr>
          <p:cNvSpPr>
            <a:spLocks xmlns:a="http://schemas.openxmlformats.org/drawingml/2006/main" noGrp="1"/>
          </p:cNvSpPr>
          <p:nvPr/>
        </p:nvSpPr>
        <p:spPr>
          <a:xfrm xmlns:a="http://schemas.openxmlformats.org/drawingml/2006/main">
            <a:off x="990600" y="2724150"/>
            <a:ext cx="695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"Expected value of A = 0.75(-16) + 0.25(40) = -2.</a:t>
            </a:r>
          </a:p>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Option B is a sure -3. So A has the higher expected value.</a:t>
            </a:r>
          </a:p>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But we need to consider risk preferences..."</a:t>
            </a:r>
          </a:p>
        </p:txBody>
      </p:sp>
      <p:sp>
        <p:nvSpPr>
          <p:cNvPr id="18" name="">
            <a:extLst xmlns:a="http://schemas.openxmlformats.org/drawingml/2006/main">
              <a:ext uri="{FF2B5EF4-FFF2-40B4-BE49-F238E27FC236}">
                <a16:creationId xmlns:a16="http://schemas.microsoft.com/office/drawing/2014/main" id="{916BAB4D-FD36-40B2-A22F-C95B185B00E6}"/>
              </a:ext>
            </a:extLst>
          </p:cNvPr>
          <p:cNvSpPr>
            <a:spLocks xmlns:a="http://schemas.openxmlformats.org/drawingml/2006/main" noGrp="1"/>
          </p:cNvSpPr>
          <p:nvPr/>
        </p:nvSpPr>
        <p:spPr>
          <a:xfrm xmlns:a="http://schemas.openxmlformats.org/drawingml/2006/main">
            <a:off x="8382000" y="2076450"/>
            <a:ext cx="14288" cy="27241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FD1FF07-59E4-4F04-B3C8-1236649C432F}"/>
              </a:ext>
            </a:extLst>
          </p:cNvPr>
          <p:cNvSpPr>
            <a:spLocks xmlns:a="http://schemas.openxmlformats.org/drawingml/2006/main" noGrp="1"/>
          </p:cNvSpPr>
          <p:nvPr/>
        </p:nvSpPr>
        <p:spPr>
          <a:xfrm xmlns:a="http://schemas.openxmlformats.org/drawingml/2006/main">
            <a:off x="8877300" y="20764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Useful for</a:t>
            </a:r>
          </a:p>
        </p:txBody>
      </p:sp>
      <p:sp>
        <p:nvSpPr>
          <p:cNvPr id="20" name="">
            <a:extLst xmlns:a="http://schemas.openxmlformats.org/drawingml/2006/main">
              <a:ext uri="{FF2B5EF4-FFF2-40B4-BE49-F238E27FC236}">
                <a16:creationId xmlns:a16="http://schemas.microsoft.com/office/drawing/2014/main" id="{4C6EFDDA-119F-4F6D-AEC0-10987905701D}"/>
              </a:ext>
            </a:extLst>
          </p:cNvPr>
          <p:cNvSpPr>
            <a:spLocks xmlns:a="http://schemas.openxmlformats.org/drawingml/2006/main" noGrp="1"/>
          </p:cNvSpPr>
          <p:nvPr/>
        </p:nvSpPr>
        <p:spPr>
          <a:xfrm xmlns:a="http://schemas.openxmlformats.org/drawingml/2006/main">
            <a:off x="8877300" y="2724150"/>
            <a:ext cx="228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Audit</a:t>
            </a:r>
          </a:p>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Hypothesis generation</a:t>
            </a:r>
          </a:p>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Ablation design</a:t>
            </a:r>
          </a:p>
        </p:txBody>
      </p:sp>
      <p:sp>
        <p:nvSpPr>
          <p:cNvPr id="21" name="">
            <a:extLst xmlns:a="http://schemas.openxmlformats.org/drawingml/2006/main">
              <a:ext uri="{FF2B5EF4-FFF2-40B4-BE49-F238E27FC236}">
                <a16:creationId xmlns:a16="http://schemas.microsoft.com/office/drawing/2014/main" id="{EF182C33-8CD4-445C-9624-6C33D9D2F131}"/>
              </a:ext>
            </a:extLst>
          </p:cNvPr>
          <p:cNvSpPr>
            <a:spLocks xmlns:a="http://schemas.openxmlformats.org/drawingml/2006/main" noGrp="1"/>
          </p:cNvSpPr>
          <p:nvPr/>
        </p:nvSpPr>
        <p:spPr>
          <a:xfrm xmlns:a="http://schemas.openxmlformats.org/drawingml/2006/main">
            <a:off x="800100" y="5295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8E84EFE-C379-4EEB-A373-292F90352524}"/>
              </a:ext>
            </a:extLst>
          </p:cNvPr>
          <p:cNvSpPr>
            <a:spLocks xmlns:a="http://schemas.openxmlformats.org/drawingml/2006/main" noGrp="1"/>
          </p:cNvSpPr>
          <p:nvPr/>
        </p:nvSpPr>
        <p:spPr>
          <a:xfrm xmlns:a="http://schemas.openxmlformats.org/drawingml/2006/main">
            <a:off x="1028700" y="5276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trace can suggest tests; it is not the participant's reasoning or a validated causal mechanism.</a:t>
            </a:r>
          </a:p>
        </p:txBody>
      </p:sp>
    </p:spTree>
    <p:extLst>
      <p:ext uri="{BB962C8B-B14F-4D97-AF65-F5344CB8AC3E}">
        <p14:creationId xmlns:p14="http://schemas.microsoft.com/office/powerpoint/2010/main" val="83604706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5E57AEF-1AA9-404A-8287-73BB4CC86D0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From one choice to a behavioral prediction experiment</a:t>
            </a:r>
          </a:p>
        </p:txBody>
      </p:sp>
      <p:sp>
        <p:nvSpPr>
          <p:cNvPr id="2" name="">
            <a:extLst xmlns:a="http://schemas.openxmlformats.org/drawingml/2006/main">
              <a:ext uri="{FF2B5EF4-FFF2-40B4-BE49-F238E27FC236}">
                <a16:creationId xmlns:a16="http://schemas.microsoft.com/office/drawing/2014/main" id="{D3BC693C-79B1-4751-B8EB-755D50DA4DA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scale-up</a:t>
            </a:r>
          </a:p>
        </p:txBody>
      </p:sp>
      <p:sp>
        <p:nvSpPr>
          <p:cNvPr id="3" name="">
            <a:extLst xmlns:a="http://schemas.openxmlformats.org/drawingml/2006/main">
              <a:ext uri="{FF2B5EF4-FFF2-40B4-BE49-F238E27FC236}">
                <a16:creationId xmlns:a16="http://schemas.microsoft.com/office/drawing/2014/main" id="{352FF156-5422-41BC-A074-8C8079C5412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D179515-00E9-44AD-A5C8-9F5229916AD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55837D02-D8EF-4F63-8C32-48A0FFDBBC5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1437481-7FFB-464A-BE7A-740F876F6E8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582F580-414E-4E6E-82CD-DB96F8A2E587}"/>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40E44D-12C4-4869-89BD-3054363E800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A08EB3C-E47E-44A9-A5B8-34075F11A09C}"/>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BE4A295-5520-4CE2-9143-E2DAD0B9E37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5BA3907-15DA-4A8D-BB78-367BCC6A39A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EA64B46-A849-4A27-8DC1-443CA2BFB12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EF10DEF-1BF0-4DDE-A61F-17CEBA40D95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7A80E8D-154C-4FE8-996D-86D8F9A4717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2B8AF87-0FF1-4DAB-9E76-2F6385133371}"/>
              </a:ext>
            </a:extLst>
          </p:cNvPr>
          <p:cNvSpPr>
            <a:spLocks xmlns:a="http://schemas.openxmlformats.org/drawingml/2006/main" noGrp="1"/>
          </p:cNvSpPr>
          <p:nvPr/>
        </p:nvSpPr>
        <p:spPr>
          <a:xfrm xmlns:a="http://schemas.openxmlformats.org/drawingml/2006/main">
            <a:off x="800100" y="21526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FA01F066-EEBE-4634-853E-DA5E9CFD6555}"/>
              </a:ext>
            </a:extLst>
          </p:cNvPr>
          <p:cNvSpPr>
            <a:spLocks xmlns:a="http://schemas.openxmlformats.org/drawingml/2006/main" noGrp="1"/>
          </p:cNvSpPr>
          <p:nvPr/>
        </p:nvSpPr>
        <p:spPr>
          <a:xfrm xmlns:a="http://schemas.openxmlformats.org/drawingml/2006/main">
            <a:off x="1524000" y="21526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1 trial</a:t>
            </a:r>
          </a:p>
        </p:txBody>
      </p:sp>
      <p:sp>
        <p:nvSpPr>
          <p:cNvPr id="17" name="">
            <a:extLst xmlns:a="http://schemas.openxmlformats.org/drawingml/2006/main">
              <a:ext uri="{FF2B5EF4-FFF2-40B4-BE49-F238E27FC236}">
                <a16:creationId xmlns:a16="http://schemas.microsoft.com/office/drawing/2014/main" id="{A4F6BB93-BD0D-4ECC-83E4-5CBE997A2B17}"/>
              </a:ext>
            </a:extLst>
          </p:cNvPr>
          <p:cNvSpPr>
            <a:spLocks xmlns:a="http://schemas.openxmlformats.org/drawingml/2006/main" noGrp="1"/>
          </p:cNvSpPr>
          <p:nvPr/>
        </p:nvSpPr>
        <p:spPr>
          <a:xfrm xmlns:a="http://schemas.openxmlformats.org/drawingml/2006/main">
            <a:off x="4381500" y="215265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one probability and one loss</a:t>
            </a:r>
          </a:p>
        </p:txBody>
      </p:sp>
      <p:sp>
        <p:nvSpPr>
          <p:cNvPr id="18" name="">
            <a:extLst xmlns:a="http://schemas.openxmlformats.org/drawingml/2006/main">
              <a:ext uri="{FF2B5EF4-FFF2-40B4-BE49-F238E27FC236}">
                <a16:creationId xmlns:a16="http://schemas.microsoft.com/office/drawing/2014/main" id="{DBEAEDA8-20B1-4AF9-81A4-3A78C66736D0}"/>
              </a:ext>
            </a:extLst>
          </p:cNvPr>
          <p:cNvSpPr>
            <a:spLocks xmlns:a="http://schemas.openxmlformats.org/drawingml/2006/main" noGrp="1"/>
          </p:cNvSpPr>
          <p:nvPr/>
        </p:nvSpPr>
        <p:spPr>
          <a:xfrm xmlns:a="http://schemas.openxmlformats.org/drawingml/2006/main">
            <a:off x="1524000" y="266700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1CD205A-3F51-4FBA-BC17-D94727866D9B}"/>
              </a:ext>
            </a:extLst>
          </p:cNvPr>
          <p:cNvSpPr>
            <a:spLocks xmlns:a="http://schemas.openxmlformats.org/drawingml/2006/main" noGrp="1"/>
          </p:cNvSpPr>
          <p:nvPr/>
        </p:nvSpPr>
        <p:spPr>
          <a:xfrm xmlns:a="http://schemas.openxmlformats.org/drawingml/2006/main">
            <a:off x="800100" y="28956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35C3C006-503C-4CBC-84F2-57A9807FD188}"/>
              </a:ext>
            </a:extLst>
          </p:cNvPr>
          <p:cNvSpPr>
            <a:spLocks xmlns:a="http://schemas.openxmlformats.org/drawingml/2006/main" noGrp="1"/>
          </p:cNvSpPr>
          <p:nvPr/>
        </p:nvSpPr>
        <p:spPr>
          <a:xfrm xmlns:a="http://schemas.openxmlformats.org/drawingml/2006/main">
            <a:off x="1524000" y="28956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many targets</a:t>
            </a:r>
          </a:p>
        </p:txBody>
      </p:sp>
      <p:sp>
        <p:nvSpPr>
          <p:cNvPr id="21" name="">
            <a:extLst xmlns:a="http://schemas.openxmlformats.org/drawingml/2006/main">
              <a:ext uri="{FF2B5EF4-FFF2-40B4-BE49-F238E27FC236}">
                <a16:creationId xmlns:a16="http://schemas.microsoft.com/office/drawing/2014/main" id="{9DD34473-5747-4C36-BE5F-E2CD8ED858EA}"/>
              </a:ext>
            </a:extLst>
          </p:cNvPr>
          <p:cNvSpPr>
            <a:spLocks xmlns:a="http://schemas.openxmlformats.org/drawingml/2006/main" noGrp="1"/>
          </p:cNvSpPr>
          <p:nvPr/>
        </p:nvSpPr>
        <p:spPr>
          <a:xfrm xmlns:a="http://schemas.openxmlformats.org/drawingml/2006/main">
            <a:off x="4381500" y="289560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mean loss and calibration</a:t>
            </a:r>
          </a:p>
        </p:txBody>
      </p:sp>
      <p:sp>
        <p:nvSpPr>
          <p:cNvPr id="22" name="">
            <a:extLst xmlns:a="http://schemas.openxmlformats.org/drawingml/2006/main">
              <a:ext uri="{FF2B5EF4-FFF2-40B4-BE49-F238E27FC236}">
                <a16:creationId xmlns:a16="http://schemas.microsoft.com/office/drawing/2014/main" id="{1E52989D-B110-4709-B097-C039C932BCA5}"/>
              </a:ext>
            </a:extLst>
          </p:cNvPr>
          <p:cNvSpPr>
            <a:spLocks xmlns:a="http://schemas.openxmlformats.org/drawingml/2006/main" noGrp="1"/>
          </p:cNvSpPr>
          <p:nvPr/>
        </p:nvSpPr>
        <p:spPr>
          <a:xfrm xmlns:a="http://schemas.openxmlformats.org/drawingml/2006/main">
            <a:off x="1524000" y="340995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CDFEAD5-4DFA-4743-85C7-67451D5287DE}"/>
              </a:ext>
            </a:extLst>
          </p:cNvPr>
          <p:cNvSpPr>
            <a:spLocks xmlns:a="http://schemas.openxmlformats.org/drawingml/2006/main" noGrp="1"/>
          </p:cNvSpPr>
          <p:nvPr/>
        </p:nvSpPr>
        <p:spPr>
          <a:xfrm xmlns:a="http://schemas.openxmlformats.org/drawingml/2006/main">
            <a:off x="800100" y="36385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7175759A-1815-4EAE-BBB5-522A7F5ABCEA}"/>
              </a:ext>
            </a:extLst>
          </p:cNvPr>
          <p:cNvSpPr>
            <a:spLocks xmlns:a="http://schemas.openxmlformats.org/drawingml/2006/main" noGrp="1"/>
          </p:cNvSpPr>
          <p:nvPr/>
        </p:nvSpPr>
        <p:spPr>
          <a:xfrm xmlns:a="http://schemas.openxmlformats.org/drawingml/2006/main">
            <a:off x="1524000" y="363855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many participants</a:t>
            </a:r>
          </a:p>
        </p:txBody>
      </p:sp>
      <p:sp>
        <p:nvSpPr>
          <p:cNvPr id="25" name="">
            <a:extLst xmlns:a="http://schemas.openxmlformats.org/drawingml/2006/main">
              <a:ext uri="{FF2B5EF4-FFF2-40B4-BE49-F238E27FC236}">
                <a16:creationId xmlns:a16="http://schemas.microsoft.com/office/drawing/2014/main" id="{59BFF9E5-1D3C-430C-90B1-846893CD7793}"/>
              </a:ext>
            </a:extLst>
          </p:cNvPr>
          <p:cNvSpPr>
            <a:spLocks xmlns:a="http://schemas.openxmlformats.org/drawingml/2006/main" noGrp="1"/>
          </p:cNvSpPr>
          <p:nvPr/>
        </p:nvSpPr>
        <p:spPr>
          <a:xfrm xmlns:a="http://schemas.openxmlformats.org/drawingml/2006/main">
            <a:off x="4381500" y="363855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generalization and uncertainty</a:t>
            </a:r>
          </a:p>
        </p:txBody>
      </p:sp>
      <p:sp>
        <p:nvSpPr>
          <p:cNvPr id="26" name="">
            <a:extLst xmlns:a="http://schemas.openxmlformats.org/drawingml/2006/main">
              <a:ext uri="{FF2B5EF4-FFF2-40B4-BE49-F238E27FC236}">
                <a16:creationId xmlns:a16="http://schemas.microsoft.com/office/drawing/2014/main" id="{729B5FFF-2C40-4402-BFAB-26074721C8A4}"/>
              </a:ext>
            </a:extLst>
          </p:cNvPr>
          <p:cNvSpPr>
            <a:spLocks xmlns:a="http://schemas.openxmlformats.org/drawingml/2006/main" noGrp="1"/>
          </p:cNvSpPr>
          <p:nvPr/>
        </p:nvSpPr>
        <p:spPr>
          <a:xfrm xmlns:a="http://schemas.openxmlformats.org/drawingml/2006/main">
            <a:off x="1524000" y="415290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F2158B2-05CF-4491-972C-C902645E9E56}"/>
              </a:ext>
            </a:extLst>
          </p:cNvPr>
          <p:cNvSpPr>
            <a:spLocks xmlns:a="http://schemas.openxmlformats.org/drawingml/2006/main" noGrp="1"/>
          </p:cNvSpPr>
          <p:nvPr/>
        </p:nvSpPr>
        <p:spPr>
          <a:xfrm xmlns:a="http://schemas.openxmlformats.org/drawingml/2006/main">
            <a:off x="800100" y="438150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E0AED92B-0125-4952-A037-AAB58C1F04E4}"/>
              </a:ext>
            </a:extLst>
          </p:cNvPr>
          <p:cNvSpPr>
            <a:spLocks xmlns:a="http://schemas.openxmlformats.org/drawingml/2006/main" noGrp="1"/>
          </p:cNvSpPr>
          <p:nvPr/>
        </p:nvSpPr>
        <p:spPr>
          <a:xfrm xmlns:a="http://schemas.openxmlformats.org/drawingml/2006/main">
            <a:off x="1524000" y="43815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vary history length</a:t>
            </a:r>
          </a:p>
        </p:txBody>
      </p:sp>
      <p:sp>
        <p:nvSpPr>
          <p:cNvPr id="29" name="">
            <a:extLst xmlns:a="http://schemas.openxmlformats.org/drawingml/2006/main">
              <a:ext uri="{FF2B5EF4-FFF2-40B4-BE49-F238E27FC236}">
                <a16:creationId xmlns:a16="http://schemas.microsoft.com/office/drawing/2014/main" id="{9DEADC45-EE48-42B7-9499-84A03A8AA579}"/>
              </a:ext>
            </a:extLst>
          </p:cNvPr>
          <p:cNvSpPr>
            <a:spLocks xmlns:a="http://schemas.openxmlformats.org/drawingml/2006/main" noGrp="1"/>
          </p:cNvSpPr>
          <p:nvPr/>
        </p:nvSpPr>
        <p:spPr>
          <a:xfrm xmlns:a="http://schemas.openxmlformats.org/drawingml/2006/main">
            <a:off x="4381500" y="4381500"/>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a learning curve, not an anecdote</a:t>
            </a:r>
          </a:p>
        </p:txBody>
      </p:sp>
      <p:sp>
        <p:nvSpPr>
          <p:cNvPr id="30" name="">
            <a:extLst xmlns:a="http://schemas.openxmlformats.org/drawingml/2006/main">
              <a:ext uri="{FF2B5EF4-FFF2-40B4-BE49-F238E27FC236}">
                <a16:creationId xmlns:a16="http://schemas.microsoft.com/office/drawing/2014/main" id="{78AEA7CF-935C-4B56-B105-C88079670975}"/>
              </a:ext>
            </a:extLst>
          </p:cNvPr>
          <p:cNvSpPr>
            <a:spLocks xmlns:a="http://schemas.openxmlformats.org/drawingml/2006/main" noGrp="1"/>
          </p:cNvSpPr>
          <p:nvPr/>
        </p:nvSpPr>
        <p:spPr>
          <a:xfrm xmlns:a="http://schemas.openxmlformats.org/drawingml/2006/main">
            <a:off x="1524000" y="489585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51186A4B-7893-497E-9DC9-CDBE721CB459}"/>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AC5ACC2-97EB-4525-86AD-1DEC9E9B4D93}"/>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Scaling changes the claim from one anecdote to generalization across trials and people.</a:t>
            </a:r>
          </a:p>
        </p:txBody>
      </p:sp>
    </p:spTree>
    <p:extLst>
      <p:ext uri="{BB962C8B-B14F-4D97-AF65-F5344CB8AC3E}">
        <p14:creationId xmlns:p14="http://schemas.microsoft.com/office/powerpoint/2010/main" val="132772573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BE4ADB4-42B8-44BC-A3C0-C58DAD76080A}"/>
              </a:ext>
            </a:extLst>
          </p:cNvPr>
          <p:cNvSpPr>
            <a:spLocks xmlns:a="http://schemas.openxmlformats.org/drawingml/2006/main" noGrp="1"/>
          </p:cNvSpPr>
          <p:nvPr/>
        </p:nvSpPr>
        <p:spPr>
          <a:xfrm xmlns:a="http://schemas.openxmlformats.org/drawingml/2006/main">
            <a:off x="781050" y="1104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Prediction / Step 2 of 3</a:t>
            </a:r>
          </a:p>
        </p:txBody>
      </p:sp>
      <p:sp>
        <p:nvSpPr>
          <p:cNvPr id="2" name="">
            <a:extLst xmlns:a="http://schemas.openxmlformats.org/drawingml/2006/main">
              <a:ext uri="{FF2B5EF4-FFF2-40B4-BE49-F238E27FC236}">
                <a16:creationId xmlns:a16="http://schemas.microsoft.com/office/drawing/2014/main" id="{CD3D4A5C-3B36-443A-8730-3542A65D79DA}"/>
              </a:ext>
            </a:extLst>
          </p:cNvPr>
          <p:cNvSpPr>
            <a:spLocks xmlns:a="http://schemas.openxmlformats.org/drawingml/2006/main" noGrp="1"/>
          </p:cNvSpPr>
          <p:nvPr/>
        </p:nvSpPr>
        <p:spPr>
          <a:xfrm xmlns:a="http://schemas.openxmlformats.org/drawingml/2006/main">
            <a:off x="781050" y="20955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75"/>
          </a:bodyPr>
          <a:lstStyle xmlns:a="http://schemas.openxmlformats.org/drawingml/2006/main"/>
          <a:p xmlns:a="http://schemas.openxmlformats.org/drawingml/2006/main">
            <a:pPr algn="l">
              <a:lnSpc>
                <a:spcPct val="98000"/>
              </a:lnSpc>
              <a:buNone/>
              <a:defRPr sz="3900" b="1" i="0">
                <a:solidFill>
                  <a:srgbClr val="111827"/>
                </a:solidFill>
                <a:latin typeface="Arial"/>
                <a:ea typeface="Arial"/>
                <a:cs typeface="Arial"/>
              </a:defRPr>
            </a:pPr>
            <a:r>
              <a:rPr sz="3900" b="1" i="0">
                <a:solidFill>
                  <a:srgbClr val="111827"/>
                </a:solidFill>
                <a:latin typeface="Arial"/>
                <a:ea typeface="Arial"/>
                <a:cs typeface="Arial"/>
              </a:rPr>
              <a:t>Test whether personal history reveals individual differences</a:t>
            </a:r>
          </a:p>
        </p:txBody>
      </p:sp>
      <p:sp>
        <p:nvSpPr>
          <p:cNvPr id="3" name="">
            <a:extLst xmlns:a="http://schemas.openxmlformats.org/drawingml/2006/main">
              <a:ext uri="{FF2B5EF4-FFF2-40B4-BE49-F238E27FC236}">
                <a16:creationId xmlns:a16="http://schemas.microsoft.com/office/drawing/2014/main" id="{46DAE710-ADC3-4987-A63D-9129A649C72D}"/>
              </a:ext>
            </a:extLst>
          </p:cNvPr>
          <p:cNvSpPr>
            <a:spLocks xmlns:a="http://schemas.openxmlformats.org/drawingml/2006/main" noGrp="1"/>
          </p:cNvSpPr>
          <p:nvPr/>
        </p:nvSpPr>
        <p:spPr>
          <a:xfrm xmlns:a="http://schemas.openxmlformats.org/drawingml/2006/main">
            <a:off x="781050" y="33718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8CD835D-D30F-41A3-A1AF-243D38C0AAEA}"/>
              </a:ext>
            </a:extLst>
          </p:cNvPr>
          <p:cNvSpPr>
            <a:spLocks xmlns:a="http://schemas.openxmlformats.org/drawingml/2006/main" noGrp="1"/>
          </p:cNvSpPr>
          <p:nvPr/>
        </p:nvSpPr>
        <p:spPr>
          <a:xfrm xmlns:a="http://schemas.openxmlformats.org/drawingml/2006/main">
            <a:off x="781050" y="37909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Add earlier choices from the same person to predict later choices, without changing model parameters.</a:t>
            </a:r>
          </a:p>
        </p:txBody>
      </p:sp>
      <p:sp>
        <p:nvSpPr>
          <p:cNvPr id="5" name="">
            <a:extLst xmlns:a="http://schemas.openxmlformats.org/drawingml/2006/main">
              <a:ext uri="{FF2B5EF4-FFF2-40B4-BE49-F238E27FC236}">
                <a16:creationId xmlns:a16="http://schemas.microsoft.com/office/drawing/2014/main" id="{5182F762-20D2-4346-B478-9DA2560B57E5}"/>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587C261-2C25-472B-B97E-E21CF35AD92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A717F02-2073-4793-A269-B04FA1BE6E1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9B3E74C-9EB1-47B2-A789-48D363BD8BE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45148EC-971D-4723-898C-37010D5654C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996CAEA-185C-487C-989B-68A3D2AE60F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8F803E6-6175-4970-8B04-28F784C2D86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8888940-0F62-4FA0-97D5-D7E4BC1B962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6735A38-9A56-4F61-A815-E4AAD8150DF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6AC2DFD-79A1-4A53-B7CF-5D4CCB0D2BB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211885721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7E09E013-AC77-4885-A72E-DB68479F0A2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Use personal history to predict later choices</a:t>
            </a:r>
          </a:p>
        </p:txBody>
      </p:sp>
      <p:sp>
        <p:nvSpPr>
          <p:cNvPr id="2" name="">
            <a:extLst xmlns:a="http://schemas.openxmlformats.org/drawingml/2006/main">
              <a:ext uri="{FF2B5EF4-FFF2-40B4-BE49-F238E27FC236}">
                <a16:creationId xmlns:a16="http://schemas.microsoft.com/office/drawing/2014/main" id="{00D23819-D968-4943-A123-D92D99D7EF3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a:t>
            </a:r>
          </a:p>
        </p:txBody>
      </p:sp>
      <p:sp>
        <p:nvSpPr>
          <p:cNvPr id="3" name="">
            <a:extLst xmlns:a="http://schemas.openxmlformats.org/drawingml/2006/main">
              <a:ext uri="{FF2B5EF4-FFF2-40B4-BE49-F238E27FC236}">
                <a16:creationId xmlns:a16="http://schemas.microsoft.com/office/drawing/2014/main" id="{6023117E-6612-47E5-BC62-EB59CD0F068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F3FB01-5B18-417B-ACDB-D44DD84483F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55AF59A4-14C7-40E4-B34C-301303B5699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63BF40D-8923-4931-8D61-A9CD8DB3E38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1AE09DC-29A7-49A6-8746-44C2BB646FD6}"/>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591B7B-8556-4727-936A-18F6C20CE1A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B8CC343-AE8D-4F04-BF70-2C68807383A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A31BCC-D615-4E2F-B1BE-29F4A2D2B07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88D2A99-7098-4E59-A1B2-21497ED27B1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042E844-1E68-460D-B125-8DAF95B880F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75B482B-A3DE-4501-AC1D-67CAE86A3AB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64C24EB-B5F2-4B03-88B9-17260B0B93C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F4D6EB6-F154-4F48-8463-5D374B6CB88D}"/>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 P025 trials 1-5</a:t>
            </a:r>
          </a:p>
        </p:txBody>
      </p:sp>
      <p:sp>
        <p:nvSpPr>
          <p:cNvPr id="16" name="">
            <a:extLst xmlns:a="http://schemas.openxmlformats.org/drawingml/2006/main">
              <a:ext uri="{FF2B5EF4-FFF2-40B4-BE49-F238E27FC236}">
                <a16:creationId xmlns:a16="http://schemas.microsoft.com/office/drawing/2014/main" id="{EB8D2156-86B1-45E5-9107-ACBBAB8D8C70}"/>
              </a:ext>
            </a:extLst>
          </p:cNvPr>
          <p:cNvSpPr>
            <a:spLocks xmlns:a="http://schemas.openxmlformats.org/drawingml/2006/main" noGrp="1"/>
          </p:cNvSpPr>
          <p:nvPr/>
        </p:nvSpPr>
        <p:spPr>
          <a:xfrm xmlns:a="http://schemas.openxmlformats.org/drawingml/2006/main">
            <a:off x="800100" y="2038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Earlier trial</a:t>
            </a:r>
          </a:p>
        </p:txBody>
      </p:sp>
      <p:sp>
        <p:nvSpPr>
          <p:cNvPr id="17" name="">
            <a:extLst xmlns:a="http://schemas.openxmlformats.org/drawingml/2006/main">
              <a:ext uri="{FF2B5EF4-FFF2-40B4-BE49-F238E27FC236}">
                <a16:creationId xmlns:a16="http://schemas.microsoft.com/office/drawing/2014/main" id="{BCAB81E0-8023-4B12-974F-37AD8E7C852B}"/>
              </a:ext>
            </a:extLst>
          </p:cNvPr>
          <p:cNvSpPr>
            <a:spLocks xmlns:a="http://schemas.openxmlformats.org/drawingml/2006/main" noGrp="1"/>
          </p:cNvSpPr>
          <p:nvPr/>
        </p:nvSpPr>
        <p:spPr>
          <a:xfrm xmlns:a="http://schemas.openxmlformats.org/drawingml/2006/main">
            <a:off x="2686050" y="20383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Options</a:t>
            </a:r>
          </a:p>
        </p:txBody>
      </p:sp>
      <p:sp>
        <p:nvSpPr>
          <p:cNvPr id="18" name="">
            <a:extLst xmlns:a="http://schemas.openxmlformats.org/drawingml/2006/main">
              <a:ext uri="{FF2B5EF4-FFF2-40B4-BE49-F238E27FC236}">
                <a16:creationId xmlns:a16="http://schemas.microsoft.com/office/drawing/2014/main" id="{AD5684C8-A67E-4AD1-9432-98433924C1C9}"/>
              </a:ext>
            </a:extLst>
          </p:cNvPr>
          <p:cNvSpPr>
            <a:spLocks xmlns:a="http://schemas.openxmlformats.org/drawingml/2006/main" noGrp="1"/>
          </p:cNvSpPr>
          <p:nvPr/>
        </p:nvSpPr>
        <p:spPr>
          <a:xfrm xmlns:a="http://schemas.openxmlformats.org/drawingml/2006/main">
            <a:off x="10096500" y="2038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Choice</a:t>
            </a:r>
          </a:p>
        </p:txBody>
      </p:sp>
      <p:sp>
        <p:nvSpPr>
          <p:cNvPr id="19" name="">
            <a:extLst xmlns:a="http://schemas.openxmlformats.org/drawingml/2006/main">
              <a:ext uri="{FF2B5EF4-FFF2-40B4-BE49-F238E27FC236}">
                <a16:creationId xmlns:a16="http://schemas.microsoft.com/office/drawing/2014/main" id="{B3925364-5C89-46BA-93FB-F3609BB00428}"/>
              </a:ext>
            </a:extLst>
          </p:cNvPr>
          <p:cNvSpPr>
            <a:spLocks xmlns:a="http://schemas.openxmlformats.org/drawingml/2006/main" noGrp="1"/>
          </p:cNvSpPr>
          <p:nvPr/>
        </p:nvSpPr>
        <p:spPr>
          <a:xfrm xmlns:a="http://schemas.openxmlformats.org/drawingml/2006/main">
            <a:off x="800100" y="25336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D5AD6875-2A3E-4085-9DF5-C7C2CA847576}"/>
              </a:ext>
            </a:extLst>
          </p:cNvPr>
          <p:cNvSpPr>
            <a:spLocks xmlns:a="http://schemas.openxmlformats.org/drawingml/2006/main" noGrp="1"/>
          </p:cNvSpPr>
          <p:nvPr/>
        </p:nvSpPr>
        <p:spPr>
          <a:xfrm xmlns:a="http://schemas.openxmlformats.org/drawingml/2006/main">
            <a:off x="2686050" y="25336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5% of -36; otherwise -18   |   B: 1% of 1; otherwise -8</a:t>
            </a:r>
          </a:p>
        </p:txBody>
      </p:sp>
      <p:sp>
        <p:nvSpPr>
          <p:cNvPr id="21" name="">
            <a:extLst xmlns:a="http://schemas.openxmlformats.org/drawingml/2006/main">
              <a:ext uri="{FF2B5EF4-FFF2-40B4-BE49-F238E27FC236}">
                <a16:creationId xmlns:a16="http://schemas.microsoft.com/office/drawing/2014/main" id="{26D4AFC7-8E5A-4F6E-B252-B3DD2341BE26}"/>
              </a:ext>
            </a:extLst>
          </p:cNvPr>
          <p:cNvSpPr>
            <a:spLocks xmlns:a="http://schemas.openxmlformats.org/drawingml/2006/main" noGrp="1"/>
          </p:cNvSpPr>
          <p:nvPr/>
        </p:nvSpPr>
        <p:spPr>
          <a:xfrm xmlns:a="http://schemas.openxmlformats.org/drawingml/2006/main">
            <a:off x="10287000" y="2533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A</a:t>
            </a:r>
          </a:p>
        </p:txBody>
      </p:sp>
      <p:sp>
        <p:nvSpPr>
          <p:cNvPr id="22" name="">
            <a:extLst xmlns:a="http://schemas.openxmlformats.org/drawingml/2006/main">
              <a:ext uri="{FF2B5EF4-FFF2-40B4-BE49-F238E27FC236}">
                <a16:creationId xmlns:a16="http://schemas.microsoft.com/office/drawing/2014/main" id="{6531E97A-0807-4B3A-9204-548FCECA9A94}"/>
              </a:ext>
            </a:extLst>
          </p:cNvPr>
          <p:cNvSpPr>
            <a:spLocks xmlns:a="http://schemas.openxmlformats.org/drawingml/2006/main" noGrp="1"/>
          </p:cNvSpPr>
          <p:nvPr/>
        </p:nvSpPr>
        <p:spPr>
          <a:xfrm xmlns:a="http://schemas.openxmlformats.org/drawingml/2006/main">
            <a:off x="800100" y="29146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C817D20-6F7B-4578-83D1-0225A73926FB}"/>
              </a:ext>
            </a:extLst>
          </p:cNvPr>
          <p:cNvSpPr>
            <a:spLocks xmlns:a="http://schemas.openxmlformats.org/drawingml/2006/main" noGrp="1"/>
          </p:cNvSpPr>
          <p:nvPr/>
        </p:nvSpPr>
        <p:spPr>
          <a:xfrm xmlns:a="http://schemas.openxmlformats.org/drawingml/2006/main">
            <a:off x="800100" y="3048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2</a:t>
            </a:r>
          </a:p>
        </p:txBody>
      </p:sp>
      <p:sp>
        <p:nvSpPr>
          <p:cNvPr id="24" name="">
            <a:extLst xmlns:a="http://schemas.openxmlformats.org/drawingml/2006/main">
              <a:ext uri="{FF2B5EF4-FFF2-40B4-BE49-F238E27FC236}">
                <a16:creationId xmlns:a16="http://schemas.microsoft.com/office/drawing/2014/main" id="{D246FD3B-0A67-4A58-B787-868F29022CCF}"/>
              </a:ext>
            </a:extLst>
          </p:cNvPr>
          <p:cNvSpPr>
            <a:spLocks xmlns:a="http://schemas.openxmlformats.org/drawingml/2006/main" noGrp="1"/>
          </p:cNvSpPr>
          <p:nvPr/>
        </p:nvSpPr>
        <p:spPr>
          <a:xfrm xmlns:a="http://schemas.openxmlformats.org/drawingml/2006/main">
            <a:off x="2686050" y="30480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10% of -7; otherwise 32   |   B: 29 for sure</a:t>
            </a:r>
          </a:p>
        </p:txBody>
      </p:sp>
      <p:sp>
        <p:nvSpPr>
          <p:cNvPr id="25" name="">
            <a:extLst xmlns:a="http://schemas.openxmlformats.org/drawingml/2006/main">
              <a:ext uri="{FF2B5EF4-FFF2-40B4-BE49-F238E27FC236}">
                <a16:creationId xmlns:a16="http://schemas.microsoft.com/office/drawing/2014/main" id="{DE8895DF-5B0F-421A-8478-51C54181774F}"/>
              </a:ext>
            </a:extLst>
          </p:cNvPr>
          <p:cNvSpPr>
            <a:spLocks xmlns:a="http://schemas.openxmlformats.org/drawingml/2006/main" noGrp="1"/>
          </p:cNvSpPr>
          <p:nvPr/>
        </p:nvSpPr>
        <p:spPr>
          <a:xfrm xmlns:a="http://schemas.openxmlformats.org/drawingml/2006/main">
            <a:off x="10287000" y="30480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B</a:t>
            </a:r>
          </a:p>
        </p:txBody>
      </p:sp>
      <p:sp>
        <p:nvSpPr>
          <p:cNvPr id="26" name="">
            <a:extLst xmlns:a="http://schemas.openxmlformats.org/drawingml/2006/main">
              <a:ext uri="{FF2B5EF4-FFF2-40B4-BE49-F238E27FC236}">
                <a16:creationId xmlns:a16="http://schemas.microsoft.com/office/drawing/2014/main" id="{0110BCE2-9821-4BF7-A3D0-F8889FE3DE18}"/>
              </a:ext>
            </a:extLst>
          </p:cNvPr>
          <p:cNvSpPr>
            <a:spLocks xmlns:a="http://schemas.openxmlformats.org/drawingml/2006/main" noGrp="1"/>
          </p:cNvSpPr>
          <p:nvPr/>
        </p:nvSpPr>
        <p:spPr>
          <a:xfrm xmlns:a="http://schemas.openxmlformats.org/drawingml/2006/main">
            <a:off x="800100" y="342900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AA1328B-7A76-43EA-858C-4D4E701E4986}"/>
              </a:ext>
            </a:extLst>
          </p:cNvPr>
          <p:cNvSpPr>
            <a:spLocks xmlns:a="http://schemas.openxmlformats.org/drawingml/2006/main" noGrp="1"/>
          </p:cNvSpPr>
          <p:nvPr/>
        </p:nvSpPr>
        <p:spPr>
          <a:xfrm xmlns:a="http://schemas.openxmlformats.org/drawingml/2006/main">
            <a:off x="800100" y="3562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3</a:t>
            </a:r>
          </a:p>
        </p:txBody>
      </p:sp>
      <p:sp>
        <p:nvSpPr>
          <p:cNvPr id="28" name="">
            <a:extLst xmlns:a="http://schemas.openxmlformats.org/drawingml/2006/main">
              <a:ext uri="{FF2B5EF4-FFF2-40B4-BE49-F238E27FC236}">
                <a16:creationId xmlns:a16="http://schemas.microsoft.com/office/drawing/2014/main" id="{2B91BF19-8F29-4785-8B57-5780E79EEE51}"/>
              </a:ext>
            </a:extLst>
          </p:cNvPr>
          <p:cNvSpPr>
            <a:spLocks xmlns:a="http://schemas.openxmlformats.org/drawingml/2006/main" noGrp="1"/>
          </p:cNvSpPr>
          <p:nvPr/>
        </p:nvSpPr>
        <p:spPr>
          <a:xfrm xmlns:a="http://schemas.openxmlformats.org/drawingml/2006/main">
            <a:off x="2686050" y="35623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50% of -49; otherwise 47   |   B: 11 for sure</a:t>
            </a:r>
          </a:p>
        </p:txBody>
      </p:sp>
      <p:sp>
        <p:nvSpPr>
          <p:cNvPr id="29" name="">
            <a:extLst xmlns:a="http://schemas.openxmlformats.org/drawingml/2006/main">
              <a:ext uri="{FF2B5EF4-FFF2-40B4-BE49-F238E27FC236}">
                <a16:creationId xmlns:a16="http://schemas.microsoft.com/office/drawing/2014/main" id="{6E98F4C8-00F3-48E9-8B08-EB0FBCCC7833}"/>
              </a:ext>
            </a:extLst>
          </p:cNvPr>
          <p:cNvSpPr>
            <a:spLocks xmlns:a="http://schemas.openxmlformats.org/drawingml/2006/main" noGrp="1"/>
          </p:cNvSpPr>
          <p:nvPr/>
        </p:nvSpPr>
        <p:spPr>
          <a:xfrm xmlns:a="http://schemas.openxmlformats.org/drawingml/2006/main">
            <a:off x="10287000" y="35623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A</a:t>
            </a:r>
          </a:p>
        </p:txBody>
      </p:sp>
      <p:sp>
        <p:nvSpPr>
          <p:cNvPr id="30" name="">
            <a:extLst xmlns:a="http://schemas.openxmlformats.org/drawingml/2006/main">
              <a:ext uri="{FF2B5EF4-FFF2-40B4-BE49-F238E27FC236}">
                <a16:creationId xmlns:a16="http://schemas.microsoft.com/office/drawing/2014/main" id="{C09E82A7-3A02-475D-98D1-A057D078BC85}"/>
              </a:ext>
            </a:extLst>
          </p:cNvPr>
          <p:cNvSpPr>
            <a:spLocks xmlns:a="http://schemas.openxmlformats.org/drawingml/2006/main" noGrp="1"/>
          </p:cNvSpPr>
          <p:nvPr/>
        </p:nvSpPr>
        <p:spPr>
          <a:xfrm xmlns:a="http://schemas.openxmlformats.org/drawingml/2006/main">
            <a:off x="800100" y="39433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DA7A488-9DE4-40A9-B5D0-48333100C5DC}"/>
              </a:ext>
            </a:extLst>
          </p:cNvPr>
          <p:cNvSpPr>
            <a:spLocks xmlns:a="http://schemas.openxmlformats.org/drawingml/2006/main" noGrp="1"/>
          </p:cNvSpPr>
          <p:nvPr/>
        </p:nvSpPr>
        <p:spPr>
          <a:xfrm xmlns:a="http://schemas.openxmlformats.org/drawingml/2006/main">
            <a:off x="800100" y="4076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4</a:t>
            </a:r>
          </a:p>
        </p:txBody>
      </p:sp>
      <p:sp>
        <p:nvSpPr>
          <p:cNvPr id="32" name="">
            <a:extLst xmlns:a="http://schemas.openxmlformats.org/drawingml/2006/main">
              <a:ext uri="{FF2B5EF4-FFF2-40B4-BE49-F238E27FC236}">
                <a16:creationId xmlns:a16="http://schemas.microsoft.com/office/drawing/2014/main" id="{A9A1A4C0-53FE-4D3C-A176-FB86D766639D}"/>
              </a:ext>
            </a:extLst>
          </p:cNvPr>
          <p:cNvSpPr>
            <a:spLocks xmlns:a="http://schemas.openxmlformats.org/drawingml/2006/main" noGrp="1"/>
          </p:cNvSpPr>
          <p:nvPr/>
        </p:nvSpPr>
        <p:spPr>
          <a:xfrm xmlns:a="http://schemas.openxmlformats.org/drawingml/2006/main">
            <a:off x="2686050" y="40767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40% of 1; otherwise 3   |   B: 25% of 11; otherwise -12</a:t>
            </a:r>
          </a:p>
        </p:txBody>
      </p:sp>
      <p:sp>
        <p:nvSpPr>
          <p:cNvPr id="33" name="">
            <a:extLst xmlns:a="http://schemas.openxmlformats.org/drawingml/2006/main">
              <a:ext uri="{FF2B5EF4-FFF2-40B4-BE49-F238E27FC236}">
                <a16:creationId xmlns:a16="http://schemas.microsoft.com/office/drawing/2014/main" id="{E8747EB5-7D15-4A09-823A-25CD83B3D2D2}"/>
              </a:ext>
            </a:extLst>
          </p:cNvPr>
          <p:cNvSpPr>
            <a:spLocks xmlns:a="http://schemas.openxmlformats.org/drawingml/2006/main" noGrp="1"/>
          </p:cNvSpPr>
          <p:nvPr/>
        </p:nvSpPr>
        <p:spPr>
          <a:xfrm xmlns:a="http://schemas.openxmlformats.org/drawingml/2006/main">
            <a:off x="10287000" y="40767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B</a:t>
            </a:r>
          </a:p>
        </p:txBody>
      </p:sp>
      <p:sp>
        <p:nvSpPr>
          <p:cNvPr id="34" name="">
            <a:extLst xmlns:a="http://schemas.openxmlformats.org/drawingml/2006/main">
              <a:ext uri="{FF2B5EF4-FFF2-40B4-BE49-F238E27FC236}">
                <a16:creationId xmlns:a16="http://schemas.microsoft.com/office/drawing/2014/main" id="{4B01391C-4228-4169-902B-C315B1331E51}"/>
              </a:ext>
            </a:extLst>
          </p:cNvPr>
          <p:cNvSpPr>
            <a:spLocks xmlns:a="http://schemas.openxmlformats.org/drawingml/2006/main" noGrp="1"/>
          </p:cNvSpPr>
          <p:nvPr/>
        </p:nvSpPr>
        <p:spPr>
          <a:xfrm xmlns:a="http://schemas.openxmlformats.org/drawingml/2006/main">
            <a:off x="800100" y="445770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B060FCF-7376-481E-B8F8-86AF182EC61A}"/>
              </a:ext>
            </a:extLst>
          </p:cNvPr>
          <p:cNvSpPr>
            <a:spLocks xmlns:a="http://schemas.openxmlformats.org/drawingml/2006/main" noGrp="1"/>
          </p:cNvSpPr>
          <p:nvPr/>
        </p:nvSpPr>
        <p:spPr>
          <a:xfrm xmlns:a="http://schemas.openxmlformats.org/drawingml/2006/main">
            <a:off x="800100" y="4591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3C95998A-06F7-4585-90E0-E3AB811868F8}"/>
              </a:ext>
            </a:extLst>
          </p:cNvPr>
          <p:cNvSpPr>
            <a:spLocks xmlns:a="http://schemas.openxmlformats.org/drawingml/2006/main" noGrp="1"/>
          </p:cNvSpPr>
          <p:nvPr/>
        </p:nvSpPr>
        <p:spPr>
          <a:xfrm xmlns:a="http://schemas.openxmlformats.org/drawingml/2006/main">
            <a:off x="2686050" y="45910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A: 90% of 20; otherwise 36   |   B: 25 for sure</a:t>
            </a:r>
          </a:p>
        </p:txBody>
      </p:sp>
      <p:sp>
        <p:nvSpPr>
          <p:cNvPr id="37" name="">
            <a:extLst xmlns:a="http://schemas.openxmlformats.org/drawingml/2006/main">
              <a:ext uri="{FF2B5EF4-FFF2-40B4-BE49-F238E27FC236}">
                <a16:creationId xmlns:a16="http://schemas.microsoft.com/office/drawing/2014/main" id="{E7C51F07-6A6D-47B9-BF3E-F9A784A47DEB}"/>
              </a:ext>
            </a:extLst>
          </p:cNvPr>
          <p:cNvSpPr>
            <a:spLocks xmlns:a="http://schemas.openxmlformats.org/drawingml/2006/main" noGrp="1"/>
          </p:cNvSpPr>
          <p:nvPr/>
        </p:nvSpPr>
        <p:spPr>
          <a:xfrm xmlns:a="http://schemas.openxmlformats.org/drawingml/2006/main">
            <a:off x="10287000" y="45910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A</a:t>
            </a:r>
          </a:p>
        </p:txBody>
      </p:sp>
      <p:sp>
        <p:nvSpPr>
          <p:cNvPr id="38" name="">
            <a:extLst xmlns:a="http://schemas.openxmlformats.org/drawingml/2006/main">
              <a:ext uri="{FF2B5EF4-FFF2-40B4-BE49-F238E27FC236}">
                <a16:creationId xmlns:a16="http://schemas.microsoft.com/office/drawing/2014/main" id="{E76881EB-191A-4092-A861-41E11B572418}"/>
              </a:ext>
            </a:extLst>
          </p:cNvPr>
          <p:cNvSpPr>
            <a:spLocks xmlns:a="http://schemas.openxmlformats.org/drawingml/2006/main" noGrp="1"/>
          </p:cNvSpPr>
          <p:nvPr/>
        </p:nvSpPr>
        <p:spPr>
          <a:xfrm xmlns:a="http://schemas.openxmlformats.org/drawingml/2006/main">
            <a:off x="800100" y="49720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0B0195D0-2100-4E26-91AF-EFA7F3E17EC9}"/>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BDD5B81D-C3F8-47A9-A606-DD3AA530F28A}"/>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target remains trial 21; history length controls how many earlier P025 trials enter context.</a:t>
            </a:r>
          </a:p>
        </p:txBody>
      </p:sp>
    </p:spTree>
    <p:extLst>
      <p:ext uri="{BB962C8B-B14F-4D97-AF65-F5344CB8AC3E}">
        <p14:creationId xmlns:p14="http://schemas.microsoft.com/office/powerpoint/2010/main" val="129418520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D81EABE8-9570-4809-9D39-A8BED2DE892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control matrix identifies why examples helped</a:t>
            </a:r>
          </a:p>
        </p:txBody>
      </p:sp>
      <p:sp>
        <p:nvSpPr>
          <p:cNvPr id="2" name="">
            <a:extLst xmlns:a="http://schemas.openxmlformats.org/drawingml/2006/main">
              <a:ext uri="{FF2B5EF4-FFF2-40B4-BE49-F238E27FC236}">
                <a16:creationId xmlns:a16="http://schemas.microsoft.com/office/drawing/2014/main" id="{1E305029-4240-4D7A-9DC5-6BB60D7A43D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 diagnosis</a:t>
            </a:r>
          </a:p>
        </p:txBody>
      </p:sp>
      <p:sp>
        <p:nvSpPr>
          <p:cNvPr id="3" name="">
            <a:extLst xmlns:a="http://schemas.openxmlformats.org/drawingml/2006/main">
              <a:ext uri="{FF2B5EF4-FFF2-40B4-BE49-F238E27FC236}">
                <a16:creationId xmlns:a16="http://schemas.microsoft.com/office/drawing/2014/main" id="{B5762DFB-E834-4FBE-8717-EF806605235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87B55DB-4289-40CC-B281-10D1D3922E8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3F16E84E-5459-4CC0-A859-0820C747504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830BB58-1034-4427-95EB-9426BF82C95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6AE04EC-4BF3-4DF7-A9FB-E84DFC677613}"/>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ED3D32-26BC-4439-A6C2-CC8B4683C1F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DD7EED7-90E6-480E-AC04-EFCBB2DE362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726E1F-865C-4B10-92FB-D06C3853489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1E20A37-80A6-479A-9224-294768047A2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F1EFF7E-AC1A-416F-8339-A4C134432F2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8A041E0-C42A-440C-9C49-EEF5C7FF723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76FBAE5-386A-49EF-B011-B2561404EC2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0E1EBF8-A669-4202-A502-1A0D5B5159F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Participant-level in-context learning controls</a:t>
            </a:r>
          </a:p>
        </p:txBody>
      </p:sp>
      <p:sp>
        <p:nvSpPr>
          <p:cNvPr id="16" name="">
            <a:extLst xmlns:a="http://schemas.openxmlformats.org/drawingml/2006/main">
              <a:ext uri="{FF2B5EF4-FFF2-40B4-BE49-F238E27FC236}">
                <a16:creationId xmlns:a16="http://schemas.microsoft.com/office/drawing/2014/main" id="{BA5851C2-F3D3-4884-B652-F09CB19165B8}"/>
              </a:ext>
            </a:extLst>
          </p:cNvPr>
          <p:cNvSpPr>
            <a:spLocks xmlns:a="http://schemas.openxmlformats.org/drawingml/2006/main" noGrp="1"/>
          </p:cNvSpPr>
          <p:nvPr/>
        </p:nvSpPr>
        <p:spPr>
          <a:xfrm xmlns:a="http://schemas.openxmlformats.org/drawingml/2006/main">
            <a:off x="4038600" y="2019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Trial-choice pairing intact</a:t>
            </a:r>
          </a:p>
        </p:txBody>
      </p:sp>
      <p:sp>
        <p:nvSpPr>
          <p:cNvPr id="17" name="">
            <a:extLst xmlns:a="http://schemas.openxmlformats.org/drawingml/2006/main">
              <a:ext uri="{FF2B5EF4-FFF2-40B4-BE49-F238E27FC236}">
                <a16:creationId xmlns:a16="http://schemas.microsoft.com/office/drawing/2014/main" id="{5D3F1252-2B7F-4172-9D8D-49CA1E453B44}"/>
              </a:ext>
            </a:extLst>
          </p:cNvPr>
          <p:cNvSpPr>
            <a:spLocks xmlns:a="http://schemas.openxmlformats.org/drawingml/2006/main" noGrp="1"/>
          </p:cNvSpPr>
          <p:nvPr/>
        </p:nvSpPr>
        <p:spPr>
          <a:xfrm xmlns:a="http://schemas.openxmlformats.org/drawingml/2006/main">
            <a:off x="7696200" y="20193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Choices shuffled across trials</a:t>
            </a:r>
          </a:p>
        </p:txBody>
      </p:sp>
      <p:sp>
        <p:nvSpPr>
          <p:cNvPr id="18" name="">
            <a:extLst xmlns:a="http://schemas.openxmlformats.org/drawingml/2006/main">
              <a:ext uri="{FF2B5EF4-FFF2-40B4-BE49-F238E27FC236}">
                <a16:creationId xmlns:a16="http://schemas.microsoft.com/office/drawing/2014/main" id="{6F67389A-3C8A-43A7-A6A9-BC0750E2A6CD}"/>
              </a:ext>
            </a:extLst>
          </p:cNvPr>
          <p:cNvSpPr>
            <a:spLocks xmlns:a="http://schemas.openxmlformats.org/drawingml/2006/main" noGrp="1"/>
          </p:cNvSpPr>
          <p:nvPr/>
        </p:nvSpPr>
        <p:spPr>
          <a:xfrm xmlns:a="http://schemas.openxmlformats.org/drawingml/2006/main">
            <a:off x="800100" y="2647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P025's other trials</a:t>
            </a:r>
          </a:p>
        </p:txBody>
      </p:sp>
      <p:sp>
        <p:nvSpPr>
          <p:cNvPr id="19" name="">
            <a:extLst xmlns:a="http://schemas.openxmlformats.org/drawingml/2006/main">
              <a:ext uri="{FF2B5EF4-FFF2-40B4-BE49-F238E27FC236}">
                <a16:creationId xmlns:a16="http://schemas.microsoft.com/office/drawing/2014/main" id="{3A9AE2D1-C303-4F1E-ADC8-0AE0D60F29E5}"/>
              </a:ext>
            </a:extLst>
          </p:cNvPr>
          <p:cNvSpPr>
            <a:spLocks xmlns:a="http://schemas.openxmlformats.org/drawingml/2006/main" noGrp="1"/>
          </p:cNvSpPr>
          <p:nvPr/>
        </p:nvSpPr>
        <p:spPr>
          <a:xfrm xmlns:a="http://schemas.openxmlformats.org/drawingml/2006/main">
            <a:off x="800100" y="369570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89"/>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Another participant's trials</a:t>
            </a:r>
          </a:p>
        </p:txBody>
      </p:sp>
      <p:sp>
        <p:nvSpPr>
          <p:cNvPr id="20" name="">
            <a:extLst xmlns:a="http://schemas.openxmlformats.org/drawingml/2006/main">
              <a:ext uri="{FF2B5EF4-FFF2-40B4-BE49-F238E27FC236}">
                <a16:creationId xmlns:a16="http://schemas.microsoft.com/office/drawing/2014/main" id="{47B8C309-1167-46DF-908E-936575F076CD}"/>
              </a:ext>
            </a:extLst>
          </p:cNvPr>
          <p:cNvSpPr>
            <a:spLocks xmlns:a="http://schemas.openxmlformats.org/drawingml/2006/main" noGrp="1"/>
          </p:cNvSpPr>
          <p:nvPr/>
        </p:nvSpPr>
        <p:spPr>
          <a:xfrm xmlns:a="http://schemas.openxmlformats.org/drawingml/2006/main">
            <a:off x="3467100" y="240030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7882475-38B8-424D-ADCE-AEE7C1C1AE19}"/>
              </a:ext>
            </a:extLst>
          </p:cNvPr>
          <p:cNvSpPr>
            <a:spLocks xmlns:a="http://schemas.openxmlformats.org/drawingml/2006/main" noGrp="1"/>
          </p:cNvSpPr>
          <p:nvPr/>
        </p:nvSpPr>
        <p:spPr>
          <a:xfrm xmlns:a="http://schemas.openxmlformats.org/drawingml/2006/main">
            <a:off x="3467100" y="340995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8A27BE6-F35F-4A99-ACB9-9EDA8E0AB452}"/>
              </a:ext>
            </a:extLst>
          </p:cNvPr>
          <p:cNvSpPr>
            <a:spLocks xmlns:a="http://schemas.openxmlformats.org/drawingml/2006/main" noGrp="1"/>
          </p:cNvSpPr>
          <p:nvPr/>
        </p:nvSpPr>
        <p:spPr>
          <a:xfrm xmlns:a="http://schemas.openxmlformats.org/drawingml/2006/main">
            <a:off x="3467100" y="443865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5124478-5BD6-4109-B1F8-662DA3D028ED}"/>
              </a:ext>
            </a:extLst>
          </p:cNvPr>
          <p:cNvSpPr>
            <a:spLocks xmlns:a="http://schemas.openxmlformats.org/drawingml/2006/main" noGrp="1"/>
          </p:cNvSpPr>
          <p:nvPr/>
        </p:nvSpPr>
        <p:spPr>
          <a:xfrm xmlns:a="http://schemas.openxmlformats.org/drawingml/2006/main">
            <a:off x="346710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36568B5-96C5-4031-A557-353B1A8136F2}"/>
              </a:ext>
            </a:extLst>
          </p:cNvPr>
          <p:cNvSpPr>
            <a:spLocks xmlns:a="http://schemas.openxmlformats.org/drawingml/2006/main" noGrp="1"/>
          </p:cNvSpPr>
          <p:nvPr/>
        </p:nvSpPr>
        <p:spPr>
          <a:xfrm xmlns:a="http://schemas.openxmlformats.org/drawingml/2006/main">
            <a:off x="721995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7AC45E8-3D16-40B1-B7AA-78DC091C3AC8}"/>
              </a:ext>
            </a:extLst>
          </p:cNvPr>
          <p:cNvSpPr>
            <a:spLocks xmlns:a="http://schemas.openxmlformats.org/drawingml/2006/main" noGrp="1"/>
          </p:cNvSpPr>
          <p:nvPr/>
        </p:nvSpPr>
        <p:spPr>
          <a:xfrm xmlns:a="http://schemas.openxmlformats.org/drawingml/2006/main">
            <a:off x="1095375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B655E29-2E9C-41E5-8E3C-0A19F37E9A3D}"/>
              </a:ext>
            </a:extLst>
          </p:cNvPr>
          <p:cNvSpPr>
            <a:spLocks xmlns:a="http://schemas.openxmlformats.org/drawingml/2006/main" noGrp="1"/>
          </p:cNvSpPr>
          <p:nvPr/>
        </p:nvSpPr>
        <p:spPr>
          <a:xfrm xmlns:a="http://schemas.openxmlformats.org/drawingml/2006/main">
            <a:off x="3886200" y="27241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same person + correct links</a:t>
            </a:r>
          </a:p>
        </p:txBody>
      </p:sp>
      <p:sp>
        <p:nvSpPr>
          <p:cNvPr id="27" name="">
            <a:extLst xmlns:a="http://schemas.openxmlformats.org/drawingml/2006/main">
              <a:ext uri="{FF2B5EF4-FFF2-40B4-BE49-F238E27FC236}">
                <a16:creationId xmlns:a16="http://schemas.microsoft.com/office/drawing/2014/main" id="{8F75DAA8-55D8-4B79-AD56-4D82CC645759}"/>
              </a:ext>
            </a:extLst>
          </p:cNvPr>
          <p:cNvSpPr>
            <a:spLocks xmlns:a="http://schemas.openxmlformats.org/drawingml/2006/main" noGrp="1"/>
          </p:cNvSpPr>
          <p:nvPr/>
        </p:nvSpPr>
        <p:spPr>
          <a:xfrm xmlns:a="http://schemas.openxmlformats.org/drawingml/2006/main">
            <a:off x="7658100" y="2724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same choices, links broken</a:t>
            </a:r>
          </a:p>
        </p:txBody>
      </p:sp>
      <p:sp>
        <p:nvSpPr>
          <p:cNvPr id="28" name="">
            <a:extLst xmlns:a="http://schemas.openxmlformats.org/drawingml/2006/main">
              <a:ext uri="{FF2B5EF4-FFF2-40B4-BE49-F238E27FC236}">
                <a16:creationId xmlns:a16="http://schemas.microsoft.com/office/drawing/2014/main" id="{00C5BA04-4199-42DD-84DC-E6F31469072C}"/>
              </a:ext>
            </a:extLst>
          </p:cNvPr>
          <p:cNvSpPr>
            <a:spLocks xmlns:a="http://schemas.openxmlformats.org/drawingml/2006/main" noGrp="1"/>
          </p:cNvSpPr>
          <p:nvPr/>
        </p:nvSpPr>
        <p:spPr>
          <a:xfrm xmlns:a="http://schemas.openxmlformats.org/drawingml/2006/main">
            <a:off x="3886200" y="37528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person changed</a:t>
            </a:r>
          </a:p>
        </p:txBody>
      </p:sp>
      <p:sp>
        <p:nvSpPr>
          <p:cNvPr id="29" name="">
            <a:extLst xmlns:a="http://schemas.openxmlformats.org/drawingml/2006/main">
              <a:ext uri="{FF2B5EF4-FFF2-40B4-BE49-F238E27FC236}">
                <a16:creationId xmlns:a16="http://schemas.microsoft.com/office/drawing/2014/main" id="{43051A2E-43F0-445F-BF7B-F5EE2CC46F03}"/>
              </a:ext>
            </a:extLst>
          </p:cNvPr>
          <p:cNvSpPr>
            <a:spLocks xmlns:a="http://schemas.openxmlformats.org/drawingml/2006/main" noGrp="1"/>
          </p:cNvSpPr>
          <p:nvPr/>
        </p:nvSpPr>
        <p:spPr>
          <a:xfrm xmlns:a="http://schemas.openxmlformats.org/drawingml/2006/main">
            <a:off x="7658100" y="3752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person + links changed</a:t>
            </a:r>
          </a:p>
        </p:txBody>
      </p:sp>
      <p:sp>
        <p:nvSpPr>
          <p:cNvPr id="30" name="">
            <a:extLst xmlns:a="http://schemas.openxmlformats.org/drawingml/2006/main">
              <a:ext uri="{FF2B5EF4-FFF2-40B4-BE49-F238E27FC236}">
                <a16:creationId xmlns:a16="http://schemas.microsoft.com/office/drawing/2014/main" id="{7040E06F-A0CB-42A5-B597-CCB0FB1BAB9C}"/>
              </a:ext>
            </a:extLst>
          </p:cNvPr>
          <p:cNvSpPr>
            <a:spLocks xmlns:a="http://schemas.openxmlformats.org/drawingml/2006/main" noGrp="1"/>
          </p:cNvSpPr>
          <p:nvPr/>
        </p:nvSpPr>
        <p:spPr>
          <a:xfrm xmlns:a="http://schemas.openxmlformats.org/drawingml/2006/main">
            <a:off x="3467100" y="45910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Column contrast: trial-choice correspondence</a:t>
            </a:r>
          </a:p>
        </p:txBody>
      </p:sp>
      <p:sp>
        <p:nvSpPr>
          <p:cNvPr id="31" name="">
            <a:extLst xmlns:a="http://schemas.openxmlformats.org/drawingml/2006/main">
              <a:ext uri="{FF2B5EF4-FFF2-40B4-BE49-F238E27FC236}">
                <a16:creationId xmlns:a16="http://schemas.microsoft.com/office/drawing/2014/main" id="{8249AC97-EBB1-489B-883A-7B223DFFABFA}"/>
              </a:ext>
            </a:extLst>
          </p:cNvPr>
          <p:cNvSpPr>
            <a:spLocks xmlns:a="http://schemas.openxmlformats.org/drawingml/2006/main" noGrp="1"/>
          </p:cNvSpPr>
          <p:nvPr/>
        </p:nvSpPr>
        <p:spPr>
          <a:xfrm xmlns:a="http://schemas.openxmlformats.org/drawingml/2006/main">
            <a:off x="7429500" y="45910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Row contrast: participant specificity</a:t>
            </a:r>
          </a:p>
        </p:txBody>
      </p:sp>
      <p:sp>
        <p:nvSpPr>
          <p:cNvPr id="32" name="">
            <a:extLst xmlns:a="http://schemas.openxmlformats.org/drawingml/2006/main">
              <a:ext uri="{FF2B5EF4-FFF2-40B4-BE49-F238E27FC236}">
                <a16:creationId xmlns:a16="http://schemas.microsoft.com/office/drawing/2014/main" id="{C37C0596-5F81-4E5E-AED6-52124DD74A80}"/>
              </a:ext>
            </a:extLst>
          </p:cNvPr>
          <p:cNvSpPr>
            <a:spLocks xmlns:a="http://schemas.openxmlformats.org/drawingml/2006/main" noGrp="1"/>
          </p:cNvSpPr>
          <p:nvPr/>
        </p:nvSpPr>
        <p:spPr>
          <a:xfrm xmlns:a="http://schemas.openxmlformats.org/drawingml/2006/main">
            <a:off x="800100" y="50101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A8544A95-ACAA-4FAA-821F-AAC87FB4DD10}"/>
              </a:ext>
            </a:extLst>
          </p:cNvPr>
          <p:cNvSpPr>
            <a:spLocks xmlns:a="http://schemas.openxmlformats.org/drawingml/2006/main" noGrp="1"/>
          </p:cNvSpPr>
          <p:nvPr/>
        </p:nvSpPr>
        <p:spPr>
          <a:xfrm xmlns:a="http://schemas.openxmlformats.org/drawingml/2006/main">
            <a:off x="800100" y="51625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Separate control</a:t>
            </a:r>
          </a:p>
        </p:txBody>
      </p:sp>
      <p:sp>
        <p:nvSpPr>
          <p:cNvPr id="34" name="">
            <a:extLst xmlns:a="http://schemas.openxmlformats.org/drawingml/2006/main">
              <a:ext uri="{FF2B5EF4-FFF2-40B4-BE49-F238E27FC236}">
                <a16:creationId xmlns:a16="http://schemas.microsoft.com/office/drawing/2014/main" id="{804872F2-A75A-4978-A13F-9B4A2B183F9C}"/>
              </a:ext>
            </a:extLst>
          </p:cNvPr>
          <p:cNvSpPr>
            <a:spLocks xmlns:a="http://schemas.openxmlformats.org/drawingml/2006/main" noGrp="1"/>
          </p:cNvSpPr>
          <p:nvPr/>
        </p:nvSpPr>
        <p:spPr>
          <a:xfrm xmlns:a="http://schemas.openxmlformats.org/drawingml/2006/main">
            <a:off x="2667000" y="51244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Swap A/B positions → test label or position bias</a:t>
            </a:r>
          </a:p>
        </p:txBody>
      </p:sp>
    </p:spTree>
    <p:extLst>
      <p:ext uri="{BB962C8B-B14F-4D97-AF65-F5344CB8AC3E}">
        <p14:creationId xmlns:p14="http://schemas.microsoft.com/office/powerpoint/2010/main" val="51068860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6DECCDF-4D04-44C9-82A1-42BAE76314A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split determines the personalization claim</a:t>
            </a:r>
          </a:p>
        </p:txBody>
      </p:sp>
      <p:sp>
        <p:nvSpPr>
          <p:cNvPr id="2" name="">
            <a:extLst xmlns:a="http://schemas.openxmlformats.org/drawingml/2006/main">
              <a:ext uri="{FF2B5EF4-FFF2-40B4-BE49-F238E27FC236}">
                <a16:creationId xmlns:a16="http://schemas.microsoft.com/office/drawing/2014/main" id="{279543BE-7A8D-4468-AB83-F8D633D6B60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evaluation</a:t>
            </a:r>
          </a:p>
        </p:txBody>
      </p:sp>
      <p:sp>
        <p:nvSpPr>
          <p:cNvPr id="3" name="">
            <a:extLst xmlns:a="http://schemas.openxmlformats.org/drawingml/2006/main">
              <a:ext uri="{FF2B5EF4-FFF2-40B4-BE49-F238E27FC236}">
                <a16:creationId xmlns:a16="http://schemas.microsoft.com/office/drawing/2014/main" id="{E1F7FC77-73C4-4348-A8CC-6E75717446E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B2BF5E-ACE3-4FE7-9D35-966A56E1B41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E80B9B6D-7637-464A-A7CE-0DEE8ACFCD2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34B77E-35B3-41D0-9F5A-74364F481B9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6990A77-559F-403D-A9A1-04C77B6A497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5E8A9F7-B58B-4BEF-9783-E3D3A558B59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B028EEE-62A5-4C90-9AB0-3757037FFDD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8757AAD-9CCF-400A-9337-940C2C21A7D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AEEAD02-79B0-4C8E-94FF-A07B8524CE5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703F923-3331-4369-BC84-12EF590CA58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32E90E2-E8E6-4DC0-8D11-18C14FE9578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031A8B-0C02-4C11-A6D1-94A31390D11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D925A583-CE4E-4D23-AE6C-D01AFAFD4013}"/>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Temporal split</a:t>
            </a:r>
          </a:p>
        </p:txBody>
      </p:sp>
      <p:sp>
        <p:nvSpPr>
          <p:cNvPr id="16" name="">
            <a:extLst xmlns:a="http://schemas.openxmlformats.org/drawingml/2006/main">
              <a:ext uri="{FF2B5EF4-FFF2-40B4-BE49-F238E27FC236}">
                <a16:creationId xmlns:a16="http://schemas.microsoft.com/office/drawing/2014/main" id="{96BC3E08-CBB2-4189-B1F7-0468269FD72D}"/>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Future P025 choices after earlier P025 history</a:t>
            </a:r>
          </a:p>
        </p:txBody>
      </p:sp>
      <p:sp>
        <p:nvSpPr>
          <p:cNvPr id="17" name="">
            <a:extLst xmlns:a="http://schemas.openxmlformats.org/drawingml/2006/main">
              <a:ext uri="{FF2B5EF4-FFF2-40B4-BE49-F238E27FC236}">
                <a16:creationId xmlns:a16="http://schemas.microsoft.com/office/drawing/2014/main" id="{8F18DE86-D3F6-4BE8-B0A7-C10584DEC0DC}"/>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37D597F-3F82-4FF7-9E0F-FD447EF6D3AF}"/>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Participant split</a:t>
            </a:r>
          </a:p>
        </p:txBody>
      </p:sp>
      <p:sp>
        <p:nvSpPr>
          <p:cNvPr id="19" name="">
            <a:extLst xmlns:a="http://schemas.openxmlformats.org/drawingml/2006/main">
              <a:ext uri="{FF2B5EF4-FFF2-40B4-BE49-F238E27FC236}">
                <a16:creationId xmlns:a16="http://schemas.microsoft.com/office/drawing/2014/main" id="{6485FA71-EFD9-4424-B46C-6D4B59281297}"/>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Entirely new people never seen in training</a:t>
            </a:r>
          </a:p>
        </p:txBody>
      </p:sp>
      <p:sp>
        <p:nvSpPr>
          <p:cNvPr id="20" name="">
            <a:extLst xmlns:a="http://schemas.openxmlformats.org/drawingml/2006/main">
              <a:ext uri="{FF2B5EF4-FFF2-40B4-BE49-F238E27FC236}">
                <a16:creationId xmlns:a16="http://schemas.microsoft.com/office/drawing/2014/main" id="{7950588E-F43F-4075-8D44-D82068C88AD3}"/>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EE54AD4-E0ED-4C87-BE78-A2A04E1AE7B3}"/>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Task split</a:t>
            </a:r>
          </a:p>
        </p:txBody>
      </p:sp>
      <p:sp>
        <p:nvSpPr>
          <p:cNvPr id="22" name="">
            <a:extLst xmlns:a="http://schemas.openxmlformats.org/drawingml/2006/main">
              <a:ext uri="{FF2B5EF4-FFF2-40B4-BE49-F238E27FC236}">
                <a16:creationId xmlns:a16="http://schemas.microsoft.com/office/drawing/2014/main" id="{AC60EA72-6AAE-4EA4-A6E9-E5B8E6E2959A}"/>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New risky-choice environments or formats</a:t>
            </a:r>
          </a:p>
        </p:txBody>
      </p:sp>
      <p:sp>
        <p:nvSpPr>
          <p:cNvPr id="23" name="">
            <a:extLst xmlns:a="http://schemas.openxmlformats.org/drawingml/2006/main">
              <a:ext uri="{FF2B5EF4-FFF2-40B4-BE49-F238E27FC236}">
                <a16:creationId xmlns:a16="http://schemas.microsoft.com/office/drawing/2014/main" id="{C6A5F7AB-42BE-4663-A182-FA9BD0A49C96}"/>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D14C078-6D15-4DC1-9694-F2691E2A1616}"/>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Trial split</a:t>
            </a:r>
          </a:p>
        </p:txBody>
      </p:sp>
      <p:sp>
        <p:nvSpPr>
          <p:cNvPr id="25" name="">
            <a:extLst xmlns:a="http://schemas.openxmlformats.org/drawingml/2006/main">
              <a:ext uri="{FF2B5EF4-FFF2-40B4-BE49-F238E27FC236}">
                <a16:creationId xmlns:a16="http://schemas.microsoft.com/office/drawing/2014/main" id="{E5C9DA8B-7781-4FCE-9DEF-B51B0AEE7339}"/>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New trials for already observed participants</a:t>
            </a:r>
          </a:p>
        </p:txBody>
      </p:sp>
      <p:sp>
        <p:nvSpPr>
          <p:cNvPr id="26" name="">
            <a:extLst xmlns:a="http://schemas.openxmlformats.org/drawingml/2006/main">
              <a:ext uri="{FF2B5EF4-FFF2-40B4-BE49-F238E27FC236}">
                <a16:creationId xmlns:a16="http://schemas.microsoft.com/office/drawing/2014/main" id="{11A01EF9-5228-4D49-9F75-C8D3F8246A72}"/>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85A3CAB-7D4A-40A2-973F-880D7F5F001D}"/>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622E801-CF37-4AD2-AF54-B7B78A4B9B58}"/>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Participant leakage can make personalization look stronger than it is.</a:t>
            </a:r>
          </a:p>
        </p:txBody>
      </p:sp>
    </p:spTree>
    <p:extLst>
      <p:ext uri="{BB962C8B-B14F-4D97-AF65-F5344CB8AC3E}">
        <p14:creationId xmlns:p14="http://schemas.microsoft.com/office/powerpoint/2010/main" val="164271984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CBF7A72-62EE-456F-9431-92EF99071472}"/>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1B</a:t>
            </a:r>
          </a:p>
        </p:txBody>
      </p:sp>
      <p:sp>
        <p:nvSpPr>
          <p:cNvPr id="2" name="">
            <a:extLst xmlns:a="http://schemas.openxmlformats.org/drawingml/2006/main">
              <a:ext uri="{FF2B5EF4-FFF2-40B4-BE49-F238E27FC236}">
                <a16:creationId xmlns:a16="http://schemas.microsoft.com/office/drawing/2014/main" id="{EA32F930-2BEC-4449-92C4-E1360592F8A1}"/>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Turn one prediction into a learning curve</a:t>
            </a:r>
          </a:p>
        </p:txBody>
      </p:sp>
      <p:sp>
        <p:nvSpPr>
          <p:cNvPr id="3" name="">
            <a:extLst xmlns:a="http://schemas.openxmlformats.org/drawingml/2006/main">
              <a:ext uri="{FF2B5EF4-FFF2-40B4-BE49-F238E27FC236}">
                <a16:creationId xmlns:a16="http://schemas.microsoft.com/office/drawing/2014/main" id="{95AFEE8A-5854-4873-AD03-F446C01460F7}"/>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8246F6-BC2F-4F80-8175-33606A50FF08}"/>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DB50FA3D-985A-4736-A2B4-9FD7210FBAB1}"/>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notebooks/01_prediction_from_zero_shot_to_icl.ipynb</a:t>
            </a:r>
          </a:p>
        </p:txBody>
      </p:sp>
      <p:sp>
        <p:nvSpPr>
          <p:cNvPr id="6" name="">
            <a:extLst xmlns:a="http://schemas.openxmlformats.org/drawingml/2006/main">
              <a:ext uri="{FF2B5EF4-FFF2-40B4-BE49-F238E27FC236}">
                <a16:creationId xmlns:a16="http://schemas.microsoft.com/office/drawing/2014/main" id="{D63A59DE-5892-47A6-B128-9CBBA955CEFE}"/>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34B6D44F-DEDB-401C-9C62-BDC905714DD6}"/>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Section 5: Move from one example to a learning curve</a:t>
            </a:r>
          </a:p>
        </p:txBody>
      </p:sp>
      <p:sp>
        <p:nvSpPr>
          <p:cNvPr id="8" name="">
            <a:extLst xmlns:a="http://schemas.openxmlformats.org/drawingml/2006/main">
              <a:ext uri="{FF2B5EF4-FFF2-40B4-BE49-F238E27FC236}">
                <a16:creationId xmlns:a16="http://schemas.microsoft.com/office/drawing/2014/main" id="{71E1EA6B-273E-48AC-B623-ADBE7FAC28D1}"/>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5D49110-573F-4474-B847-1E11032D6256}"/>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0847F321-85C5-4A27-860A-7D2DFAFFDCDD}"/>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39F173EE-65AF-4562-9CE1-CB4482EE023F}"/>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14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Increase the number of same-person history trials</a:t>
            </a:r>
          </a:p>
        </p:txBody>
      </p:sp>
      <p:sp>
        <p:nvSpPr>
          <p:cNvPr id="12" name="">
            <a:extLst xmlns:a="http://schemas.openxmlformats.org/drawingml/2006/main">
              <a:ext uri="{FF2B5EF4-FFF2-40B4-BE49-F238E27FC236}">
                <a16:creationId xmlns:a16="http://schemas.microsoft.com/office/drawing/2014/main" id="{BEF6D769-2836-4DDF-9E31-153B8994FD4E}"/>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E1814D01-38FF-49B3-B638-0828185D1A0A}"/>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021"/>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Keep the failed pilot and diagnose its imbalance</a:t>
            </a:r>
          </a:p>
        </p:txBody>
      </p:sp>
      <p:sp>
        <p:nvSpPr>
          <p:cNvPr id="14" name="">
            <a:extLst xmlns:a="http://schemas.openxmlformats.org/drawingml/2006/main">
              <a:ext uri="{FF2B5EF4-FFF2-40B4-BE49-F238E27FC236}">
                <a16:creationId xmlns:a16="http://schemas.microsoft.com/office/drawing/2014/main" id="{47776C45-6EEE-4353-8A80-08D8AA50C273}"/>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64036EA1-6E21-47F4-8557-B4E41CD52201}"/>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Balance histories and targets, then extend k</a:t>
            </a:r>
          </a:p>
        </p:txBody>
      </p:sp>
      <p:sp>
        <p:nvSpPr>
          <p:cNvPr id="16" name="">
            <a:extLst xmlns:a="http://schemas.openxmlformats.org/drawingml/2006/main">
              <a:ext uri="{FF2B5EF4-FFF2-40B4-BE49-F238E27FC236}">
                <a16:creationId xmlns:a16="http://schemas.microsoft.com/office/drawing/2014/main" id="{26FAC1AB-5029-411D-9A63-4C3DC28EAB2A}"/>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A058CFB4-AB8A-4AA5-BEEF-BC2470FF2061}"/>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Compare the three participant-level curves</a:t>
            </a:r>
          </a:p>
        </p:txBody>
      </p:sp>
      <p:sp>
        <p:nvSpPr>
          <p:cNvPr id="18" name="">
            <a:extLst xmlns:a="http://schemas.openxmlformats.org/drawingml/2006/main">
              <a:ext uri="{FF2B5EF4-FFF2-40B4-BE49-F238E27FC236}">
                <a16:creationId xmlns:a16="http://schemas.microsoft.com/office/drawing/2014/main" id="{5F926E23-C490-4AA8-9D31-E063EB111BC3}"/>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AE30F8AA-C1BD-4EA3-826C-19F1BBFCFC4F}"/>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After: The average hides heterogeneous trajectories</a:t>
            </a:r>
          </a:p>
        </p:txBody>
      </p:sp>
      <p:sp>
        <p:nvSpPr>
          <p:cNvPr id="20" name="">
            <a:extLst xmlns:a="http://schemas.openxmlformats.org/drawingml/2006/main">
              <a:ext uri="{FF2B5EF4-FFF2-40B4-BE49-F238E27FC236}">
                <a16:creationId xmlns:a16="http://schemas.microsoft.com/office/drawing/2014/main" id="{BE8E8A73-7A99-4324-9A7E-3ECB05692A26}"/>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FC3C26F-08BA-40A9-8547-4CC695807430}"/>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A first attempt produces a suspicious learning curve</a:t>
            </a:r>
          </a:p>
        </p:txBody>
      </p:sp>
      <p:sp>
        <p:nvSpPr>
          <p:cNvPr id="22" name="">
            <a:extLst xmlns:a="http://schemas.openxmlformats.org/drawingml/2006/main">
              <a:ext uri="{FF2B5EF4-FFF2-40B4-BE49-F238E27FC236}">
                <a16:creationId xmlns:a16="http://schemas.microsoft.com/office/drawing/2014/main" id="{9826FB6E-1284-4EF9-B903-AC1BCED3C4F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33D8A79-F595-4FD1-9E85-E1767CB1EF1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95FE1949-3F57-4043-9B33-3F14A77250D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B41946F-54FD-4843-889D-FC48B556721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E13D4F2C-EA91-4384-BF03-030449094AD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AE036D9-2720-4DD1-B40F-EC8CC601D3D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2E82014F-8A6F-475B-8204-89A464C9D70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5DB2CD8-B8F7-49CF-A0FC-0E222B4F298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29FCD2DB-7533-4ADD-92F8-D8F0B8066B7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9FF166E-7BF3-4985-9536-22759ED6826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74392299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342F049-385A-4573-AA8E-CD3FBFDD4F3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first attempt produces a suspicious learning curve</a:t>
            </a:r>
          </a:p>
        </p:txBody>
      </p:sp>
      <p:sp>
        <p:nvSpPr>
          <p:cNvPr id="2" name="">
            <a:extLst xmlns:a="http://schemas.openxmlformats.org/drawingml/2006/main">
              <a:ext uri="{FF2B5EF4-FFF2-40B4-BE49-F238E27FC236}">
                <a16:creationId xmlns:a16="http://schemas.microsoft.com/office/drawing/2014/main" id="{C3EE45AE-01AC-43B5-BE8D-A9BB2C55A97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 / failed pilot</a:t>
            </a:r>
          </a:p>
        </p:txBody>
      </p:sp>
      <p:sp>
        <p:nvSpPr>
          <p:cNvPr id="3" name="">
            <a:extLst xmlns:a="http://schemas.openxmlformats.org/drawingml/2006/main">
              <a:ext uri="{FF2B5EF4-FFF2-40B4-BE49-F238E27FC236}">
                <a16:creationId xmlns:a16="http://schemas.microsoft.com/office/drawing/2014/main" id="{E74225DE-B52C-4214-89D3-124F9FC274A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3042C3F-9C8F-44D6-BE96-4B72BB9F03A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F55D34AC-F2B2-4B80-8E99-3EEE5A3C192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5E35297-BD5D-47EC-8CD2-3B03DD541B3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3C3A469-310E-456A-9B52-D1611C25E9BC}"/>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9DBBA23-E711-42AF-BA14-A4E9E5A4936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41188C5-E578-428B-9AF8-17B8F66034A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3BB99F5-EC8D-4DD5-977F-871CF50444E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036D5AE-392E-47FD-AC52-008E29831EF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9162BA6-3B0A-40D6-99E3-9AA9868921F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7544262-33A8-4D0E-B981-BF9A941D968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0E41BFF-E55A-4428-98CF-689468912C6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13A0866-1A74-4DD7-B68A-FCDB8242A443}"/>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Unbalanced pipeline check / 2 participants x 4 targets</a:t>
            </a:r>
          </a:p>
        </p:txBody>
      </p:sp>
      <p:sp>
        <p:nvSpPr>
          <p:cNvPr id="16" name="">
            <a:extLst xmlns:a="http://schemas.openxmlformats.org/drawingml/2006/main">
              <a:ext uri="{FF2B5EF4-FFF2-40B4-BE49-F238E27FC236}">
                <a16:creationId xmlns:a16="http://schemas.microsoft.com/office/drawing/2014/main" id="{8D665D8B-E680-4DF0-A4E0-939AEDEE2FA4}"/>
              </a:ext>
            </a:extLst>
          </p:cNvPr>
          <p:cNvSpPr>
            <a:spLocks xmlns:a="http://schemas.openxmlformats.org/drawingml/2006/main" noGrp="1"/>
          </p:cNvSpPr>
          <p:nvPr/>
        </p:nvSpPr>
        <p:spPr>
          <a:xfrm xmlns:a="http://schemas.openxmlformats.org/drawingml/2006/main">
            <a:off x="800100" y="203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Mean held-out log loss</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c4e3bcd527e4fc3"/>
          <a:stretch xmlns:a="http://schemas.openxmlformats.org/drawingml/2006/main"/>
        </p:blipFill>
        <p:spPr>
          <a:xfrm xmlns:a="http://schemas.openxmlformats.org/drawingml/2006/main">
            <a:off x="781050" y="2362200"/>
            <a:ext cx="9201150" cy="28003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D1498FE4-7814-4736-ABA6-EC30CC3D1E54}"/>
              </a:ext>
            </a:extLst>
          </p:cNvPr>
          <p:cNvSpPr>
            <a:spLocks xmlns:a="http://schemas.openxmlformats.org/drawingml/2006/main" noGrp="1"/>
          </p:cNvSpPr>
          <p:nvPr/>
        </p:nvSpPr>
        <p:spPr>
          <a:xfrm xmlns:a="http://schemas.openxmlformats.org/drawingml/2006/main">
            <a:off x="7010400" y="2114550"/>
            <a:ext cx="323850" cy="19050"/>
          </a:xfrm>
          <a:prstGeom xmlns:a="http://schemas.openxmlformats.org/drawingml/2006/main" prst="rect">
            <a:avLst/>
          </a:prstGeom>
          <a:solidFill xmlns:a="http://schemas.openxmlformats.org/drawingml/2006/main">
            <a:srgbClr val="AEB8C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109B1BA-172E-4195-9597-483570540FF2}"/>
              </a:ext>
            </a:extLst>
          </p:cNvPr>
          <p:cNvSpPr>
            <a:spLocks xmlns:a="http://schemas.openxmlformats.org/drawingml/2006/main" noGrp="1"/>
          </p:cNvSpPr>
          <p:nvPr/>
        </p:nvSpPr>
        <p:spPr>
          <a:xfrm xmlns:a="http://schemas.openxmlformats.org/drawingml/2006/main">
            <a:off x="7448550" y="198120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Random choice: ln(2) = 0.693</a:t>
            </a:r>
          </a:p>
        </p:txBody>
      </p:sp>
      <p:sp>
        <p:nvSpPr>
          <p:cNvPr id="20" name="">
            <a:extLst xmlns:a="http://schemas.openxmlformats.org/drawingml/2006/main">
              <a:ext uri="{FF2B5EF4-FFF2-40B4-BE49-F238E27FC236}">
                <a16:creationId xmlns:a16="http://schemas.microsoft.com/office/drawing/2014/main" id="{9E7CF9B9-894A-4FCE-AC84-C0C2E55018BC}"/>
              </a:ext>
            </a:extLst>
          </p:cNvPr>
          <p:cNvSpPr>
            <a:spLocks xmlns:a="http://schemas.openxmlformats.org/drawingml/2006/main" noGrp="1"/>
          </p:cNvSpPr>
          <p:nvPr/>
        </p:nvSpPr>
        <p:spPr>
          <a:xfrm xmlns:a="http://schemas.openxmlformats.org/drawingml/2006/main">
            <a:off x="3390900" y="52197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Number of earlier P025/P026 trials in context</a:t>
            </a:r>
          </a:p>
        </p:txBody>
      </p:sp>
      <p:sp>
        <p:nvSpPr>
          <p:cNvPr id="21" name="">
            <a:extLst xmlns:a="http://schemas.openxmlformats.org/drawingml/2006/main">
              <a:ext uri="{FF2B5EF4-FFF2-40B4-BE49-F238E27FC236}">
                <a16:creationId xmlns:a16="http://schemas.microsoft.com/office/drawing/2014/main" id="{D361AEA4-696D-49DE-AE3A-E998474472DD}"/>
              </a:ext>
            </a:extLst>
          </p:cNvPr>
          <p:cNvSpPr>
            <a:spLocks xmlns:a="http://schemas.openxmlformats.org/drawingml/2006/main" noGrp="1"/>
          </p:cNvSpPr>
          <p:nvPr/>
        </p:nvSpPr>
        <p:spPr>
          <a:xfrm xmlns:a="http://schemas.openxmlformats.org/drawingml/2006/main">
            <a:off x="10210800" y="2647950"/>
            <a:ext cx="12573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Targets:</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7 B / 1 A</a:t>
            </a:r>
          </a:p>
          <a:p xmlns:a="http://schemas.openxmlformats.org/drawingml/2006/main">
            <a:r>
              <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20 earlier trials:</a:t>
            </a:r>
          </a:p>
          <a:p xmlns:a="http://schemas.openxmlformats.org/drawingml/2006/main">
            <a:pPr algn="ctr">
              <a:lnSpc>
                <a:spcPct val="115000"/>
              </a:lnSpc>
              <a:buNone/>
              <a:defRPr sz="1350" b="1" i="0">
                <a:solidFill>
                  <a:srgbClr val="8A3B35"/>
                </a:solidFill>
                <a:latin typeface="Arial"/>
                <a:ea typeface="Arial"/>
                <a:cs typeface="Arial"/>
              </a:defRPr>
            </a:pPr>
            <a:r>
              <a:rPr sz="1350" b="1" i="0">
                <a:solidFill>
                  <a:srgbClr val="8A3B35"/>
                </a:solidFill>
                <a:latin typeface="Arial"/>
                <a:ea typeface="Arial"/>
                <a:cs typeface="Arial"/>
              </a:rPr>
              <a:t>15 B / 25 A</a:t>
            </a:r>
          </a:p>
        </p:txBody>
      </p:sp>
      <p:sp>
        <p:nvSpPr>
          <p:cNvPr id="22" name="">
            <a:extLst xmlns:a="http://schemas.openxmlformats.org/drawingml/2006/main">
              <a:ext uri="{FF2B5EF4-FFF2-40B4-BE49-F238E27FC236}">
                <a16:creationId xmlns:a16="http://schemas.microsoft.com/office/drawing/2014/main" id="{1A340B63-C2FA-4CC9-9AD0-99FCBEB4A47C}"/>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1E61E29-D2D9-46FB-8806-895A1C9D145D}"/>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History length is confounded with label balance; do not conclude that more context improves prediction.</a:t>
            </a:r>
          </a:p>
        </p:txBody>
      </p:sp>
    </p:spTree>
    <p:extLst>
      <p:ext uri="{BB962C8B-B14F-4D97-AF65-F5344CB8AC3E}">
        <p14:creationId xmlns:p14="http://schemas.microsoft.com/office/powerpoint/2010/main" val="100033164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1079242-439D-47C1-AEC4-2C12AF07018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average hides participant-level differences</a:t>
            </a:r>
          </a:p>
        </p:txBody>
      </p:sp>
      <p:sp>
        <p:nvSpPr>
          <p:cNvPr id="2" name="">
            <a:extLst xmlns:a="http://schemas.openxmlformats.org/drawingml/2006/main">
              <a:ext uri="{FF2B5EF4-FFF2-40B4-BE49-F238E27FC236}">
                <a16:creationId xmlns:a16="http://schemas.microsoft.com/office/drawing/2014/main" id="{DF37B579-5C27-4F89-9F8F-FA47771B32F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 / participant-level learning curves</a:t>
            </a:r>
          </a:p>
        </p:txBody>
      </p:sp>
      <p:sp>
        <p:nvSpPr>
          <p:cNvPr id="3" name="">
            <a:extLst xmlns:a="http://schemas.openxmlformats.org/drawingml/2006/main">
              <a:ext uri="{FF2B5EF4-FFF2-40B4-BE49-F238E27FC236}">
                <a16:creationId xmlns:a16="http://schemas.microsoft.com/office/drawing/2014/main" id="{AA9240BD-DEDE-4D82-A4A5-306C6B726BB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4A0EE0-788C-4F6D-8848-8E901CEC9A4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BE891A6C-D24C-4C0C-97C7-B7F77A504F1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E4B26D2-C086-49E9-AC41-79E254477D7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89A8A92-2907-4D22-83BA-30ACC3DFD77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2EFAC36-51C2-4AAD-A837-264E0559E92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CD06184-4CAD-4FD3-A954-DFC22233BC5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7D78A56-D639-41C5-844C-962C2FA22A7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A3D3101-4801-4D4A-B867-7C360F73F98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BB49B09-6237-48D2-9904-3095396A745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3BAFFD6-D61A-45E0-B230-FCF45B64C07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9538D16-D547-4484-B6C8-C07EF975DF4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DEF2B5F8-8DAF-44CB-89A3-7081FC4625C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3 participants / 8 fixed targets each / 3 balanced histories at each non-zero history length</a:t>
            </a:r>
          </a:p>
        </p:txBody>
      </p:sp>
      <p:sp>
        <p:nvSpPr>
          <p:cNvPr id="16" name="">
            <a:extLst xmlns:a="http://schemas.openxmlformats.org/drawingml/2006/main">
              <a:ext uri="{FF2B5EF4-FFF2-40B4-BE49-F238E27FC236}">
                <a16:creationId xmlns:a16="http://schemas.microsoft.com/office/drawing/2014/main" id="{8604137C-057D-4A58-ADEA-07DB41FCA008}"/>
              </a:ext>
            </a:extLst>
          </p:cNvPr>
          <p:cNvSpPr>
            <a:spLocks xmlns:a="http://schemas.openxmlformats.org/drawingml/2006/main" noGrp="1"/>
          </p:cNvSpPr>
          <p:nvPr/>
        </p:nvSpPr>
        <p:spPr>
          <a:xfrm xmlns:a="http://schemas.openxmlformats.org/drawingml/2006/main">
            <a:off x="685800" y="19812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Accuracy</a:t>
            </a:r>
          </a:p>
        </p:txBody>
      </p:sp>
      <p:sp>
        <p:nvSpPr>
          <p:cNvPr id="17" name="">
            <a:extLst xmlns:a="http://schemas.openxmlformats.org/drawingml/2006/main">
              <a:ext uri="{FF2B5EF4-FFF2-40B4-BE49-F238E27FC236}">
                <a16:creationId xmlns:a16="http://schemas.microsoft.com/office/drawing/2014/main" id="{04A90259-E2DC-4AD2-9BD1-CF5DAE24D096}"/>
              </a:ext>
            </a:extLst>
          </p:cNvPr>
          <p:cNvSpPr>
            <a:spLocks xmlns:a="http://schemas.openxmlformats.org/drawingml/2006/main" noGrp="1"/>
          </p:cNvSpPr>
          <p:nvPr/>
        </p:nvSpPr>
        <p:spPr>
          <a:xfrm xmlns:a="http://schemas.openxmlformats.org/drawingml/2006/main">
            <a:off x="685800" y="22860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Held-out accuracy</a:t>
            </a:r>
          </a:p>
        </p:txBody>
      </p:sp>
      <p:sp>
        <p:nvSpPr>
          <p:cNvPr id="18" name="">
            <a:extLst xmlns:a="http://schemas.openxmlformats.org/drawingml/2006/main">
              <a:ext uri="{FF2B5EF4-FFF2-40B4-BE49-F238E27FC236}">
                <a16:creationId xmlns:a16="http://schemas.microsoft.com/office/drawing/2014/main" id="{B9B1F4BE-54E5-427C-A0DC-16A7850B39B4}"/>
              </a:ext>
            </a:extLst>
          </p:cNvPr>
          <p:cNvSpPr>
            <a:spLocks xmlns:a="http://schemas.openxmlformats.org/drawingml/2006/main" noGrp="1"/>
          </p:cNvSpPr>
          <p:nvPr/>
        </p:nvSpPr>
        <p:spPr>
          <a:xfrm xmlns:a="http://schemas.openxmlformats.org/drawingml/2006/main">
            <a:off x="6572250" y="19812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Log loss</a:t>
            </a:r>
          </a:p>
        </p:txBody>
      </p:sp>
      <p:sp>
        <p:nvSpPr>
          <p:cNvPr id="19" name="">
            <a:extLst xmlns:a="http://schemas.openxmlformats.org/drawingml/2006/main">
              <a:ext uri="{FF2B5EF4-FFF2-40B4-BE49-F238E27FC236}">
                <a16:creationId xmlns:a16="http://schemas.microsoft.com/office/drawing/2014/main" id="{C677911E-7B55-4DAA-8E50-5E906C4D07E0}"/>
              </a:ext>
            </a:extLst>
          </p:cNvPr>
          <p:cNvSpPr>
            <a:spLocks xmlns:a="http://schemas.openxmlformats.org/drawingml/2006/main" noGrp="1"/>
          </p:cNvSpPr>
          <p:nvPr/>
        </p:nvSpPr>
        <p:spPr>
          <a:xfrm xmlns:a="http://schemas.openxmlformats.org/drawingml/2006/main">
            <a:off x="6572250" y="22860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Lower is better</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ea8dcec5c50c4e09"/>
          <a:stretch xmlns:a="http://schemas.openxmlformats.org/drawingml/2006/main"/>
        </p:blipFill>
        <p:spPr>
          <a:xfrm xmlns:a="http://schemas.openxmlformats.org/drawingml/2006/main">
            <a:off x="685800" y="2476500"/>
            <a:ext cx="4953000" cy="2724150"/>
          </a:xfrm>
          <a:prstGeom xmlns:a="http://schemas.openxmlformats.org/drawingml/2006/main" prst="rect">
            <a:avLst/>
          </a:prstGeom>
        </p:spPr>
      </p:pic>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dbc9db7d48c2445f"/>
          <a:stretch xmlns:a="http://schemas.openxmlformats.org/drawingml/2006/main"/>
        </p:blipFill>
        <p:spPr>
          <a:xfrm xmlns:a="http://schemas.openxmlformats.org/drawingml/2006/main">
            <a:off x="6572250" y="2476500"/>
            <a:ext cx="4953000" cy="27241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8F7C370E-160A-48C4-8BB3-F6EC9F193C03}"/>
              </a:ext>
            </a:extLst>
          </p:cNvPr>
          <p:cNvSpPr>
            <a:spLocks xmlns:a="http://schemas.openxmlformats.org/drawingml/2006/main" noGrp="1"/>
          </p:cNvSpPr>
          <p:nvPr/>
        </p:nvSpPr>
        <p:spPr>
          <a:xfrm xmlns:a="http://schemas.openxmlformats.org/drawingml/2006/main">
            <a:off x="1504950" y="5257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283643"/>
                </a:solidFill>
                <a:latin typeface="Arial"/>
                <a:ea typeface="Arial"/>
                <a:cs typeface="Arial"/>
              </a:defRPr>
            </a:pPr>
            <a:r>
              <a:rPr sz="1050" b="0" i="0">
                <a:solidFill>
                  <a:srgbClr val="283643"/>
                </a:solidFill>
                <a:latin typeface="Arial"/>
                <a:ea typeface="Arial"/>
                <a:cs typeface="Arial"/>
              </a:rPr>
              <a:t>Number of balanced earlier trials in context</a:t>
            </a:r>
          </a:p>
        </p:txBody>
      </p:sp>
      <p:sp>
        <p:nvSpPr>
          <p:cNvPr id="23" name="">
            <a:extLst xmlns:a="http://schemas.openxmlformats.org/drawingml/2006/main">
              <a:ext uri="{FF2B5EF4-FFF2-40B4-BE49-F238E27FC236}">
                <a16:creationId xmlns:a16="http://schemas.microsoft.com/office/drawing/2014/main" id="{243CCCE9-C79E-453A-B0DF-BB20DF0E2617}"/>
              </a:ext>
            </a:extLst>
          </p:cNvPr>
          <p:cNvSpPr>
            <a:spLocks xmlns:a="http://schemas.openxmlformats.org/drawingml/2006/main" noGrp="1"/>
          </p:cNvSpPr>
          <p:nvPr/>
        </p:nvSpPr>
        <p:spPr>
          <a:xfrm xmlns:a="http://schemas.openxmlformats.org/drawingml/2006/main">
            <a:off x="7391400" y="5257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0" i="0">
                <a:solidFill>
                  <a:srgbClr val="283643"/>
                </a:solidFill>
                <a:latin typeface="Arial"/>
                <a:ea typeface="Arial"/>
                <a:cs typeface="Arial"/>
              </a:defRPr>
            </a:pPr>
            <a:r>
              <a:rPr sz="1050" b="0" i="0">
                <a:solidFill>
                  <a:srgbClr val="283643"/>
                </a:solidFill>
                <a:latin typeface="Arial"/>
                <a:ea typeface="Arial"/>
                <a:cs typeface="Arial"/>
              </a:rPr>
              <a:t>Number of balanced earlier trials in context</a:t>
            </a:r>
          </a:p>
        </p:txBody>
      </p:sp>
      <p:sp>
        <p:nvSpPr>
          <p:cNvPr id="24" name="">
            <a:extLst xmlns:a="http://schemas.openxmlformats.org/drawingml/2006/main">
              <a:ext uri="{FF2B5EF4-FFF2-40B4-BE49-F238E27FC236}">
                <a16:creationId xmlns:a16="http://schemas.microsoft.com/office/drawing/2014/main" id="{25582713-3B0C-4F86-B7AA-C69064C86D42}"/>
              </a:ext>
            </a:extLst>
          </p:cNvPr>
          <p:cNvSpPr>
            <a:spLocks xmlns:a="http://schemas.openxmlformats.org/drawingml/2006/main" noGrp="1"/>
          </p:cNvSpPr>
          <p:nvPr/>
        </p:nvSpPr>
        <p:spPr>
          <a:xfrm xmlns:a="http://schemas.openxmlformats.org/drawingml/2006/main">
            <a:off x="7715250" y="2019300"/>
            <a:ext cx="266700" cy="2857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19EEDD3-C420-45BA-ABCE-E77EAD277209}"/>
              </a:ext>
            </a:extLst>
          </p:cNvPr>
          <p:cNvSpPr>
            <a:spLocks xmlns:a="http://schemas.openxmlformats.org/drawingml/2006/main" noGrp="1"/>
          </p:cNvSpPr>
          <p:nvPr/>
        </p:nvSpPr>
        <p:spPr>
          <a:xfrm xmlns:a="http://schemas.openxmlformats.org/drawingml/2006/main">
            <a:off x="80581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P026</a:t>
            </a:r>
          </a:p>
        </p:txBody>
      </p:sp>
      <p:sp>
        <p:nvSpPr>
          <p:cNvPr id="26" name="">
            <a:extLst xmlns:a="http://schemas.openxmlformats.org/drawingml/2006/main">
              <a:ext uri="{FF2B5EF4-FFF2-40B4-BE49-F238E27FC236}">
                <a16:creationId xmlns:a16="http://schemas.microsoft.com/office/drawing/2014/main" id="{11E925C5-F3FD-429C-8C10-E9DCBF3400D4}"/>
              </a:ext>
            </a:extLst>
          </p:cNvPr>
          <p:cNvSpPr>
            <a:spLocks xmlns:a="http://schemas.openxmlformats.org/drawingml/2006/main" noGrp="1"/>
          </p:cNvSpPr>
          <p:nvPr/>
        </p:nvSpPr>
        <p:spPr>
          <a:xfrm xmlns:a="http://schemas.openxmlformats.org/drawingml/2006/main">
            <a:off x="8820150" y="2019300"/>
            <a:ext cx="266700" cy="2857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A76823B-596A-467E-AD3B-DF5AD712C20F}"/>
              </a:ext>
            </a:extLst>
          </p:cNvPr>
          <p:cNvSpPr>
            <a:spLocks xmlns:a="http://schemas.openxmlformats.org/drawingml/2006/main" noGrp="1"/>
          </p:cNvSpPr>
          <p:nvPr/>
        </p:nvSpPr>
        <p:spPr>
          <a:xfrm xmlns:a="http://schemas.openxmlformats.org/drawingml/2006/main">
            <a:off x="91630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8A3B35"/>
                </a:solidFill>
                <a:latin typeface="Arial"/>
                <a:ea typeface="Arial"/>
                <a:cs typeface="Arial"/>
              </a:defRPr>
            </a:pPr>
            <a:r>
              <a:rPr sz="1125" b="1" i="0">
                <a:solidFill>
                  <a:srgbClr val="8A3B35"/>
                </a:solidFill>
                <a:latin typeface="Arial"/>
                <a:ea typeface="Arial"/>
                <a:cs typeface="Arial"/>
              </a:rPr>
              <a:t>P028</a:t>
            </a:r>
          </a:p>
        </p:txBody>
      </p:sp>
      <p:sp>
        <p:nvSpPr>
          <p:cNvPr id="28" name="">
            <a:extLst xmlns:a="http://schemas.openxmlformats.org/drawingml/2006/main">
              <a:ext uri="{FF2B5EF4-FFF2-40B4-BE49-F238E27FC236}">
                <a16:creationId xmlns:a16="http://schemas.microsoft.com/office/drawing/2014/main" id="{80ED2FEA-FF33-4EE8-8454-32A5473A47C8}"/>
              </a:ext>
            </a:extLst>
          </p:cNvPr>
          <p:cNvSpPr>
            <a:spLocks xmlns:a="http://schemas.openxmlformats.org/drawingml/2006/main" noGrp="1"/>
          </p:cNvSpPr>
          <p:nvPr/>
        </p:nvSpPr>
        <p:spPr>
          <a:xfrm xmlns:a="http://schemas.openxmlformats.org/drawingml/2006/main">
            <a:off x="9925050" y="2019300"/>
            <a:ext cx="266700" cy="2857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34FF923-D5F4-4452-A566-26550939D9D8}"/>
              </a:ext>
            </a:extLst>
          </p:cNvPr>
          <p:cNvSpPr>
            <a:spLocks xmlns:a="http://schemas.openxmlformats.org/drawingml/2006/main" noGrp="1"/>
          </p:cNvSpPr>
          <p:nvPr/>
        </p:nvSpPr>
        <p:spPr>
          <a:xfrm xmlns:a="http://schemas.openxmlformats.org/drawingml/2006/main">
            <a:off x="10267950" y="1924050"/>
            <a:ext cx="647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3F684B"/>
                </a:solidFill>
                <a:latin typeface="Arial"/>
                <a:ea typeface="Arial"/>
                <a:cs typeface="Arial"/>
              </a:defRPr>
            </a:pPr>
            <a:r>
              <a:rPr sz="1125" b="1" i="0">
                <a:solidFill>
                  <a:srgbClr val="3F684B"/>
                </a:solidFill>
                <a:latin typeface="Arial"/>
                <a:ea typeface="Arial"/>
                <a:cs typeface="Arial"/>
              </a:rPr>
              <a:t>P031</a:t>
            </a:r>
          </a:p>
        </p:txBody>
      </p:sp>
      <p:sp>
        <p:nvSpPr>
          <p:cNvPr id="30" name="">
            <a:extLst xmlns:a="http://schemas.openxmlformats.org/drawingml/2006/main">
              <a:ext uri="{FF2B5EF4-FFF2-40B4-BE49-F238E27FC236}">
                <a16:creationId xmlns:a16="http://schemas.microsoft.com/office/drawing/2014/main" id="{917CFB77-AE89-45D7-ABBA-04176E089034}"/>
              </a:ext>
            </a:extLst>
          </p:cNvPr>
          <p:cNvSpPr>
            <a:spLocks xmlns:a="http://schemas.openxmlformats.org/drawingml/2006/main" noGrp="1"/>
          </p:cNvSpPr>
          <p:nvPr/>
        </p:nvSpPr>
        <p:spPr>
          <a:xfrm xmlns:a="http://schemas.openxmlformats.org/drawingml/2006/main">
            <a:off x="800100" y="56578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40FCB512-7DBB-4F49-BC94-627A0B07C218}"/>
              </a:ext>
            </a:extLst>
          </p:cNvPr>
          <p:cNvSpPr>
            <a:spLocks xmlns:a="http://schemas.openxmlformats.org/drawingml/2006/main" noGrp="1"/>
          </p:cNvSpPr>
          <p:nvPr/>
        </p:nvSpPr>
        <p:spPr>
          <a:xfrm xmlns:a="http://schemas.openxmlformats.org/drawingml/2006/main">
            <a:off x="1028700" y="56388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Adding personal history helps P026, hurts P028, and peaks at an intermediate history length for P031.</a:t>
            </a:r>
          </a:p>
        </p:txBody>
      </p:sp>
    </p:spTree>
    <p:extLst>
      <p:ext uri="{BB962C8B-B14F-4D97-AF65-F5344CB8AC3E}">
        <p14:creationId xmlns:p14="http://schemas.microsoft.com/office/powerpoint/2010/main" val="202878548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53E97EB-DA39-461E-B399-375359FA6BBC}"/>
              </a:ext>
            </a:extLst>
          </p:cNvPr>
          <p:cNvSpPr>
            <a:spLocks xmlns:a="http://schemas.openxmlformats.org/drawingml/2006/main" noGrp="1"/>
          </p:cNvSpPr>
          <p:nvPr/>
        </p:nvSpPr>
        <p:spPr>
          <a:xfrm xmlns:a="http://schemas.openxmlformats.org/drawingml/2006/main">
            <a:off x="781050" y="1104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Prediction / Step 3 of 3</a:t>
            </a:r>
          </a:p>
        </p:txBody>
      </p:sp>
      <p:sp>
        <p:nvSpPr>
          <p:cNvPr id="2" name="">
            <a:extLst xmlns:a="http://schemas.openxmlformats.org/drawingml/2006/main">
              <a:ext uri="{FF2B5EF4-FFF2-40B4-BE49-F238E27FC236}">
                <a16:creationId xmlns:a16="http://schemas.microsoft.com/office/drawing/2014/main" id="{DFE54B46-20BF-4FF9-984B-939A1CBBA903}"/>
              </a:ext>
            </a:extLst>
          </p:cNvPr>
          <p:cNvSpPr>
            <a:spLocks xmlns:a="http://schemas.openxmlformats.org/drawingml/2006/main" noGrp="1"/>
          </p:cNvSpPr>
          <p:nvPr/>
        </p:nvSpPr>
        <p:spPr>
          <a:xfrm xmlns:a="http://schemas.openxmlformats.org/drawingml/2006/main">
            <a:off x="781050" y="20955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75"/>
          </a:bodyPr>
          <a:lstStyle xmlns:a="http://schemas.openxmlformats.org/drawingml/2006/main"/>
          <a:p xmlns:a="http://schemas.openxmlformats.org/drawingml/2006/main">
            <a:pPr algn="l">
              <a:lnSpc>
                <a:spcPct val="98000"/>
              </a:lnSpc>
              <a:buNone/>
              <a:defRPr sz="3900" b="1" i="0">
                <a:solidFill>
                  <a:srgbClr val="111827"/>
                </a:solidFill>
                <a:latin typeface="Arial"/>
                <a:ea typeface="Arial"/>
                <a:cs typeface="Arial"/>
              </a:defRPr>
            </a:pPr>
            <a:r>
              <a:rPr sz="3900" b="1" i="0">
                <a:solidFill>
                  <a:srgbClr val="111827"/>
                </a:solidFill>
                <a:latin typeface="Arial"/>
                <a:ea typeface="Arial"/>
                <a:cs typeface="Arial"/>
              </a:rPr>
              <a:t>Test whether training participants reveal task-level regularities</a:t>
            </a:r>
          </a:p>
        </p:txBody>
      </p:sp>
      <p:sp>
        <p:nvSpPr>
          <p:cNvPr id="3" name="">
            <a:extLst xmlns:a="http://schemas.openxmlformats.org/drawingml/2006/main">
              <a:ext uri="{FF2B5EF4-FFF2-40B4-BE49-F238E27FC236}">
                <a16:creationId xmlns:a16="http://schemas.microsoft.com/office/drawing/2014/main" id="{F75AC070-2861-42FB-82C0-F39A75FF8C89}"/>
              </a:ext>
            </a:extLst>
          </p:cNvPr>
          <p:cNvSpPr>
            <a:spLocks xmlns:a="http://schemas.openxmlformats.org/drawingml/2006/main" noGrp="1"/>
          </p:cNvSpPr>
          <p:nvPr/>
        </p:nvSpPr>
        <p:spPr>
          <a:xfrm xmlns:a="http://schemas.openxmlformats.org/drawingml/2006/main">
            <a:off x="781050" y="33718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88D0A7-B7B6-4A5F-920A-994043E462B5}"/>
              </a:ext>
            </a:extLst>
          </p:cNvPr>
          <p:cNvSpPr>
            <a:spLocks xmlns:a="http://schemas.openxmlformats.org/drawingml/2006/main" noGrp="1"/>
          </p:cNvSpPr>
          <p:nvPr/>
        </p:nvSpPr>
        <p:spPr>
          <a:xfrm xmlns:a="http://schemas.openxmlformats.org/drawingml/2006/main">
            <a:off x="781050" y="37909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Update parameters on labeled risky choices, then test whether the learned mapping generalizes to held-out people.</a:t>
            </a:r>
          </a:p>
        </p:txBody>
      </p:sp>
      <p:sp>
        <p:nvSpPr>
          <p:cNvPr id="5" name="">
            <a:extLst xmlns:a="http://schemas.openxmlformats.org/drawingml/2006/main">
              <a:ext uri="{FF2B5EF4-FFF2-40B4-BE49-F238E27FC236}">
                <a16:creationId xmlns:a16="http://schemas.microsoft.com/office/drawing/2014/main" id="{682EB6FE-34CB-4ED1-BA61-418BE3CE6C9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9B7CEC-E58C-4417-93F3-D9B0ADB8A31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5F34975-FEB0-43F1-87B2-506654452DC6}"/>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BEB8011-C2D3-422C-966B-1B6BA25F9A1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49E7F7F-C858-4109-949D-27E4371AAD4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097FE8F-5415-44CC-A1E2-361D4C1224F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0749E04-46C7-439F-878C-CB3EA795DB15}"/>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8F8F182-3A87-40D4-AC31-A17BB544CBD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67FD45F-8AC2-4049-91DC-504DE91AEF4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5E557FD-C742-4850-8E95-303D8C74BF1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213883157"/>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64A7EC6-70B2-4167-94A5-B52421A70E8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Fine-tuning targets task-level choice regularities</a:t>
            </a:r>
          </a:p>
        </p:txBody>
      </p:sp>
      <p:sp>
        <p:nvSpPr>
          <p:cNvPr id="2" name="">
            <a:extLst xmlns:a="http://schemas.openxmlformats.org/drawingml/2006/main">
              <a:ext uri="{FF2B5EF4-FFF2-40B4-BE49-F238E27FC236}">
                <a16:creationId xmlns:a16="http://schemas.microsoft.com/office/drawing/2014/main" id="{AF312FA3-3D2C-4CB9-A465-56F138F52EE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step 3/3</a:t>
            </a:r>
          </a:p>
        </p:txBody>
      </p:sp>
      <p:sp>
        <p:nvSpPr>
          <p:cNvPr id="3" name="">
            <a:extLst xmlns:a="http://schemas.openxmlformats.org/drawingml/2006/main">
              <a:ext uri="{FF2B5EF4-FFF2-40B4-BE49-F238E27FC236}">
                <a16:creationId xmlns:a16="http://schemas.microsoft.com/office/drawing/2014/main" id="{5F98EF55-0CDD-4CEC-A767-9F6DDA0F592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CACB79D-B215-44CA-856A-E5EBAAB3DD0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8B2B9728-67A8-4D30-B864-04F29277AB6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43AD0A6-F63C-4880-B3CC-2241F3BAE23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053DD37-B306-486A-BD37-33754F9FD107}"/>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BEC9D9D-FF41-4F3E-8E78-6288BBD6CA5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4D62016-77FB-49C4-AB9C-19E5F49015F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599F81-3E3F-4292-A000-A9B1B0595BD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497DA9D-EE58-49FA-B850-37A5379FF5F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8139334-5D60-471D-AEF6-3FFE091FDE7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8CA1521-AE67-4C23-9AD4-07D55022E0A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CBC7A31-8D2F-4904-92CC-79B0C2A76DF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0F62D62-5E3E-443A-9DCC-DF3FD94C55B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Ouyang et al. (2022)</a:t>
            </a:r>
          </a:p>
        </p:txBody>
      </p:sp>
      <p:sp>
        <p:nvSpPr>
          <p:cNvPr id="16" name="">
            <a:extLst xmlns:a="http://schemas.openxmlformats.org/drawingml/2006/main">
              <a:ext uri="{FF2B5EF4-FFF2-40B4-BE49-F238E27FC236}">
                <a16:creationId xmlns:a16="http://schemas.microsoft.com/office/drawing/2014/main" id="{4F8BE25F-2AF8-4C40-AF4B-668BFEC6ECA4}"/>
              </a:ext>
            </a:extLst>
          </p:cNvPr>
          <p:cNvSpPr>
            <a:spLocks xmlns:a="http://schemas.openxmlformats.org/drawingml/2006/main" noGrp="1"/>
          </p:cNvSpPr>
          <p:nvPr/>
        </p:nvSpPr>
        <p:spPr>
          <a:xfrm xmlns:a="http://schemas.openxmlformats.org/drawingml/2006/main">
            <a:off x="68580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1</a:t>
            </a:r>
          </a:p>
        </p:txBody>
      </p:sp>
      <p:sp>
        <p:nvSpPr>
          <p:cNvPr id="17" name="">
            <a:extLst xmlns:a="http://schemas.openxmlformats.org/drawingml/2006/main">
              <a:ext uri="{FF2B5EF4-FFF2-40B4-BE49-F238E27FC236}">
                <a16:creationId xmlns:a16="http://schemas.microsoft.com/office/drawing/2014/main" id="{C00DE121-6222-4A6A-AB5F-77C2E17238F4}"/>
              </a:ext>
            </a:extLst>
          </p:cNvPr>
          <p:cNvSpPr>
            <a:spLocks xmlns:a="http://schemas.openxmlformats.org/drawingml/2006/main" noGrp="1"/>
          </p:cNvSpPr>
          <p:nvPr/>
        </p:nvSpPr>
        <p:spPr>
          <a:xfrm xmlns:a="http://schemas.openxmlformats.org/drawingml/2006/main">
            <a:off x="68580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Pretraining</a:t>
            </a:r>
          </a:p>
        </p:txBody>
      </p:sp>
      <p:sp>
        <p:nvSpPr>
          <p:cNvPr id="18" name="">
            <a:extLst xmlns:a="http://schemas.openxmlformats.org/drawingml/2006/main">
              <a:ext uri="{FF2B5EF4-FFF2-40B4-BE49-F238E27FC236}">
                <a16:creationId xmlns:a16="http://schemas.microsoft.com/office/drawing/2014/main" id="{F7732B29-FAC6-4AD6-A201-5300D427546C}"/>
              </a:ext>
            </a:extLst>
          </p:cNvPr>
          <p:cNvSpPr>
            <a:spLocks xmlns:a="http://schemas.openxmlformats.org/drawingml/2006/main" noGrp="1"/>
          </p:cNvSpPr>
          <p:nvPr/>
        </p:nvSpPr>
        <p:spPr>
          <a:xfrm xmlns:a="http://schemas.openxmlformats.org/drawingml/2006/main">
            <a:off x="68580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broad statistical structure</a:t>
            </a:r>
          </a:p>
        </p:txBody>
      </p:sp>
      <p:sp>
        <p:nvSpPr>
          <p:cNvPr id="19" name="">
            <a:extLst xmlns:a="http://schemas.openxmlformats.org/drawingml/2006/main">
              <a:ext uri="{FF2B5EF4-FFF2-40B4-BE49-F238E27FC236}">
                <a16:creationId xmlns:a16="http://schemas.microsoft.com/office/drawing/2014/main" id="{BA037F89-B45E-4643-AF26-A7A0A9A3CCD6}"/>
              </a:ext>
            </a:extLst>
          </p:cNvPr>
          <p:cNvSpPr>
            <a:spLocks xmlns:a="http://schemas.openxmlformats.org/drawingml/2006/main" noGrp="1"/>
          </p:cNvSpPr>
          <p:nvPr/>
        </p:nvSpPr>
        <p:spPr>
          <a:xfrm xmlns:a="http://schemas.openxmlformats.org/drawingml/2006/main">
            <a:off x="400685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9AE9921-2B49-40F3-AE2A-299F99EF76C0}"/>
              </a:ext>
            </a:extLst>
          </p:cNvPr>
          <p:cNvSpPr>
            <a:spLocks xmlns:a="http://schemas.openxmlformats.org/drawingml/2006/main" noGrp="1"/>
          </p:cNvSpPr>
          <p:nvPr/>
        </p:nvSpPr>
        <p:spPr>
          <a:xfrm xmlns:a="http://schemas.openxmlformats.org/drawingml/2006/main">
            <a:off x="446405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2</a:t>
            </a:r>
          </a:p>
        </p:txBody>
      </p:sp>
      <p:sp>
        <p:nvSpPr>
          <p:cNvPr id="21" name="">
            <a:extLst xmlns:a="http://schemas.openxmlformats.org/drawingml/2006/main">
              <a:ext uri="{FF2B5EF4-FFF2-40B4-BE49-F238E27FC236}">
                <a16:creationId xmlns:a16="http://schemas.microsoft.com/office/drawing/2014/main" id="{6A3BEEEB-C67C-4A12-A25E-FE2C712A5AD7}"/>
              </a:ext>
            </a:extLst>
          </p:cNvPr>
          <p:cNvSpPr>
            <a:spLocks xmlns:a="http://schemas.openxmlformats.org/drawingml/2006/main" noGrp="1"/>
          </p:cNvSpPr>
          <p:nvPr/>
        </p:nvSpPr>
        <p:spPr>
          <a:xfrm xmlns:a="http://schemas.openxmlformats.org/drawingml/2006/main">
            <a:off x="446405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Instruction tuning</a:t>
            </a:r>
          </a:p>
        </p:txBody>
      </p:sp>
      <p:sp>
        <p:nvSpPr>
          <p:cNvPr id="22" name="">
            <a:extLst xmlns:a="http://schemas.openxmlformats.org/drawingml/2006/main">
              <a:ext uri="{FF2B5EF4-FFF2-40B4-BE49-F238E27FC236}">
                <a16:creationId xmlns:a16="http://schemas.microsoft.com/office/drawing/2014/main" id="{1CAA0B44-7272-41B8-869F-5F4AB0F5CDC9}"/>
              </a:ext>
            </a:extLst>
          </p:cNvPr>
          <p:cNvSpPr>
            <a:spLocks xmlns:a="http://schemas.openxmlformats.org/drawingml/2006/main" noGrp="1"/>
          </p:cNvSpPr>
          <p:nvPr/>
        </p:nvSpPr>
        <p:spPr>
          <a:xfrm xmlns:a="http://schemas.openxmlformats.org/drawingml/2006/main">
            <a:off x="446405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general task following</a:t>
            </a:r>
          </a:p>
        </p:txBody>
      </p:sp>
      <p:sp>
        <p:nvSpPr>
          <p:cNvPr id="23" name="">
            <a:extLst xmlns:a="http://schemas.openxmlformats.org/drawingml/2006/main">
              <a:ext uri="{FF2B5EF4-FFF2-40B4-BE49-F238E27FC236}">
                <a16:creationId xmlns:a16="http://schemas.microsoft.com/office/drawing/2014/main" id="{81EC677E-93A9-4DC4-9FB2-AB27FBCC47BC}"/>
              </a:ext>
            </a:extLst>
          </p:cNvPr>
          <p:cNvSpPr>
            <a:spLocks xmlns:a="http://schemas.openxmlformats.org/drawingml/2006/main" noGrp="1"/>
          </p:cNvSpPr>
          <p:nvPr/>
        </p:nvSpPr>
        <p:spPr>
          <a:xfrm xmlns:a="http://schemas.openxmlformats.org/drawingml/2006/main">
            <a:off x="778510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66FE32D-E551-449D-BF1C-91414A9469F2}"/>
              </a:ext>
            </a:extLst>
          </p:cNvPr>
          <p:cNvSpPr>
            <a:spLocks xmlns:a="http://schemas.openxmlformats.org/drawingml/2006/main" noGrp="1"/>
          </p:cNvSpPr>
          <p:nvPr/>
        </p:nvSpPr>
        <p:spPr>
          <a:xfrm xmlns:a="http://schemas.openxmlformats.org/drawingml/2006/main">
            <a:off x="824230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3</a:t>
            </a:r>
          </a:p>
        </p:txBody>
      </p:sp>
      <p:sp>
        <p:nvSpPr>
          <p:cNvPr id="25" name="">
            <a:extLst xmlns:a="http://schemas.openxmlformats.org/drawingml/2006/main">
              <a:ext uri="{FF2B5EF4-FFF2-40B4-BE49-F238E27FC236}">
                <a16:creationId xmlns:a16="http://schemas.microsoft.com/office/drawing/2014/main" id="{39481BEF-A700-4269-92B0-62048E356D95}"/>
              </a:ext>
            </a:extLst>
          </p:cNvPr>
          <p:cNvSpPr>
            <a:spLocks xmlns:a="http://schemas.openxmlformats.org/drawingml/2006/main" noGrp="1"/>
          </p:cNvSpPr>
          <p:nvPr/>
        </p:nvSpPr>
        <p:spPr>
          <a:xfrm xmlns:a="http://schemas.openxmlformats.org/drawingml/2006/main">
            <a:off x="824230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Risky-choice fine-tuning</a:t>
            </a:r>
          </a:p>
        </p:txBody>
      </p:sp>
      <p:sp>
        <p:nvSpPr>
          <p:cNvPr id="26" name="">
            <a:extLst xmlns:a="http://schemas.openxmlformats.org/drawingml/2006/main">
              <a:ext uri="{FF2B5EF4-FFF2-40B4-BE49-F238E27FC236}">
                <a16:creationId xmlns:a16="http://schemas.microsoft.com/office/drawing/2014/main" id="{8BB0A8F0-257A-4935-B542-2BD24A176D22}"/>
              </a:ext>
            </a:extLst>
          </p:cNvPr>
          <p:cNvSpPr>
            <a:spLocks xmlns:a="http://schemas.openxmlformats.org/drawingml/2006/main" noGrp="1"/>
          </p:cNvSpPr>
          <p:nvPr/>
        </p:nvSpPr>
        <p:spPr>
          <a:xfrm xmlns:a="http://schemas.openxmlformats.org/drawingml/2006/main">
            <a:off x="824230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a population mapping from options to choices</a:t>
            </a:r>
          </a:p>
        </p:txBody>
      </p:sp>
      <p:sp>
        <p:nvSpPr>
          <p:cNvPr id="27" name="">
            <a:extLst xmlns:a="http://schemas.openxmlformats.org/drawingml/2006/main">
              <a:ext uri="{FF2B5EF4-FFF2-40B4-BE49-F238E27FC236}">
                <a16:creationId xmlns:a16="http://schemas.microsoft.com/office/drawing/2014/main" id="{EF96A6DB-5BEF-4C79-9296-E29BE1C43224}"/>
              </a:ext>
            </a:extLst>
          </p:cNvPr>
          <p:cNvSpPr>
            <a:spLocks xmlns:a="http://schemas.openxmlformats.org/drawingml/2006/main" noGrp="1"/>
          </p:cNvSpPr>
          <p:nvPr/>
        </p:nvSpPr>
        <p:spPr>
          <a:xfrm xmlns:a="http://schemas.openxmlformats.org/drawingml/2006/main">
            <a:off x="800100" y="51244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E207B7B-2458-48F3-93E2-99E99C3DC4F5}"/>
              </a:ext>
            </a:extLst>
          </p:cNvPr>
          <p:cNvSpPr>
            <a:spLocks xmlns:a="http://schemas.openxmlformats.org/drawingml/2006/main" noGrp="1"/>
          </p:cNvSpPr>
          <p:nvPr/>
        </p:nvSpPr>
        <p:spPr>
          <a:xfrm xmlns:a="http://schemas.openxmlformats.org/drawingml/2006/main">
            <a:off x="1028700" y="51054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Its decision-science claim is task adaptation; personalization still requires within-person evidence.</a:t>
            </a:r>
          </a:p>
        </p:txBody>
      </p:sp>
    </p:spTree>
    <p:extLst>
      <p:ext uri="{BB962C8B-B14F-4D97-AF65-F5344CB8AC3E}">
        <p14:creationId xmlns:p14="http://schemas.microsoft.com/office/powerpoint/2010/main" val="36545082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11C4E3E-E9B8-4650-93BE-98C932B786F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History and task training test different claims</a:t>
            </a:r>
          </a:p>
        </p:txBody>
      </p:sp>
      <p:sp>
        <p:nvSpPr>
          <p:cNvPr id="2" name="">
            <a:extLst xmlns:a="http://schemas.openxmlformats.org/drawingml/2006/main">
              <a:ext uri="{FF2B5EF4-FFF2-40B4-BE49-F238E27FC236}">
                <a16:creationId xmlns:a16="http://schemas.microsoft.com/office/drawing/2014/main" id="{47AEA6D3-682B-4CBA-9A79-C8462D3C6EF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comparison</a:t>
            </a:r>
          </a:p>
        </p:txBody>
      </p:sp>
      <p:sp>
        <p:nvSpPr>
          <p:cNvPr id="3" name="">
            <a:extLst xmlns:a="http://schemas.openxmlformats.org/drawingml/2006/main">
              <a:ext uri="{FF2B5EF4-FFF2-40B4-BE49-F238E27FC236}">
                <a16:creationId xmlns:a16="http://schemas.microsoft.com/office/drawing/2014/main" id="{EF626CB4-A0D3-45A6-9BAD-8F5A2A1E8E2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9933514-4C12-4044-8827-99F15B1AFC5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1BB0A591-A595-4687-8B9C-C3F6B2EFF32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4C623A5-DF14-4166-946E-0A74E8ED776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DB88A3E-57FD-4714-B38B-A11ABF96237C}"/>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93C77B6-DC80-441D-AD2B-40C73407D8A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1BEE72C-6A74-41F3-BB27-F3788C6218FC}"/>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D6A798F-B70E-4FAA-89E4-B2648D59E4F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AB9C851-77C0-4F1F-A9A8-0BE84722635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130A807-8251-4331-BEEA-214AAC620DF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6D0EF29-364C-4756-9685-C6CC9A3DB58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8D13D10-1811-4C07-BD4A-AB6F1631123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8DBB603-B18C-4625-93A2-A16927B8FBB7}"/>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7591F"/>
                </a:solidFill>
                <a:latin typeface="Arial"/>
                <a:ea typeface="Arial"/>
                <a:cs typeface="Arial"/>
              </a:defRPr>
            </a:pPr>
            <a:r>
              <a:rPr sz="2025" b="1" i="0">
                <a:solidFill>
                  <a:srgbClr val="87591F"/>
                </a:solidFill>
                <a:latin typeface="Arial"/>
                <a:ea typeface="Arial"/>
                <a:cs typeface="Arial"/>
              </a:rPr>
              <a:t>Same-person evidence</a:t>
            </a:r>
          </a:p>
        </p:txBody>
      </p:sp>
      <p:sp>
        <p:nvSpPr>
          <p:cNvPr id="16" name="">
            <a:extLst xmlns:a="http://schemas.openxmlformats.org/drawingml/2006/main">
              <a:ext uri="{FF2B5EF4-FFF2-40B4-BE49-F238E27FC236}">
                <a16:creationId xmlns:a16="http://schemas.microsoft.com/office/drawing/2014/main" id="{200E2722-68EC-4238-9F5D-A8747FCDA9DE}"/>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A3B35"/>
                </a:solidFill>
                <a:latin typeface="Arial"/>
                <a:ea typeface="Arial"/>
                <a:cs typeface="Arial"/>
              </a:defRPr>
            </a:pPr>
            <a:r>
              <a:rPr sz="2025" b="1" i="0">
                <a:solidFill>
                  <a:srgbClr val="8A3B35"/>
                </a:solidFill>
                <a:latin typeface="Arial"/>
                <a:ea typeface="Arial"/>
                <a:cs typeface="Arial"/>
              </a:rPr>
              <a:t>Training-participant evidence</a:t>
            </a:r>
          </a:p>
        </p:txBody>
      </p:sp>
      <p:sp>
        <p:nvSpPr>
          <p:cNvPr id="17" name="">
            <a:extLst xmlns:a="http://schemas.openxmlformats.org/drawingml/2006/main">
              <a:ext uri="{FF2B5EF4-FFF2-40B4-BE49-F238E27FC236}">
                <a16:creationId xmlns:a16="http://schemas.microsoft.com/office/drawing/2014/main" id="{F05B0F39-496E-4279-A007-1E23B8EA4F26}"/>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Predict later choices for the same person</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Tests within-person adaptation</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Sensitive to history order and identity</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Easy to shuffle or ablate as a control</a:t>
            </a:r>
          </a:p>
        </p:txBody>
      </p:sp>
      <p:sp>
        <p:nvSpPr>
          <p:cNvPr id="18" name="">
            <a:extLst xmlns:a="http://schemas.openxmlformats.org/drawingml/2006/main">
              <a:ext uri="{FF2B5EF4-FFF2-40B4-BE49-F238E27FC236}">
                <a16:creationId xmlns:a16="http://schemas.microsoft.com/office/drawing/2014/main" id="{287F678F-FC32-437A-8C48-F76E6A11C0D1}"/>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Learn from labeled choices across people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Tests task-level population regularities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Requires data, compute, and version control</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Must protect held-out participants</a:t>
            </a:r>
          </a:p>
        </p:txBody>
      </p:sp>
      <p:sp>
        <p:nvSpPr>
          <p:cNvPr id="19" name="">
            <a:extLst xmlns:a="http://schemas.openxmlformats.org/drawingml/2006/main">
              <a:ext uri="{FF2B5EF4-FFF2-40B4-BE49-F238E27FC236}">
                <a16:creationId xmlns:a16="http://schemas.microsoft.com/office/drawing/2014/main" id="{0AFA0090-CCF6-4DA2-8E81-1978518F6604}"/>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61206C9-1AF7-4D4F-BE51-E17F2CF6B080}"/>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two methods are complementary: training adapts the task, while context can adapt to the person.</a:t>
            </a:r>
          </a:p>
        </p:txBody>
      </p:sp>
    </p:spTree>
    <p:extLst>
      <p:ext uri="{BB962C8B-B14F-4D97-AF65-F5344CB8AC3E}">
        <p14:creationId xmlns:p14="http://schemas.microsoft.com/office/powerpoint/2010/main" val="8069214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07E5FDD-7803-4F84-8835-F1568007D9D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Evaluate every method on the same held-out data</a:t>
            </a:r>
          </a:p>
        </p:txBody>
      </p:sp>
      <p:sp>
        <p:nvSpPr>
          <p:cNvPr id="2" name="">
            <a:extLst xmlns:a="http://schemas.openxmlformats.org/drawingml/2006/main">
              <a:ext uri="{FF2B5EF4-FFF2-40B4-BE49-F238E27FC236}">
                <a16:creationId xmlns:a16="http://schemas.microsoft.com/office/drawing/2014/main" id="{5B4F4593-4FF6-438B-B3C7-295D7C29609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comparison</a:t>
            </a:r>
          </a:p>
        </p:txBody>
      </p:sp>
      <p:sp>
        <p:nvSpPr>
          <p:cNvPr id="3" name="">
            <a:extLst xmlns:a="http://schemas.openxmlformats.org/drawingml/2006/main">
              <a:ext uri="{FF2B5EF4-FFF2-40B4-BE49-F238E27FC236}">
                <a16:creationId xmlns:a16="http://schemas.microsoft.com/office/drawing/2014/main" id="{FA431764-A507-44E8-8D49-0F64D12A5AA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0A740B1-FDA0-4014-A5F7-41291CD9B33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3532263C-624D-44A7-AA8D-CD14A7D5A81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751EFE6-323D-4A01-A4BC-8DB8BDD21EF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C27B2AA-1B98-41D4-AEE2-D03DFEC5E9C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F70AE7A-5B39-439C-80E3-82392DDC8E2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A900F4C-75AF-42B2-84C1-A677DAF28EB6}"/>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1E97236-5F26-4C20-8F5C-E08B128721C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37BDB4A-B09F-47C1-B5A4-2846E93C953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7C0F776-1FC8-4C9B-A377-7927786EFBE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17FA27B-825C-4A8F-80F9-94D0B1B1471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643E54-88EB-408F-A45F-685EF04BAD1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8197CD5-0FCB-4C46-9410-D3AEFE51C910}"/>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Zero-shot</a:t>
            </a:r>
          </a:p>
        </p:txBody>
      </p:sp>
      <p:sp>
        <p:nvSpPr>
          <p:cNvPr id="16" name="">
            <a:extLst xmlns:a="http://schemas.openxmlformats.org/drawingml/2006/main">
              <a:ext uri="{FF2B5EF4-FFF2-40B4-BE49-F238E27FC236}">
                <a16:creationId xmlns:a16="http://schemas.microsoft.com/office/drawing/2014/main" id="{C6FB6867-7139-490D-9ADD-50625356F9D0}"/>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Base parameters + target trial</a:t>
            </a:r>
          </a:p>
        </p:txBody>
      </p:sp>
      <p:sp>
        <p:nvSpPr>
          <p:cNvPr id="17" name="">
            <a:extLst xmlns:a="http://schemas.openxmlformats.org/drawingml/2006/main">
              <a:ext uri="{FF2B5EF4-FFF2-40B4-BE49-F238E27FC236}">
                <a16:creationId xmlns:a16="http://schemas.microsoft.com/office/drawing/2014/main" id="{03B4000E-7E4A-44A6-A9F9-BBD71FBC7D3A}"/>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D0CC443-7883-426C-BA04-08FC46B96C7D}"/>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Add personal history</a:t>
            </a:r>
          </a:p>
        </p:txBody>
      </p:sp>
      <p:sp>
        <p:nvSpPr>
          <p:cNvPr id="19" name="">
            <a:extLst xmlns:a="http://schemas.openxmlformats.org/drawingml/2006/main">
              <a:ext uri="{FF2B5EF4-FFF2-40B4-BE49-F238E27FC236}">
                <a16:creationId xmlns:a16="http://schemas.microsoft.com/office/drawing/2014/main" id="{59BD6339-EA7D-47DE-A1B2-0913F5CAEB30}"/>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Base parameters + P025 history + target trial</a:t>
            </a:r>
          </a:p>
        </p:txBody>
      </p:sp>
      <p:sp>
        <p:nvSpPr>
          <p:cNvPr id="20" name="">
            <a:extLst xmlns:a="http://schemas.openxmlformats.org/drawingml/2006/main">
              <a:ext uri="{FF2B5EF4-FFF2-40B4-BE49-F238E27FC236}">
                <a16:creationId xmlns:a16="http://schemas.microsoft.com/office/drawing/2014/main" id="{EA499137-93C6-4AEB-9B28-2F9F41DB7403}"/>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236CCE1-4D3E-44D1-A4C2-EB6F3FECED89}"/>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Fine-tune the model</a:t>
            </a:r>
          </a:p>
        </p:txBody>
      </p:sp>
      <p:sp>
        <p:nvSpPr>
          <p:cNvPr id="22" name="">
            <a:extLst xmlns:a="http://schemas.openxmlformats.org/drawingml/2006/main">
              <a:ext uri="{FF2B5EF4-FFF2-40B4-BE49-F238E27FC236}">
                <a16:creationId xmlns:a16="http://schemas.microsoft.com/office/drawing/2014/main" id="{FBD3601C-67E2-4655-B520-41E4F0F66596}"/>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Adapted parameters + target trial</a:t>
            </a:r>
          </a:p>
        </p:txBody>
      </p:sp>
      <p:sp>
        <p:nvSpPr>
          <p:cNvPr id="23" name="">
            <a:extLst xmlns:a="http://schemas.openxmlformats.org/drawingml/2006/main">
              <a:ext uri="{FF2B5EF4-FFF2-40B4-BE49-F238E27FC236}">
                <a16:creationId xmlns:a16="http://schemas.microsoft.com/office/drawing/2014/main" id="{7D3D3A4A-C26B-4424-B51F-38740AD2963B}"/>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05D1D67-3A91-4AA3-A120-733EAEEAB720}"/>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Combine both</a:t>
            </a:r>
          </a:p>
        </p:txBody>
      </p:sp>
      <p:sp>
        <p:nvSpPr>
          <p:cNvPr id="25" name="">
            <a:extLst xmlns:a="http://schemas.openxmlformats.org/drawingml/2006/main">
              <a:ext uri="{FF2B5EF4-FFF2-40B4-BE49-F238E27FC236}">
                <a16:creationId xmlns:a16="http://schemas.microsoft.com/office/drawing/2014/main" id="{673357FD-CF72-4FE3-A2F6-AD9C95EACA4D}"/>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Adapted parameters + P025 history + target trial</a:t>
            </a:r>
          </a:p>
        </p:txBody>
      </p:sp>
      <p:sp>
        <p:nvSpPr>
          <p:cNvPr id="26" name="">
            <a:extLst xmlns:a="http://schemas.openxmlformats.org/drawingml/2006/main">
              <a:ext uri="{FF2B5EF4-FFF2-40B4-BE49-F238E27FC236}">
                <a16:creationId xmlns:a16="http://schemas.microsoft.com/office/drawing/2014/main" id="{67029613-160E-4DDB-9289-CB889318ED52}"/>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66CCD76-21AE-4BAA-B0FC-5041B848F771}"/>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DF237FF-422F-41D1-A813-DD7E3AE25537}"/>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One test split turns four techniques into a fair scientific comparison.</a:t>
            </a:r>
          </a:p>
        </p:txBody>
      </p:sp>
    </p:spTree>
    <p:extLst>
      <p:ext uri="{BB962C8B-B14F-4D97-AF65-F5344CB8AC3E}">
        <p14:creationId xmlns:p14="http://schemas.microsoft.com/office/powerpoint/2010/main" val="200221946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9361663-3A00-4BFB-BBEA-7421B39B399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Choose the next lever from the failure pattern</a:t>
            </a:r>
          </a:p>
        </p:txBody>
      </p:sp>
      <p:sp>
        <p:nvSpPr>
          <p:cNvPr id="2" name="">
            <a:extLst xmlns:a="http://schemas.openxmlformats.org/drawingml/2006/main">
              <a:ext uri="{FF2B5EF4-FFF2-40B4-BE49-F238E27FC236}">
                <a16:creationId xmlns:a16="http://schemas.microsoft.com/office/drawing/2014/main" id="{0AD32128-BA27-4D1C-9F24-2912CE8AE8C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decision</a:t>
            </a:r>
          </a:p>
        </p:txBody>
      </p:sp>
      <p:sp>
        <p:nvSpPr>
          <p:cNvPr id="3" name="">
            <a:extLst xmlns:a="http://schemas.openxmlformats.org/drawingml/2006/main">
              <a:ext uri="{FF2B5EF4-FFF2-40B4-BE49-F238E27FC236}">
                <a16:creationId xmlns:a16="http://schemas.microsoft.com/office/drawing/2014/main" id="{ED5B748F-2A55-4CAB-9366-4FFDBB4B147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3C19A3E-39EF-4348-A902-E1C983E869E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36</a:t>
            </a:r>
          </a:p>
        </p:txBody>
      </p:sp>
      <p:sp>
        <p:nvSpPr>
          <p:cNvPr id="5" name="">
            <a:extLst xmlns:a="http://schemas.openxmlformats.org/drawingml/2006/main">
              <a:ext uri="{FF2B5EF4-FFF2-40B4-BE49-F238E27FC236}">
                <a16:creationId xmlns:a16="http://schemas.microsoft.com/office/drawing/2014/main" id="{732D7725-5F14-41E5-B2D6-D5AB28D7607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7D7C692-A49A-4D1A-B1F4-A00908ABCE9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0AA74D0-6B73-4B29-9E14-396E8FE6AC3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5C5CAE-4D10-4F92-8E0C-AFD9F6DEAA9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D836CD5-AC16-43ED-91E5-1E4D26A2222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1FF9A20-3833-430D-A1FA-2E0CB1A2F7D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EEAA2A0-3D4A-48F7-B4CA-0980E232376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EC0B247-58E0-48F2-A173-596A671B3A0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EB9BE49-F529-4366-8363-C417EA865CC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30A4B0-1027-4D89-93C7-05F64BFD37E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71745F1-48D3-4AF9-A823-BA0521B91216}"/>
              </a:ext>
            </a:extLst>
          </p:cNvPr>
          <p:cNvSpPr>
            <a:spLocks xmlns:a="http://schemas.openxmlformats.org/drawingml/2006/main" noGrp="1"/>
          </p:cNvSpPr>
          <p:nvPr/>
        </p:nvSpPr>
        <p:spPr>
          <a:xfrm xmlns:a="http://schemas.openxmlformats.org/drawingml/2006/main">
            <a:off x="80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Prompt-sensitive</a:t>
            </a:r>
          </a:p>
        </p:txBody>
      </p:sp>
      <p:sp>
        <p:nvSpPr>
          <p:cNvPr id="16" name="">
            <a:extLst xmlns:a="http://schemas.openxmlformats.org/drawingml/2006/main">
              <a:ext uri="{FF2B5EF4-FFF2-40B4-BE49-F238E27FC236}">
                <a16:creationId xmlns:a16="http://schemas.microsoft.com/office/drawing/2014/main" id="{9667A706-692D-43C9-A713-9B25C315EC6E}"/>
              </a:ext>
            </a:extLst>
          </p:cNvPr>
          <p:cNvSpPr>
            <a:spLocks xmlns:a="http://schemas.openxmlformats.org/drawingml/2006/main" noGrp="1"/>
          </p:cNvSpPr>
          <p:nvPr/>
        </p:nvSpPr>
        <p:spPr>
          <a:xfrm xmlns:a="http://schemas.openxmlformats.org/drawingml/2006/main">
            <a:off x="4038600" y="20764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Test robust prompts and constrained labels before training</a:t>
            </a:r>
          </a:p>
        </p:txBody>
      </p:sp>
      <p:sp>
        <p:nvSpPr>
          <p:cNvPr id="17" name="">
            <a:extLst xmlns:a="http://schemas.openxmlformats.org/drawingml/2006/main">
              <a:ext uri="{FF2B5EF4-FFF2-40B4-BE49-F238E27FC236}">
                <a16:creationId xmlns:a16="http://schemas.microsoft.com/office/drawing/2014/main" id="{F3D40B1B-B4F4-43D8-9CD8-C0A7D1654A1E}"/>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A2CD00-A045-42DC-8630-C45C1AA65A62}"/>
              </a:ext>
            </a:extLst>
          </p:cNvPr>
          <p:cNvSpPr>
            <a:spLocks xmlns:a="http://schemas.openxmlformats.org/drawingml/2006/main" noGrp="1"/>
          </p:cNvSpPr>
          <p:nvPr/>
        </p:nvSpPr>
        <p:spPr>
          <a:xfrm xmlns:a="http://schemas.openxmlformats.org/drawingml/2006/main">
            <a:off x="800100" y="2876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History helps</a:t>
            </a:r>
          </a:p>
        </p:txBody>
      </p:sp>
      <p:sp>
        <p:nvSpPr>
          <p:cNvPr id="19" name="">
            <a:extLst xmlns:a="http://schemas.openxmlformats.org/drawingml/2006/main">
              <a:ext uri="{FF2B5EF4-FFF2-40B4-BE49-F238E27FC236}">
                <a16:creationId xmlns:a16="http://schemas.microsoft.com/office/drawing/2014/main" id="{E9DD1174-D3E3-4BE2-8BEE-8B29B8D37E1A}"/>
              </a:ext>
            </a:extLst>
          </p:cNvPr>
          <p:cNvSpPr>
            <a:spLocks xmlns:a="http://schemas.openxmlformats.org/drawingml/2006/main" noGrp="1"/>
          </p:cNvSpPr>
          <p:nvPr/>
        </p:nvSpPr>
        <p:spPr>
          <a:xfrm xmlns:a="http://schemas.openxmlformats.org/drawingml/2006/main">
            <a:off x="4038600" y="2876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Keep personal history and test shuffle, identity, and order controls</a:t>
            </a:r>
          </a:p>
        </p:txBody>
      </p:sp>
      <p:sp>
        <p:nvSpPr>
          <p:cNvPr id="20" name="">
            <a:extLst xmlns:a="http://schemas.openxmlformats.org/drawingml/2006/main">
              <a:ext uri="{FF2B5EF4-FFF2-40B4-BE49-F238E27FC236}">
                <a16:creationId xmlns:a16="http://schemas.microsoft.com/office/drawing/2014/main" id="{75514544-44A4-4660-BAF2-FBE63D2A723E}"/>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6D89D33-5CA3-42F4-8557-176E347E80EF}"/>
              </a:ext>
            </a:extLst>
          </p:cNvPr>
          <p:cNvSpPr>
            <a:spLocks xmlns:a="http://schemas.openxmlformats.org/drawingml/2006/main" noGrp="1"/>
          </p:cNvSpPr>
          <p:nvPr/>
        </p:nvSpPr>
        <p:spPr>
          <a:xfrm xmlns:a="http://schemas.openxmlformats.org/drawingml/2006/main">
            <a:off x="800100" y="36766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Stable repeated task</a:t>
            </a:r>
          </a:p>
        </p:txBody>
      </p:sp>
      <p:sp>
        <p:nvSpPr>
          <p:cNvPr id="22" name="">
            <a:extLst xmlns:a="http://schemas.openxmlformats.org/drawingml/2006/main">
              <a:ext uri="{FF2B5EF4-FFF2-40B4-BE49-F238E27FC236}">
                <a16:creationId xmlns:a16="http://schemas.microsoft.com/office/drawing/2014/main" id="{5E398099-D98C-45EE-ADF6-B57DF1F46E79}"/>
              </a:ext>
            </a:extLst>
          </p:cNvPr>
          <p:cNvSpPr>
            <a:spLocks xmlns:a="http://schemas.openxmlformats.org/drawingml/2006/main" noGrp="1"/>
          </p:cNvSpPr>
          <p:nvPr/>
        </p:nvSpPr>
        <p:spPr>
          <a:xfrm xmlns:a="http://schemas.openxmlformats.org/drawingml/2006/main">
            <a:off x="4038600" y="36766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Test supervised fine-tuning or low-rank adaptation on training participants</a:t>
            </a:r>
          </a:p>
        </p:txBody>
      </p:sp>
      <p:sp>
        <p:nvSpPr>
          <p:cNvPr id="23" name="">
            <a:extLst xmlns:a="http://schemas.openxmlformats.org/drawingml/2006/main">
              <a:ext uri="{FF2B5EF4-FFF2-40B4-BE49-F238E27FC236}">
                <a16:creationId xmlns:a16="http://schemas.microsoft.com/office/drawing/2014/main" id="{9CC23FA3-849D-4F66-9C92-8149FFD4B139}"/>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7E20D8C-1F6A-4BAF-9BFF-0A533090C0D3}"/>
              </a:ext>
            </a:extLst>
          </p:cNvPr>
          <p:cNvSpPr>
            <a:spLocks xmlns:a="http://schemas.openxmlformats.org/drawingml/2006/main" noGrp="1"/>
          </p:cNvSpPr>
          <p:nvPr/>
        </p:nvSpPr>
        <p:spPr>
          <a:xfrm xmlns:a="http://schemas.openxmlformats.org/drawingml/2006/main">
            <a:off x="800100" y="4476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Population + person matter</a:t>
            </a:r>
          </a:p>
        </p:txBody>
      </p:sp>
      <p:sp>
        <p:nvSpPr>
          <p:cNvPr id="25" name="">
            <a:extLst xmlns:a="http://schemas.openxmlformats.org/drawingml/2006/main">
              <a:ext uri="{FF2B5EF4-FFF2-40B4-BE49-F238E27FC236}">
                <a16:creationId xmlns:a16="http://schemas.microsoft.com/office/drawing/2014/main" id="{06E2EB4B-0813-45A6-BD6E-81AF25D65774}"/>
              </a:ext>
            </a:extLst>
          </p:cNvPr>
          <p:cNvSpPr>
            <a:spLocks xmlns:a="http://schemas.openxmlformats.org/drawingml/2006/main" noGrp="1"/>
          </p:cNvSpPr>
          <p:nvPr/>
        </p:nvSpPr>
        <p:spPr>
          <a:xfrm xmlns:a="http://schemas.openxmlformats.org/drawingml/2006/main">
            <a:off x="4038600" y="4476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Combine fine-tuning with personal history in context</a:t>
            </a:r>
          </a:p>
        </p:txBody>
      </p:sp>
      <p:sp>
        <p:nvSpPr>
          <p:cNvPr id="26" name="">
            <a:extLst xmlns:a="http://schemas.openxmlformats.org/drawingml/2006/main">
              <a:ext uri="{FF2B5EF4-FFF2-40B4-BE49-F238E27FC236}">
                <a16:creationId xmlns:a16="http://schemas.microsoft.com/office/drawing/2014/main" id="{BFDACC5E-5BF0-40AC-A676-DD7BE0ECDCC9}"/>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026618C-56D6-42C5-8378-F219F4B33693}"/>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687161F-659A-49EB-A544-99A6015F577D}"/>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Method choice should follow an observed prediction failure, not a technology checklist.</a:t>
            </a:r>
          </a:p>
        </p:txBody>
      </p:sp>
    </p:spTree>
    <p:extLst>
      <p:ext uri="{BB962C8B-B14F-4D97-AF65-F5344CB8AC3E}">
        <p14:creationId xmlns:p14="http://schemas.microsoft.com/office/powerpoint/2010/main" val="19943294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294E3F43-1608-4C18-BC31-C4B2D80C1A9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correct prediction can still have competing explanations</a:t>
            </a:r>
          </a:p>
        </p:txBody>
      </p:sp>
      <p:sp>
        <p:nvSpPr>
          <p:cNvPr id="2" name="">
            <a:extLst xmlns:a="http://schemas.openxmlformats.org/drawingml/2006/main">
              <a:ext uri="{FF2B5EF4-FFF2-40B4-BE49-F238E27FC236}">
                <a16:creationId xmlns:a16="http://schemas.microsoft.com/office/drawing/2014/main" id="{13187CA6-EC6C-435E-A4B4-0B92A4B6664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checkpoint</a:t>
            </a:r>
          </a:p>
        </p:txBody>
      </p:sp>
      <p:sp>
        <p:nvSpPr>
          <p:cNvPr id="3" name="">
            <a:extLst xmlns:a="http://schemas.openxmlformats.org/drawingml/2006/main">
              <a:ext uri="{FF2B5EF4-FFF2-40B4-BE49-F238E27FC236}">
                <a16:creationId xmlns:a16="http://schemas.microsoft.com/office/drawing/2014/main" id="{87AFAD85-C2E0-4F28-8C34-47E184145C4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891CF57-969E-4769-B7D3-3EC954EC1EB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2F995EE4-70EE-4DF7-983E-22457A17B71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0989A3-6BBC-4C53-8417-10604660C9A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D559EDA-0968-4E33-8F7E-A453348914F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0BF4C79-AFBD-46CA-B596-5BCB6CC0E23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E9694D6-355D-4EE9-966D-531CE5FA1D0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A954C9B-80A1-479B-9EEB-8EB844D6326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ABCD543-188F-4FD2-A3BC-FA1C253BD78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28F4540-4B93-4935-9608-AA692368130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2D13D73-9EFA-447F-884D-E85CE585FBD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F0717B-CF3C-4636-A9DD-FFAA4B96216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22024EC-FB81-48A3-B73E-171B108BD7A6}"/>
              </a:ext>
            </a:extLst>
          </p:cNvPr>
          <p:cNvSpPr>
            <a:spLocks xmlns:a="http://schemas.openxmlformats.org/drawingml/2006/main" noGrp="1"/>
          </p:cNvSpPr>
          <p:nvPr/>
        </p:nvSpPr>
        <p:spPr>
          <a:xfrm xmlns:a="http://schemas.openxmlformats.org/drawingml/2006/main">
            <a:off x="800100" y="1981200"/>
            <a:ext cx="971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498"/>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Current-trial prediction, participant history, and fine-tuning can agree on the same held-out choice.</a:t>
            </a:r>
          </a:p>
        </p:txBody>
      </p:sp>
      <p:sp>
        <p:nvSpPr>
          <p:cNvPr id="16" name="">
            <a:extLst xmlns:a="http://schemas.openxmlformats.org/drawingml/2006/main">
              <a:ext uri="{FF2B5EF4-FFF2-40B4-BE49-F238E27FC236}">
                <a16:creationId xmlns:a16="http://schemas.microsoft.com/office/drawing/2014/main" id="{FB1DFAE2-C796-4012-A9A7-8B3867775745}"/>
              </a:ext>
            </a:extLst>
          </p:cNvPr>
          <p:cNvSpPr>
            <a:spLocks xmlns:a="http://schemas.openxmlformats.org/drawingml/2006/main" noGrp="1"/>
          </p:cNvSpPr>
          <p:nvPr/>
        </p:nvSpPr>
        <p:spPr>
          <a:xfrm xmlns:a="http://schemas.openxmlformats.org/drawingml/2006/main">
            <a:off x="800100" y="2609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Candidate driver</a:t>
            </a:r>
          </a:p>
        </p:txBody>
      </p:sp>
      <p:sp>
        <p:nvSpPr>
          <p:cNvPr id="17" name="">
            <a:extLst xmlns:a="http://schemas.openxmlformats.org/drawingml/2006/main">
              <a:ext uri="{FF2B5EF4-FFF2-40B4-BE49-F238E27FC236}">
                <a16:creationId xmlns:a16="http://schemas.microsoft.com/office/drawing/2014/main" id="{97FB7959-1F4F-4383-82B0-42A84DA98585}"/>
              </a:ext>
            </a:extLst>
          </p:cNvPr>
          <p:cNvSpPr>
            <a:spLocks xmlns:a="http://schemas.openxmlformats.org/drawingml/2006/main" noGrp="1"/>
          </p:cNvSpPr>
          <p:nvPr/>
        </p:nvSpPr>
        <p:spPr>
          <a:xfrm xmlns:a="http://schemas.openxmlformats.org/drawingml/2006/main">
            <a:off x="3638550" y="26098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Decisive manipulation</a:t>
            </a:r>
          </a:p>
        </p:txBody>
      </p:sp>
      <p:sp>
        <p:nvSpPr>
          <p:cNvPr id="18" name="">
            <a:extLst xmlns:a="http://schemas.openxmlformats.org/drawingml/2006/main">
              <a:ext uri="{FF2B5EF4-FFF2-40B4-BE49-F238E27FC236}">
                <a16:creationId xmlns:a16="http://schemas.microsoft.com/office/drawing/2014/main" id="{74058875-4A56-419A-9C04-92753D17A54A}"/>
              </a:ext>
            </a:extLst>
          </p:cNvPr>
          <p:cNvSpPr>
            <a:spLocks xmlns:a="http://schemas.openxmlformats.org/drawingml/2006/main" noGrp="1"/>
          </p:cNvSpPr>
          <p:nvPr/>
        </p:nvSpPr>
        <p:spPr>
          <a:xfrm xmlns:a="http://schemas.openxmlformats.org/drawingml/2006/main">
            <a:off x="7848600" y="26098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Expected diagnostic change</a:t>
            </a:r>
          </a:p>
        </p:txBody>
      </p:sp>
      <p:sp>
        <p:nvSpPr>
          <p:cNvPr id="19" name="">
            <a:extLst xmlns:a="http://schemas.openxmlformats.org/drawingml/2006/main">
              <a:ext uri="{FF2B5EF4-FFF2-40B4-BE49-F238E27FC236}">
                <a16:creationId xmlns:a16="http://schemas.microsoft.com/office/drawing/2014/main" id="{84E50452-CA7B-4EE5-AAF4-533F8EA406D9}"/>
              </a:ext>
            </a:extLst>
          </p:cNvPr>
          <p:cNvSpPr>
            <a:spLocks xmlns:a="http://schemas.openxmlformats.org/drawingml/2006/main" noGrp="1"/>
          </p:cNvSpPr>
          <p:nvPr/>
        </p:nvSpPr>
        <p:spPr>
          <a:xfrm xmlns:a="http://schemas.openxmlformats.org/drawingml/2006/main">
            <a:off x="800100" y="3105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Certainty cue</a:t>
            </a:r>
          </a:p>
        </p:txBody>
      </p:sp>
      <p:sp>
        <p:nvSpPr>
          <p:cNvPr id="20" name="">
            <a:extLst xmlns:a="http://schemas.openxmlformats.org/drawingml/2006/main">
              <a:ext uri="{FF2B5EF4-FFF2-40B4-BE49-F238E27FC236}">
                <a16:creationId xmlns:a16="http://schemas.microsoft.com/office/drawing/2014/main" id="{32FF1E24-6B76-4AF1-B9D5-5A2E92F1D83A}"/>
              </a:ext>
            </a:extLst>
          </p:cNvPr>
          <p:cNvSpPr>
            <a:spLocks xmlns:a="http://schemas.openxmlformats.org/drawingml/2006/main" noGrp="1"/>
          </p:cNvSpPr>
          <p:nvPr/>
        </p:nvSpPr>
        <p:spPr>
          <a:xfrm xmlns:a="http://schemas.openxmlformats.org/drawingml/2006/main">
            <a:off x="3638550" y="31051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107"/>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Remove certainty or change the worst outcome</a:t>
            </a:r>
          </a:p>
        </p:txBody>
      </p:sp>
      <p:sp>
        <p:nvSpPr>
          <p:cNvPr id="21" name="">
            <a:extLst xmlns:a="http://schemas.openxmlformats.org/drawingml/2006/main">
              <a:ext uri="{FF2B5EF4-FFF2-40B4-BE49-F238E27FC236}">
                <a16:creationId xmlns:a16="http://schemas.microsoft.com/office/drawing/2014/main" id="{E53C47F2-2656-407D-A9D4-3F0E3A4CF44B}"/>
              </a:ext>
            </a:extLst>
          </p:cNvPr>
          <p:cNvSpPr>
            <a:spLocks xmlns:a="http://schemas.openxmlformats.org/drawingml/2006/main" noGrp="1"/>
          </p:cNvSpPr>
          <p:nvPr/>
        </p:nvSpPr>
        <p:spPr>
          <a:xfrm xmlns:a="http://schemas.openxmlformats.org/drawingml/2006/main">
            <a:off x="7848600" y="31051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Prediction should move</a:t>
            </a:r>
          </a:p>
        </p:txBody>
      </p:sp>
      <p:sp>
        <p:nvSpPr>
          <p:cNvPr id="22" name="">
            <a:extLst xmlns:a="http://schemas.openxmlformats.org/drawingml/2006/main">
              <a:ext uri="{FF2B5EF4-FFF2-40B4-BE49-F238E27FC236}">
                <a16:creationId xmlns:a16="http://schemas.microsoft.com/office/drawing/2014/main" id="{DF441A6D-DEAE-4D67-BB2D-AE399C386B3C}"/>
              </a:ext>
            </a:extLst>
          </p:cNvPr>
          <p:cNvSpPr>
            <a:spLocks xmlns:a="http://schemas.openxmlformats.org/drawingml/2006/main" noGrp="1"/>
          </p:cNvSpPr>
          <p:nvPr/>
        </p:nvSpPr>
        <p:spPr>
          <a:xfrm xmlns:a="http://schemas.openxmlformats.org/drawingml/2006/main">
            <a:off x="800100" y="36576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C29FB75-9867-44D7-9FB1-BA22535883B1}"/>
              </a:ext>
            </a:extLst>
          </p:cNvPr>
          <p:cNvSpPr>
            <a:spLocks xmlns:a="http://schemas.openxmlformats.org/drawingml/2006/main" noGrp="1"/>
          </p:cNvSpPr>
          <p:nvPr/>
        </p:nvSpPr>
        <p:spPr>
          <a:xfrm xmlns:a="http://schemas.openxmlformats.org/drawingml/2006/main">
            <a:off x="800100" y="3848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497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Cross-trial response pattern</a:t>
            </a:r>
          </a:p>
        </p:txBody>
      </p:sp>
      <p:sp>
        <p:nvSpPr>
          <p:cNvPr id="24" name="">
            <a:extLst xmlns:a="http://schemas.openxmlformats.org/drawingml/2006/main">
              <a:ext uri="{FF2B5EF4-FFF2-40B4-BE49-F238E27FC236}">
                <a16:creationId xmlns:a16="http://schemas.microsoft.com/office/drawing/2014/main" id="{B0BBBB4A-E2BC-44E1-A052-587A00518E79}"/>
              </a:ext>
            </a:extLst>
          </p:cNvPr>
          <p:cNvSpPr>
            <a:spLocks xmlns:a="http://schemas.openxmlformats.org/drawingml/2006/main" noGrp="1"/>
          </p:cNvSpPr>
          <p:nvPr/>
        </p:nvSpPr>
        <p:spPr>
          <a:xfrm xmlns:a="http://schemas.openxmlformats.org/drawingml/2006/main">
            <a:off x="3638550" y="38481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183"/>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Shuffle choices across P025's trials or use another person</a:t>
            </a:r>
          </a:p>
        </p:txBody>
      </p:sp>
      <p:sp>
        <p:nvSpPr>
          <p:cNvPr id="25" name="">
            <a:extLst xmlns:a="http://schemas.openxmlformats.org/drawingml/2006/main">
              <a:ext uri="{FF2B5EF4-FFF2-40B4-BE49-F238E27FC236}">
                <a16:creationId xmlns:a16="http://schemas.microsoft.com/office/drawing/2014/main" id="{47BB6043-87B7-4466-821A-2C517BFB4E0D}"/>
              </a:ext>
            </a:extLst>
          </p:cNvPr>
          <p:cNvSpPr>
            <a:spLocks xmlns:a="http://schemas.openxmlformats.org/drawingml/2006/main" noGrp="1"/>
          </p:cNvSpPr>
          <p:nvPr/>
        </p:nvSpPr>
        <p:spPr>
          <a:xfrm xmlns:a="http://schemas.openxmlformats.org/drawingml/2006/main">
            <a:off x="7848600" y="38481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83"/>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the history-based gain should shrink</a:t>
            </a:r>
          </a:p>
        </p:txBody>
      </p:sp>
      <p:sp>
        <p:nvSpPr>
          <p:cNvPr id="26" name="">
            <a:extLst xmlns:a="http://schemas.openxmlformats.org/drawingml/2006/main">
              <a:ext uri="{FF2B5EF4-FFF2-40B4-BE49-F238E27FC236}">
                <a16:creationId xmlns:a16="http://schemas.microsoft.com/office/drawing/2014/main" id="{BA788DFD-0E28-44DD-AB9B-1EF0B28EA8A6}"/>
              </a:ext>
            </a:extLst>
          </p:cNvPr>
          <p:cNvSpPr>
            <a:spLocks xmlns:a="http://schemas.openxmlformats.org/drawingml/2006/main" noGrp="1"/>
          </p:cNvSpPr>
          <p:nvPr/>
        </p:nvSpPr>
        <p:spPr>
          <a:xfrm xmlns:a="http://schemas.openxmlformats.org/drawingml/2006/main">
            <a:off x="800100" y="440055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EC68324-C7AD-4805-9B1E-A072459236BB}"/>
              </a:ext>
            </a:extLst>
          </p:cNvPr>
          <p:cNvSpPr>
            <a:spLocks xmlns:a="http://schemas.openxmlformats.org/drawingml/2006/main" noGrp="1"/>
          </p:cNvSpPr>
          <p:nvPr/>
        </p:nvSpPr>
        <p:spPr>
          <a:xfrm xmlns:a="http://schemas.openxmlformats.org/drawingml/2006/main">
            <a:off x="800100" y="4591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Concave utility</a:t>
            </a:r>
          </a:p>
        </p:txBody>
      </p:sp>
      <p:sp>
        <p:nvSpPr>
          <p:cNvPr id="28" name="">
            <a:extLst xmlns:a="http://schemas.openxmlformats.org/drawingml/2006/main">
              <a:ext uri="{FF2B5EF4-FFF2-40B4-BE49-F238E27FC236}">
                <a16:creationId xmlns:a16="http://schemas.microsoft.com/office/drawing/2014/main" id="{AB0FBD2D-74BD-4F06-9BB6-E06961EB6DF7}"/>
              </a:ext>
            </a:extLst>
          </p:cNvPr>
          <p:cNvSpPr>
            <a:spLocks xmlns:a="http://schemas.openxmlformats.org/drawingml/2006/main" noGrp="1"/>
          </p:cNvSpPr>
          <p:nvPr/>
        </p:nvSpPr>
        <p:spPr>
          <a:xfrm xmlns:a="http://schemas.openxmlformats.org/drawingml/2006/main">
            <a:off x="3638550" y="45910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Vary probability and payoff systematically</a:t>
            </a:r>
          </a:p>
        </p:txBody>
      </p:sp>
      <p:sp>
        <p:nvSpPr>
          <p:cNvPr id="29" name="">
            <a:extLst xmlns:a="http://schemas.openxmlformats.org/drawingml/2006/main">
              <a:ext uri="{FF2B5EF4-FFF2-40B4-BE49-F238E27FC236}">
                <a16:creationId xmlns:a16="http://schemas.microsoft.com/office/drawing/2014/main" id="{84EB4B7F-FBA2-40CE-8008-215E05A8E9FD}"/>
              </a:ext>
            </a:extLst>
          </p:cNvPr>
          <p:cNvSpPr>
            <a:spLocks xmlns:a="http://schemas.openxmlformats.org/drawingml/2006/main" noGrp="1"/>
          </p:cNvSpPr>
          <p:nvPr/>
        </p:nvSpPr>
        <p:spPr>
          <a:xfrm xmlns:a="http://schemas.openxmlformats.org/drawingml/2006/main">
            <a:off x="7848600" y="45910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Choice curve should change</a:t>
            </a:r>
          </a:p>
        </p:txBody>
      </p:sp>
      <p:sp>
        <p:nvSpPr>
          <p:cNvPr id="30" name="">
            <a:extLst xmlns:a="http://schemas.openxmlformats.org/drawingml/2006/main">
              <a:ext uri="{FF2B5EF4-FFF2-40B4-BE49-F238E27FC236}">
                <a16:creationId xmlns:a16="http://schemas.microsoft.com/office/drawing/2014/main" id="{150ADF80-AB73-4A54-A042-1A8C89E264C7}"/>
              </a:ext>
            </a:extLst>
          </p:cNvPr>
          <p:cNvSpPr>
            <a:spLocks xmlns:a="http://schemas.openxmlformats.org/drawingml/2006/main" noGrp="1"/>
          </p:cNvSpPr>
          <p:nvPr/>
        </p:nvSpPr>
        <p:spPr>
          <a:xfrm xmlns:a="http://schemas.openxmlformats.org/drawingml/2006/main">
            <a:off x="800100" y="51435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CE8389B-79FB-4541-9A02-74738EBF51CC}"/>
              </a:ext>
            </a:extLst>
          </p:cNvPr>
          <p:cNvSpPr>
            <a:spLocks xmlns:a="http://schemas.openxmlformats.org/drawingml/2006/main" noGrp="1"/>
          </p:cNvSpPr>
          <p:nvPr/>
        </p:nvSpPr>
        <p:spPr>
          <a:xfrm xmlns:a="http://schemas.openxmlformats.org/drawingml/2006/main">
            <a:off x="800100" y="54292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0A674E4-F39C-416E-A121-28AC1DFED605}"/>
              </a:ext>
            </a:extLst>
          </p:cNvPr>
          <p:cNvSpPr>
            <a:spLocks xmlns:a="http://schemas.openxmlformats.org/drawingml/2006/main" noGrp="1"/>
          </p:cNvSpPr>
          <p:nvPr/>
        </p:nvSpPr>
        <p:spPr>
          <a:xfrm xmlns:a="http://schemas.openxmlformats.org/drawingml/2006/main">
            <a:off x="1028700" y="54102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Prediction creates candidates; diagnostic manipulations separate them.</a:t>
            </a:r>
          </a:p>
        </p:txBody>
      </p:sp>
    </p:spTree>
    <p:extLst>
      <p:ext uri="{BB962C8B-B14F-4D97-AF65-F5344CB8AC3E}">
        <p14:creationId xmlns:p14="http://schemas.microsoft.com/office/powerpoint/2010/main" val="9829246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7211D92-E743-4897-ACB7-5EDE2045F5B3}"/>
              </a:ext>
            </a:extLst>
          </p:cNvPr>
          <p:cNvSpPr>
            <a:spLocks xmlns:a="http://schemas.openxmlformats.org/drawingml/2006/main" noGrp="1"/>
          </p:cNvSpPr>
          <p:nvPr/>
        </p:nvSpPr>
        <p:spPr>
          <a:xfrm xmlns:a="http://schemas.openxmlformats.org/drawingml/2006/main">
            <a:off x="2000250" y="24384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3900" b="1" i="0">
                <a:solidFill>
                  <a:srgbClr val="111827"/>
                </a:solidFill>
                <a:latin typeface="Arial"/>
                <a:ea typeface="Arial"/>
                <a:cs typeface="Arial"/>
              </a:defRPr>
            </a:pPr>
            <a:r>
              <a:rPr sz="3900" b="1" i="0">
                <a:solidFill>
                  <a:srgbClr val="111827"/>
                </a:solidFill>
                <a:latin typeface="Arial"/>
                <a:ea typeface="Arial"/>
                <a:cs typeface="Arial"/>
              </a:rPr>
              <a:t>Break / 10 minutes</a:t>
            </a:r>
          </a:p>
        </p:txBody>
      </p:sp>
      <p:sp>
        <p:nvSpPr>
          <p:cNvPr id="2" name="">
            <a:extLst xmlns:a="http://schemas.openxmlformats.org/drawingml/2006/main">
              <a:ext uri="{FF2B5EF4-FFF2-40B4-BE49-F238E27FC236}">
                <a16:creationId xmlns:a16="http://schemas.microsoft.com/office/drawing/2014/main" id="{B25B4E7E-0E43-48C3-89FC-02A66FFFDF2A}"/>
              </a:ext>
            </a:extLst>
          </p:cNvPr>
          <p:cNvSpPr>
            <a:spLocks xmlns:a="http://schemas.openxmlformats.org/drawingml/2006/main" noGrp="1"/>
          </p:cNvSpPr>
          <p:nvPr/>
        </p:nvSpPr>
        <p:spPr>
          <a:xfrm xmlns:a="http://schemas.openxmlformats.org/drawingml/2006/main">
            <a:off x="5429250" y="3333750"/>
            <a:ext cx="13335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2B2EB3E-274E-494D-AC48-1012F4D8C767}"/>
              </a:ext>
            </a:extLst>
          </p:cNvPr>
          <p:cNvSpPr>
            <a:spLocks xmlns:a="http://schemas.openxmlformats.org/drawingml/2006/main" noGrp="1"/>
          </p:cNvSpPr>
          <p:nvPr/>
        </p:nvSpPr>
        <p:spPr>
          <a:xfrm xmlns:a="http://schemas.openxmlformats.org/drawingml/2006/main">
            <a:off x="2476500" y="3771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0" i="0">
                <a:solidFill>
                  <a:srgbClr val="667085"/>
                </a:solidFill>
                <a:latin typeface="Arial"/>
                <a:ea typeface="Arial"/>
                <a:cs typeface="Arial"/>
              </a:defRPr>
            </a:pPr>
            <a:r>
              <a:rPr sz="1725" b="0" i="0">
                <a:solidFill>
                  <a:srgbClr val="667085"/>
                </a:solidFill>
                <a:latin typeface="Arial"/>
                <a:ea typeface="Arial"/>
                <a:cs typeface="Arial"/>
              </a:rPr>
              <a:t>Next: what information supported the improved prediction?</a:t>
            </a:r>
          </a:p>
        </p:txBody>
      </p:sp>
      <p:sp>
        <p:nvSpPr>
          <p:cNvPr id="4" name="">
            <a:extLst xmlns:a="http://schemas.openxmlformats.org/drawingml/2006/main">
              <a:ext uri="{FF2B5EF4-FFF2-40B4-BE49-F238E27FC236}">
                <a16:creationId xmlns:a16="http://schemas.microsoft.com/office/drawing/2014/main" id="{ADA8E373-7A75-459B-B19A-06C41289E67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9B964C1-9699-4D92-BCE1-84B799B344F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44C48FF2-74F8-4373-94C4-3BF509671A94}"/>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8AAAA08-6A6C-442F-B8E9-C724D0A24E7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70B9BED1-6703-40C8-9E7E-B6B019B0E31C}"/>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F4F73C1-1589-4257-AD0F-BE089E8686C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0" name="">
            <a:extLst xmlns:a="http://schemas.openxmlformats.org/drawingml/2006/main">
              <a:ext uri="{FF2B5EF4-FFF2-40B4-BE49-F238E27FC236}">
                <a16:creationId xmlns:a16="http://schemas.microsoft.com/office/drawing/2014/main" id="{ED211EAE-7D73-4574-B8CC-6C2C5D04FCD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4AD2965-21BD-4580-8321-B6805750FC1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E8A60D7A-5A06-40E4-8D7B-DC0E079DA97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ED491F0-CB3B-4838-BBFE-C7F7F18D466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75812973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584F42C-9188-4550-A2FD-D5026FBA5280}"/>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49CAFD09-1E95-4912-B0CE-053C01BDC18D}"/>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What information supports a decision?</a:t>
            </a:r>
          </a:p>
        </p:txBody>
      </p:sp>
      <p:sp>
        <p:nvSpPr>
          <p:cNvPr id="3" name="">
            <a:extLst xmlns:a="http://schemas.openxmlformats.org/drawingml/2006/main">
              <a:ext uri="{FF2B5EF4-FFF2-40B4-BE49-F238E27FC236}">
                <a16:creationId xmlns:a16="http://schemas.microsoft.com/office/drawing/2014/main" id="{0851594C-60A6-4C31-92CD-60AF03556BF7}"/>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E55109B-67BE-41DB-876F-985475D54787}"/>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Four questions guide the chapter: Is information present? How does it evolve? What does it mean? Does it predict behavior?</a:t>
            </a:r>
          </a:p>
        </p:txBody>
      </p:sp>
      <p:sp>
        <p:nvSpPr>
          <p:cNvPr id="5" name="">
            <a:extLst xmlns:a="http://schemas.openxmlformats.org/drawingml/2006/main">
              <a:ext uri="{FF2B5EF4-FFF2-40B4-BE49-F238E27FC236}">
                <a16:creationId xmlns:a16="http://schemas.microsoft.com/office/drawing/2014/main" id="{86E515F8-7899-4AAB-9FF2-68910B800C7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E1F2B3B-51D7-42B7-AE17-E94FF6B56F9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3235335-AF82-4664-BBEC-6D90C38F102A}"/>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4FEAB6-7AAA-4C99-933B-E6E1119F162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7D64784-B08B-4682-A733-77C6DA1B239A}"/>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241BDF-40C1-4FE3-A2A2-FFB2A5EDB64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972CEA6-748A-4B0C-B8BB-FC0CF16F745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69B693E-EE55-4D22-A55C-2A36B8AEC66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17C55D8-05BE-4D63-B889-4C1EF7CC3A4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9BE1B2-52D0-49EC-8BE1-0EDABB840EF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54503630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FB70366-6129-42F7-B5C1-48282F8AF85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choice, different internal states</a:t>
            </a:r>
          </a:p>
        </p:txBody>
      </p:sp>
      <p:sp>
        <p:nvSpPr>
          <p:cNvPr id="2" name="">
            <a:extLst xmlns:a="http://schemas.openxmlformats.org/drawingml/2006/main">
              <a:ext uri="{FF2B5EF4-FFF2-40B4-BE49-F238E27FC236}">
                <a16:creationId xmlns:a16="http://schemas.microsoft.com/office/drawing/2014/main" id="{EAF57441-AA3E-41DC-96C5-FB3F7E9E06E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motivation</a:t>
            </a:r>
          </a:p>
        </p:txBody>
      </p:sp>
      <p:sp>
        <p:nvSpPr>
          <p:cNvPr id="3" name="">
            <a:extLst xmlns:a="http://schemas.openxmlformats.org/drawingml/2006/main">
              <a:ext uri="{FF2B5EF4-FFF2-40B4-BE49-F238E27FC236}">
                <a16:creationId xmlns:a16="http://schemas.microsoft.com/office/drawing/2014/main" id="{FE1283BF-4A72-4DF0-9FA4-1B7091CA3CF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AEED82-3773-4F28-9FD2-1D98D55A2CD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1C33CBBB-0EB2-4220-8EA8-AF79A965293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1A3D17F-91BB-45BA-B308-1AFB36A6D5B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48E38EE-67DD-469C-B4FF-9EDC963887D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57225A-6F55-4973-BD4A-914C2237F10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08506DC-BAD2-499C-96FA-AFE8A300353E}"/>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9E25747-A6DF-4276-A5A2-8101F3FFAD1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797995E-8F77-4869-BF17-19419761F38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D6548DF-BD05-42CD-898D-0A22130AD47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F4F67C4-168A-436D-BF60-05CF4BECF56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46236CC-04B6-463E-87E9-C0AB5FD1EFC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43F2F0A-7611-456C-9200-550035D51DA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Why move beyond prediction?</a:t>
            </a:r>
          </a:p>
        </p:txBody>
      </p:sp>
      <p:sp>
        <p:nvSpPr>
          <p:cNvPr id="16" name="">
            <a:extLst xmlns:a="http://schemas.openxmlformats.org/drawingml/2006/main">
              <a:ext uri="{FF2B5EF4-FFF2-40B4-BE49-F238E27FC236}">
                <a16:creationId xmlns:a16="http://schemas.microsoft.com/office/drawing/2014/main" id="{6B5B0716-D2A0-4091-9986-CB8E7943EA15}"/>
              </a:ext>
            </a:extLst>
          </p:cNvPr>
          <p:cNvSpPr>
            <a:spLocks xmlns:a="http://schemas.openxmlformats.org/drawingml/2006/main" noGrp="1"/>
          </p:cNvSpPr>
          <p:nvPr/>
        </p:nvSpPr>
        <p:spPr>
          <a:xfrm xmlns:a="http://schemas.openxmlformats.org/drawingml/2006/main">
            <a:off x="8001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Observed behavior</a:t>
            </a:r>
          </a:p>
        </p:txBody>
      </p:sp>
      <p:sp>
        <p:nvSpPr>
          <p:cNvPr id="17" name="">
            <a:extLst xmlns:a="http://schemas.openxmlformats.org/drawingml/2006/main">
              <a:ext uri="{FF2B5EF4-FFF2-40B4-BE49-F238E27FC236}">
                <a16:creationId xmlns:a16="http://schemas.microsoft.com/office/drawing/2014/main" id="{341CDE91-285C-4F9F-B72F-86CBEE24512E}"/>
              </a:ext>
            </a:extLst>
          </p:cNvPr>
          <p:cNvSpPr>
            <a:spLocks xmlns:a="http://schemas.openxmlformats.org/drawingml/2006/main" noGrp="1"/>
          </p:cNvSpPr>
          <p:nvPr/>
        </p:nvSpPr>
        <p:spPr>
          <a:xfrm xmlns:a="http://schemas.openxmlformats.org/drawingml/2006/main">
            <a:off x="800100" y="25717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292"/>
          </a:bodyPr>
          <a:lstStyle xmlns:a="http://schemas.openxmlformats.org/drawingml/2006/main"/>
          <a:p xmlns:a="http://schemas.openxmlformats.org/drawingml/2006/main">
            <a:pPr algn="l">
              <a:lnSpc>
                <a:spcPct val="108000"/>
              </a:lnSpc>
              <a:buNone/>
              <a:defRPr sz="2250" b="1" i="0">
                <a:solidFill>
                  <a:srgbClr val="111827"/>
                </a:solidFill>
                <a:latin typeface="Arial"/>
                <a:ea typeface="Arial"/>
                <a:cs typeface="Arial"/>
              </a:defRPr>
            </a:pPr>
            <a:r>
              <a:rPr sz="2250" b="1" i="0">
                <a:solidFill>
                  <a:srgbClr val="111827"/>
                </a:solidFill>
                <a:latin typeface="Arial"/>
                <a:ea typeface="Arial"/>
                <a:cs typeface="Arial"/>
              </a:rPr>
              <a:t>Chooses the risky option</a:t>
            </a:r>
          </a:p>
        </p:txBody>
      </p:sp>
      <p:sp>
        <p:nvSpPr>
          <p:cNvPr id="18" name="">
            <a:extLst xmlns:a="http://schemas.openxmlformats.org/drawingml/2006/main">
              <a:ext uri="{FF2B5EF4-FFF2-40B4-BE49-F238E27FC236}">
                <a16:creationId xmlns:a16="http://schemas.microsoft.com/office/drawing/2014/main" id="{75A6F1AC-B2EA-413A-A98D-6E0093B7BBCC}"/>
              </a:ext>
            </a:extLst>
          </p:cNvPr>
          <p:cNvSpPr>
            <a:spLocks xmlns:a="http://schemas.openxmlformats.org/drawingml/2006/main" noGrp="1"/>
          </p:cNvSpPr>
          <p:nvPr/>
        </p:nvSpPr>
        <p:spPr>
          <a:xfrm xmlns:a="http://schemas.openxmlformats.org/drawingml/2006/main">
            <a:off x="4038600" y="2771775"/>
            <a:ext cx="5334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1306D90-73B4-4EB4-9710-6370F8F45753}"/>
              </a:ext>
            </a:extLst>
          </p:cNvPr>
          <p:cNvSpPr>
            <a:spLocks xmlns:a="http://schemas.openxmlformats.org/drawingml/2006/main" noGrp="1"/>
          </p:cNvSpPr>
          <p:nvPr/>
        </p:nvSpPr>
        <p:spPr>
          <a:xfrm xmlns:a="http://schemas.openxmlformats.org/drawingml/2006/main">
            <a:off x="49149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Possible state 1</a:t>
            </a:r>
          </a:p>
        </p:txBody>
      </p:sp>
      <p:sp>
        <p:nvSpPr>
          <p:cNvPr id="20" name="">
            <a:extLst xmlns:a="http://schemas.openxmlformats.org/drawingml/2006/main">
              <a:ext uri="{FF2B5EF4-FFF2-40B4-BE49-F238E27FC236}">
                <a16:creationId xmlns:a16="http://schemas.microsoft.com/office/drawing/2014/main" id="{D2720654-EFB9-442E-BF50-2A76148FAFF9}"/>
              </a:ext>
            </a:extLst>
          </p:cNvPr>
          <p:cNvSpPr>
            <a:spLocks xmlns:a="http://schemas.openxmlformats.org/drawingml/2006/main" noGrp="1"/>
          </p:cNvSpPr>
          <p:nvPr/>
        </p:nvSpPr>
        <p:spPr>
          <a:xfrm xmlns:a="http://schemas.openxmlformats.org/drawingml/2006/main">
            <a:off x="4914900" y="25527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0" i="1">
                <a:solidFill>
                  <a:srgbClr val="234E70"/>
                </a:solidFill>
                <a:latin typeface="Arial"/>
                <a:ea typeface="Arial"/>
                <a:cs typeface="Arial"/>
              </a:defRPr>
            </a:pPr>
            <a:r>
              <a:rPr sz="1875" b="0" i="1">
                <a:solidFill>
                  <a:srgbClr val="234E70"/>
                </a:solidFill>
                <a:latin typeface="Arial"/>
                <a:ea typeface="Arial"/>
                <a:cs typeface="Arial"/>
              </a:rPr>
              <a:t>Its expected value is higher.</a:t>
            </a:r>
          </a:p>
        </p:txBody>
      </p:sp>
      <p:sp>
        <p:nvSpPr>
          <p:cNvPr id="21" name="">
            <a:extLst xmlns:a="http://schemas.openxmlformats.org/drawingml/2006/main">
              <a:ext uri="{FF2B5EF4-FFF2-40B4-BE49-F238E27FC236}">
                <a16:creationId xmlns:a16="http://schemas.microsoft.com/office/drawing/2014/main" id="{624E9418-CC84-4BC5-A0FE-EAC8595DA242}"/>
              </a:ext>
            </a:extLst>
          </p:cNvPr>
          <p:cNvSpPr>
            <a:spLocks xmlns:a="http://schemas.openxmlformats.org/drawingml/2006/main" noGrp="1"/>
          </p:cNvSpPr>
          <p:nvPr/>
        </p:nvSpPr>
        <p:spPr>
          <a:xfrm xmlns:a="http://schemas.openxmlformats.org/drawingml/2006/main">
            <a:off x="83058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Possible state 2</a:t>
            </a:r>
          </a:p>
        </p:txBody>
      </p:sp>
      <p:sp>
        <p:nvSpPr>
          <p:cNvPr id="22" name="">
            <a:extLst xmlns:a="http://schemas.openxmlformats.org/drawingml/2006/main">
              <a:ext uri="{FF2B5EF4-FFF2-40B4-BE49-F238E27FC236}">
                <a16:creationId xmlns:a16="http://schemas.microsoft.com/office/drawing/2014/main" id="{D0A88844-CCE2-43C9-B9DC-F314732F6A94}"/>
              </a:ext>
            </a:extLst>
          </p:cNvPr>
          <p:cNvSpPr>
            <a:spLocks xmlns:a="http://schemas.openxmlformats.org/drawingml/2006/main" noGrp="1"/>
          </p:cNvSpPr>
          <p:nvPr/>
        </p:nvSpPr>
        <p:spPr>
          <a:xfrm xmlns:a="http://schemas.openxmlformats.org/drawingml/2006/main">
            <a:off x="8305800" y="25527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0" i="1">
                <a:solidFill>
                  <a:srgbClr val="5A4B6E"/>
                </a:solidFill>
                <a:latin typeface="Arial"/>
                <a:ea typeface="Arial"/>
                <a:cs typeface="Arial"/>
              </a:defRPr>
            </a:pPr>
            <a:r>
              <a:rPr sz="1875" b="0" i="1">
                <a:solidFill>
                  <a:srgbClr val="5A4B6E"/>
                </a:solidFill>
                <a:latin typeface="Arial"/>
                <a:ea typeface="Arial"/>
                <a:cs typeface="Arial"/>
              </a:rPr>
              <a:t>The large payoff is worth the gamble.</a:t>
            </a:r>
          </a:p>
        </p:txBody>
      </p:sp>
      <p:sp>
        <p:nvSpPr>
          <p:cNvPr id="23" name="">
            <a:extLst xmlns:a="http://schemas.openxmlformats.org/drawingml/2006/main">
              <a:ext uri="{FF2B5EF4-FFF2-40B4-BE49-F238E27FC236}">
                <a16:creationId xmlns:a16="http://schemas.microsoft.com/office/drawing/2014/main" id="{8341C236-C2AC-4171-BDEB-FECBA1C0B80E}"/>
              </a:ext>
            </a:extLst>
          </p:cNvPr>
          <p:cNvSpPr>
            <a:spLocks xmlns:a="http://schemas.openxmlformats.org/drawingml/2006/main" noGrp="1"/>
          </p:cNvSpPr>
          <p:nvPr/>
        </p:nvSpPr>
        <p:spPr>
          <a:xfrm xmlns:a="http://schemas.openxmlformats.org/drawingml/2006/main">
            <a:off x="800100" y="3695700"/>
            <a:ext cx="102870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BF34422-CCD1-4251-95FF-F83BC829BF75}"/>
              </a:ext>
            </a:extLst>
          </p:cNvPr>
          <p:cNvSpPr>
            <a:spLocks xmlns:a="http://schemas.openxmlformats.org/drawingml/2006/main" noGrp="1"/>
          </p:cNvSpPr>
          <p:nvPr/>
        </p:nvSpPr>
        <p:spPr>
          <a:xfrm xmlns:a="http://schemas.openxmlformats.org/drawingml/2006/main">
            <a:off x="800100" y="40576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Representation</a:t>
            </a:r>
          </a:p>
        </p:txBody>
      </p:sp>
      <p:sp>
        <p:nvSpPr>
          <p:cNvPr id="25" name="">
            <a:extLst xmlns:a="http://schemas.openxmlformats.org/drawingml/2006/main">
              <a:ext uri="{FF2B5EF4-FFF2-40B4-BE49-F238E27FC236}">
                <a16:creationId xmlns:a16="http://schemas.microsoft.com/office/drawing/2014/main" id="{A1266422-FDDE-4EA9-A4B2-C0338F307304}"/>
              </a:ext>
            </a:extLst>
          </p:cNvPr>
          <p:cNvSpPr>
            <a:spLocks xmlns:a="http://schemas.openxmlformats.org/drawingml/2006/main" noGrp="1"/>
          </p:cNvSpPr>
          <p:nvPr/>
        </p:nvSpPr>
        <p:spPr>
          <a:xfrm xmlns:a="http://schemas.openxmlformats.org/drawingml/2006/main">
            <a:off x="3238500" y="4057650"/>
            <a:ext cx="771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283643"/>
                </a:solidFill>
                <a:latin typeface="Arial"/>
                <a:ea typeface="Arial"/>
                <a:cs typeface="Arial"/>
              </a:defRPr>
            </a:pPr>
            <a:r>
              <a:rPr sz="1875" b="0" i="0">
                <a:solidFill>
                  <a:srgbClr val="283643"/>
                </a:solidFill>
                <a:latin typeface="Arial"/>
                <a:ea typeface="Arial"/>
                <a:cs typeface="Arial"/>
              </a:rPr>
              <a:t>Information carried by a system state that a later computation can use.</a:t>
            </a:r>
          </a:p>
        </p:txBody>
      </p:sp>
      <p:sp>
        <p:nvSpPr>
          <p:cNvPr id="26" name="">
            <a:extLst xmlns:a="http://schemas.openxmlformats.org/drawingml/2006/main">
              <a:ext uri="{FF2B5EF4-FFF2-40B4-BE49-F238E27FC236}">
                <a16:creationId xmlns:a16="http://schemas.microsoft.com/office/drawing/2014/main" id="{1756FF7E-B3B8-4EC8-AF1D-9AB5880DF9F2}"/>
              </a:ext>
            </a:extLst>
          </p:cNvPr>
          <p:cNvSpPr>
            <a:spLocks xmlns:a="http://schemas.openxmlformats.org/drawingml/2006/main" noGrp="1"/>
          </p:cNvSpPr>
          <p:nvPr/>
        </p:nvSpPr>
        <p:spPr>
          <a:xfrm xmlns:a="http://schemas.openxmlformats.org/drawingml/2006/main">
            <a:off x="3238500" y="4686300"/>
            <a:ext cx="771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5A4B6E"/>
                </a:solidFill>
                <a:latin typeface="Consolas"/>
                <a:ea typeface="Consolas"/>
                <a:cs typeface="Consolas"/>
              </a:defRPr>
            </a:pPr>
            <a:r>
              <a:rPr sz="1950" b="1" i="0">
                <a:solidFill>
                  <a:srgbClr val="5A4B6E"/>
                </a:solidFill>
                <a:latin typeface="Consolas"/>
                <a:ea typeface="Consolas"/>
                <a:cs typeface="Consolas"/>
              </a:rPr>
              <a:t>h(t) = f(question + reasoning up to t)</a:t>
            </a:r>
          </a:p>
        </p:txBody>
      </p:sp>
      <p:sp>
        <p:nvSpPr>
          <p:cNvPr id="27" name="">
            <a:extLst xmlns:a="http://schemas.openxmlformats.org/drawingml/2006/main">
              <a:ext uri="{FF2B5EF4-FFF2-40B4-BE49-F238E27FC236}">
                <a16:creationId xmlns:a16="http://schemas.microsoft.com/office/drawing/2014/main" id="{810F2358-A229-4E69-9343-ECD43B60CC20}"/>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80BA706-DB34-4D9F-B8F1-2FBC36CF95B7}"/>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what observations could constrain these unobserved states?</a:t>
            </a:r>
          </a:p>
        </p:txBody>
      </p:sp>
    </p:spTree>
    <p:extLst>
      <p:ext uri="{BB962C8B-B14F-4D97-AF65-F5344CB8AC3E}">
        <p14:creationId xmlns:p14="http://schemas.microsoft.com/office/powerpoint/2010/main" val="51102672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63E22A8-0FFD-484A-871C-18320110225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What does one choice-and-reasoning record look like?</a:t>
            </a:r>
          </a:p>
        </p:txBody>
      </p:sp>
      <p:sp>
        <p:nvSpPr>
          <p:cNvPr id="2" name="">
            <a:extLst xmlns:a="http://schemas.openxmlformats.org/drawingml/2006/main">
              <a:ext uri="{FF2B5EF4-FFF2-40B4-BE49-F238E27FC236}">
                <a16:creationId xmlns:a16="http://schemas.microsoft.com/office/drawing/2014/main" id="{5DAEF537-8550-47FD-9690-4D9DD9364A3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setup</a:t>
            </a:r>
          </a:p>
        </p:txBody>
      </p:sp>
      <p:sp>
        <p:nvSpPr>
          <p:cNvPr id="3" name="">
            <a:extLst xmlns:a="http://schemas.openxmlformats.org/drawingml/2006/main">
              <a:ext uri="{FF2B5EF4-FFF2-40B4-BE49-F238E27FC236}">
                <a16:creationId xmlns:a16="http://schemas.microsoft.com/office/drawing/2014/main" id="{7959BCE7-67DE-47F7-855A-70E1A537761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C8843F5-BF53-404F-B104-0A288019B26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79F98AA3-7022-472E-B8B4-69E5EED0645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0CA872E-9B59-4432-93F6-935A720EF34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479F4E1-DAB9-445C-AB44-1619E741019A}"/>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44E556-FF92-4C72-97A0-766EDCD2255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33EB5F8-7E9E-43C3-AE60-8A0326B26857}"/>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A052719-D357-4915-B4CA-6D0B2F25A5A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CC1EE58-AD90-42F8-9E9A-C49D7B184F5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544E36-E565-44DB-B9B4-DB5E90A7765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201D281-25C4-4224-B962-8F1082F7850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5DD992F-6B03-4423-980B-6477D543454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75CB5E5-A63A-4B9B-9768-56C7209B353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synthetic GPT-4 record from the tutorial dataset</a:t>
            </a:r>
          </a:p>
        </p:txBody>
      </p:sp>
      <p:sp>
        <p:nvSpPr>
          <p:cNvPr id="16" name="">
            <a:extLst xmlns:a="http://schemas.openxmlformats.org/drawingml/2006/main">
              <a:ext uri="{FF2B5EF4-FFF2-40B4-BE49-F238E27FC236}">
                <a16:creationId xmlns:a16="http://schemas.microsoft.com/office/drawing/2014/main" id="{BF0D9DD2-01EA-442D-BB7A-EAC28D903BC2}"/>
              </a:ext>
            </a:extLst>
          </p:cNvPr>
          <p:cNvSpPr>
            <a:spLocks xmlns:a="http://schemas.openxmlformats.org/drawingml/2006/main" noGrp="1"/>
          </p:cNvSpPr>
          <p:nvPr/>
        </p:nvSpPr>
        <p:spPr>
          <a:xfrm xmlns:a="http://schemas.openxmlformats.org/drawingml/2006/main">
            <a:off x="800100" y="1924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QUESTION PROMPT</a:t>
            </a:r>
          </a:p>
        </p:txBody>
      </p:sp>
      <p:sp>
        <p:nvSpPr>
          <p:cNvPr id="17" name="">
            <a:extLst xmlns:a="http://schemas.openxmlformats.org/drawingml/2006/main">
              <a:ext uri="{FF2B5EF4-FFF2-40B4-BE49-F238E27FC236}">
                <a16:creationId xmlns:a16="http://schemas.microsoft.com/office/drawing/2014/main" id="{9CB978B5-ECFC-4E78-A81F-6C4CF8C89AB1}"/>
              </a:ext>
            </a:extLst>
          </p:cNvPr>
          <p:cNvSpPr>
            <a:spLocks xmlns:a="http://schemas.openxmlformats.org/drawingml/2006/main" noGrp="1"/>
          </p:cNvSpPr>
          <p:nvPr/>
        </p:nvSpPr>
        <p:spPr>
          <a:xfrm xmlns:a="http://schemas.openxmlformats.org/drawingml/2006/main">
            <a:off x="800100" y="21907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Which option do you prefer?</a:t>
            </a:r>
          </a:p>
        </p:txBody>
      </p:sp>
      <p:sp>
        <p:nvSpPr>
          <p:cNvPr id="18" name="">
            <a:extLst xmlns:a="http://schemas.openxmlformats.org/drawingml/2006/main">
              <a:ext uri="{FF2B5EF4-FFF2-40B4-BE49-F238E27FC236}">
                <a16:creationId xmlns:a16="http://schemas.microsoft.com/office/drawing/2014/main" id="{4A290ABF-E7A3-4DC9-A4B9-FF24A52A0443}"/>
              </a:ext>
            </a:extLst>
          </p:cNvPr>
          <p:cNvSpPr>
            <a:spLocks xmlns:a="http://schemas.openxmlformats.org/drawingml/2006/main" noGrp="1"/>
          </p:cNvSpPr>
          <p:nvPr/>
        </p:nvSpPr>
        <p:spPr>
          <a:xfrm xmlns:a="http://schemas.openxmlformats.org/drawingml/2006/main">
            <a:off x="800100" y="25717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66"/>
          </a:bodyPr>
          <a:lstStyle xmlns:a="http://schemas.openxmlformats.org/drawingml/2006/main"/>
          <a:p xmlns:a="http://schemas.openxmlformats.org/drawingml/2006/main">
            <a:pPr algn="l">
              <a:lnSpc>
                <a:spcPct val="118000"/>
              </a:lnSpc>
              <a:buNone/>
              <a:defRPr sz="1650" b="0" i="0">
                <a:solidFill>
                  <a:srgbClr val="283643"/>
                </a:solidFill>
                <a:latin typeface="Arial"/>
                <a:ea typeface="Arial"/>
                <a:cs typeface="Arial"/>
              </a:defRPr>
            </a:pPr>
            <a:r>
              <a:rPr sz="1650" b="0" i="0">
                <a:solidFill>
                  <a:srgbClr val="283643"/>
                </a:solidFill>
                <a:latin typeface="Arial"/>
                <a:ea typeface="Arial"/>
                <a:cs typeface="Arial"/>
              </a:rPr>
              <a:t>Option A: 25% chance of $1,000; otherwise $0</a:t>
            </a:r>
          </a:p>
          <a:p xmlns:a="http://schemas.openxmlformats.org/drawingml/2006/main">
            <a:pPr algn="l">
              <a:lnSpc>
                <a:spcPct val="118000"/>
              </a:lnSpc>
              <a:buNone/>
              <a:defRPr sz="1650" b="0" i="0">
                <a:solidFill>
                  <a:srgbClr val="283643"/>
                </a:solidFill>
                <a:latin typeface="Arial"/>
                <a:ea typeface="Arial"/>
                <a:cs typeface="Arial"/>
              </a:defRPr>
            </a:pPr>
            <a:r>
              <a:rPr sz="1650" b="0" i="0">
                <a:solidFill>
                  <a:srgbClr val="283643"/>
                </a:solidFill>
                <a:latin typeface="Arial"/>
                <a:ea typeface="Arial"/>
                <a:cs typeface="Arial"/>
              </a:rPr>
              <a:t>Option B: $240 for sure</a:t>
            </a:r>
          </a:p>
        </p:txBody>
      </p:sp>
      <p:sp>
        <p:nvSpPr>
          <p:cNvPr id="19" name="">
            <a:extLst xmlns:a="http://schemas.openxmlformats.org/drawingml/2006/main">
              <a:ext uri="{FF2B5EF4-FFF2-40B4-BE49-F238E27FC236}">
                <a16:creationId xmlns:a16="http://schemas.microsoft.com/office/drawing/2014/main" id="{540DE31B-4482-4579-91B7-93FECE5AD99A}"/>
              </a:ext>
            </a:extLst>
          </p:cNvPr>
          <p:cNvSpPr>
            <a:spLocks xmlns:a="http://schemas.openxmlformats.org/drawingml/2006/main" noGrp="1"/>
          </p:cNvSpPr>
          <p:nvPr/>
        </p:nvSpPr>
        <p:spPr>
          <a:xfrm xmlns:a="http://schemas.openxmlformats.org/drawingml/2006/main">
            <a:off x="800100" y="3562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PERSONA</a:t>
            </a:r>
          </a:p>
        </p:txBody>
      </p:sp>
      <p:sp>
        <p:nvSpPr>
          <p:cNvPr id="20" name="">
            <a:extLst xmlns:a="http://schemas.openxmlformats.org/drawingml/2006/main">
              <a:ext uri="{FF2B5EF4-FFF2-40B4-BE49-F238E27FC236}">
                <a16:creationId xmlns:a16="http://schemas.microsoft.com/office/drawing/2014/main" id="{E750E9C8-0B12-4478-AEDE-5A4FC157E5BA}"/>
              </a:ext>
            </a:extLst>
          </p:cNvPr>
          <p:cNvSpPr>
            <a:spLocks xmlns:a="http://schemas.openxmlformats.org/drawingml/2006/main" noGrp="1"/>
          </p:cNvSpPr>
          <p:nvPr/>
        </p:nvSpPr>
        <p:spPr>
          <a:xfrm xmlns:a="http://schemas.openxmlformats.org/drawingml/2006/main">
            <a:off x="800100" y="38290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Probability-Weighted Decision-Maker</a:t>
            </a:r>
          </a:p>
        </p:txBody>
      </p:sp>
      <p:sp>
        <p:nvSpPr>
          <p:cNvPr id="21" name="">
            <a:extLst xmlns:a="http://schemas.openxmlformats.org/drawingml/2006/main">
              <a:ext uri="{FF2B5EF4-FFF2-40B4-BE49-F238E27FC236}">
                <a16:creationId xmlns:a16="http://schemas.microsoft.com/office/drawing/2014/main" id="{9A80BBD0-930D-4868-A77D-F6A5E5C9BECA}"/>
              </a:ext>
            </a:extLst>
          </p:cNvPr>
          <p:cNvSpPr>
            <a:spLocks xmlns:a="http://schemas.openxmlformats.org/drawingml/2006/main" noGrp="1"/>
          </p:cNvSpPr>
          <p:nvPr/>
        </p:nvSpPr>
        <p:spPr>
          <a:xfrm xmlns:a="http://schemas.openxmlformats.org/drawingml/2006/main">
            <a:off x="5219700" y="1924050"/>
            <a:ext cx="19050" cy="31432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185F999-F500-4A0A-A313-DD1B7F47169C}"/>
              </a:ext>
            </a:extLst>
          </p:cNvPr>
          <p:cNvSpPr>
            <a:spLocks xmlns:a="http://schemas.openxmlformats.org/drawingml/2006/main" noGrp="1"/>
          </p:cNvSpPr>
          <p:nvPr/>
        </p:nvSpPr>
        <p:spPr>
          <a:xfrm xmlns:a="http://schemas.openxmlformats.org/drawingml/2006/main">
            <a:off x="5543550" y="1924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THINK-ALOUD RESPONSE</a:t>
            </a:r>
          </a:p>
        </p:txBody>
      </p:sp>
      <p:sp>
        <p:nvSpPr>
          <p:cNvPr id="23" name="">
            <a:extLst xmlns:a="http://schemas.openxmlformats.org/drawingml/2006/main">
              <a:ext uri="{FF2B5EF4-FFF2-40B4-BE49-F238E27FC236}">
                <a16:creationId xmlns:a16="http://schemas.microsoft.com/office/drawing/2014/main" id="{422621E5-8E8A-429A-8C46-F739B2D87ED3}"/>
              </a:ext>
            </a:extLst>
          </p:cNvPr>
          <p:cNvSpPr>
            <a:spLocks xmlns:a="http://schemas.openxmlformats.org/drawingml/2006/main" noGrp="1"/>
          </p:cNvSpPr>
          <p:nvPr/>
        </p:nvSpPr>
        <p:spPr>
          <a:xfrm xmlns:a="http://schemas.openxmlformats.org/drawingml/2006/main">
            <a:off x="5543550" y="2228850"/>
            <a:ext cx="561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20"/>
          </a:bodyPr>
          <a:lstStyle xmlns:a="http://schemas.openxmlformats.org/drawingml/2006/main"/>
          <a:p xmlns:a="http://schemas.openxmlformats.org/drawingml/2006/main">
            <a:pPr algn="l">
              <a:lnSpc>
                <a:spcPct val="115000"/>
              </a:lnSpc>
              <a:buNone/>
              <a:defRPr sz="1650" b="0" i="1">
                <a:solidFill>
                  <a:srgbClr val="111827"/>
                </a:solidFill>
                <a:latin typeface="Arial"/>
                <a:ea typeface="Arial"/>
                <a:cs typeface="Arial"/>
              </a:defRPr>
            </a:pPr>
            <a:r>
              <a:rPr sz="1650" b="0" i="1">
                <a:solidFill>
                  <a:srgbClr val="111827"/>
                </a:solidFill>
                <a:latin typeface="Arial"/>
                <a:ea typeface="Arial"/>
                <a:cs typeface="Arial"/>
              </a:rPr>
              <a:t>"To make this decision, I'll calculate the expected value of each option."</a:t>
            </a:r>
          </a:p>
        </p:txBody>
      </p:sp>
      <p:sp>
        <p:nvSpPr>
          <p:cNvPr id="24" name="">
            <a:extLst xmlns:a="http://schemas.openxmlformats.org/drawingml/2006/main">
              <a:ext uri="{FF2B5EF4-FFF2-40B4-BE49-F238E27FC236}">
                <a16:creationId xmlns:a16="http://schemas.microsoft.com/office/drawing/2014/main" id="{735507C3-E7BE-4BA0-89BB-F9D6717C3966}"/>
              </a:ext>
            </a:extLst>
          </p:cNvPr>
          <p:cNvSpPr>
            <a:spLocks xmlns:a="http://schemas.openxmlformats.org/drawingml/2006/main" noGrp="1"/>
          </p:cNvSpPr>
          <p:nvPr/>
        </p:nvSpPr>
        <p:spPr>
          <a:xfrm xmlns:a="http://schemas.openxmlformats.org/drawingml/2006/main">
            <a:off x="5543550" y="2952750"/>
            <a:ext cx="561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A: 0.25 x $1,000 = $250</a:t>
            </a:r>
          </a:p>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B: 1.00 x $240 = $240</a:t>
            </a:r>
          </a:p>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A has a higher expected value than Option B."</a:t>
            </a:r>
          </a:p>
        </p:txBody>
      </p:sp>
      <p:sp>
        <p:nvSpPr>
          <p:cNvPr id="25" name="">
            <a:extLst xmlns:a="http://schemas.openxmlformats.org/drawingml/2006/main">
              <a:ext uri="{FF2B5EF4-FFF2-40B4-BE49-F238E27FC236}">
                <a16:creationId xmlns:a16="http://schemas.microsoft.com/office/drawing/2014/main" id="{0BFC9E57-DB9A-4B88-ADC9-9A161BDEC05A}"/>
              </a:ext>
            </a:extLst>
          </p:cNvPr>
          <p:cNvSpPr>
            <a:spLocks xmlns:a="http://schemas.openxmlformats.org/drawingml/2006/main" noGrp="1"/>
          </p:cNvSpPr>
          <p:nvPr/>
        </p:nvSpPr>
        <p:spPr>
          <a:xfrm xmlns:a="http://schemas.openxmlformats.org/drawingml/2006/main">
            <a:off x="5543550" y="4324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ACTION CLAIM</a:t>
            </a:r>
          </a:p>
        </p:txBody>
      </p:sp>
      <p:sp>
        <p:nvSpPr>
          <p:cNvPr id="26" name="">
            <a:extLst xmlns:a="http://schemas.openxmlformats.org/drawingml/2006/main">
              <a:ext uri="{FF2B5EF4-FFF2-40B4-BE49-F238E27FC236}">
                <a16:creationId xmlns:a16="http://schemas.microsoft.com/office/drawing/2014/main" id="{410193DE-DD53-4DED-89AB-E5BC1BBF2D61}"/>
              </a:ext>
            </a:extLst>
          </p:cNvPr>
          <p:cNvSpPr>
            <a:spLocks xmlns:a="http://schemas.openxmlformats.org/drawingml/2006/main" noGrp="1"/>
          </p:cNvSpPr>
          <p:nvPr/>
        </p:nvSpPr>
        <p:spPr>
          <a:xfrm xmlns:a="http://schemas.openxmlformats.org/drawingml/2006/main">
            <a:off x="5543550" y="4591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"I will choose Option A."</a:t>
            </a:r>
          </a:p>
        </p:txBody>
      </p:sp>
      <p:sp>
        <p:nvSpPr>
          <p:cNvPr id="27" name="">
            <a:extLst xmlns:a="http://schemas.openxmlformats.org/drawingml/2006/main">
              <a:ext uri="{FF2B5EF4-FFF2-40B4-BE49-F238E27FC236}">
                <a16:creationId xmlns:a16="http://schemas.microsoft.com/office/drawing/2014/main" id="{ED385B78-3491-4B67-852E-700D1B049456}"/>
              </a:ext>
            </a:extLst>
          </p:cNvPr>
          <p:cNvSpPr>
            <a:spLocks xmlns:a="http://schemas.openxmlformats.org/drawingml/2006/main" noGrp="1"/>
          </p:cNvSpPr>
          <p:nvPr/>
        </p:nvSpPr>
        <p:spPr>
          <a:xfrm xmlns:a="http://schemas.openxmlformats.org/drawingml/2006/main">
            <a:off x="800100" y="523875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1">
                <a:solidFill>
                  <a:srgbClr val="667085"/>
                </a:solidFill>
                <a:latin typeface="Arial"/>
                <a:ea typeface="Arial"/>
                <a:cs typeface="Arial"/>
              </a:defRPr>
            </a:pPr>
            <a:r>
              <a:rPr sz="1500" b="0" i="1">
                <a:solidFill>
                  <a:srgbClr val="667085"/>
                </a:solidFill>
                <a:latin typeface="Arial"/>
                <a:ea typeface="Arial"/>
                <a:cs typeface="Arial"/>
              </a:rPr>
              <a:t>For analysis, the final claim becomes "Option X" and the persona label is hidden.</a:t>
            </a:r>
          </a:p>
        </p:txBody>
      </p:sp>
      <p:sp>
        <p:nvSpPr>
          <p:cNvPr id="28" name="">
            <a:extLst xmlns:a="http://schemas.openxmlformats.org/drawingml/2006/main">
              <a:ext uri="{FF2B5EF4-FFF2-40B4-BE49-F238E27FC236}">
                <a16:creationId xmlns:a16="http://schemas.microsoft.com/office/drawing/2014/main" id="{291070BE-D2AA-403D-B771-F6FA3755763A}"/>
              </a:ext>
            </a:extLst>
          </p:cNvPr>
          <p:cNvSpPr>
            <a:spLocks xmlns:a="http://schemas.openxmlformats.org/drawingml/2006/main" noGrp="1"/>
          </p:cNvSpPr>
          <p:nvPr/>
        </p:nvSpPr>
        <p:spPr>
          <a:xfrm xmlns:a="http://schemas.openxmlformats.org/drawingml/2006/main">
            <a:off x="800100" y="54673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739C1AD-0CF8-4DF0-B8EB-9041248A66E8}"/>
              </a:ext>
            </a:extLst>
          </p:cNvPr>
          <p:cNvSpPr>
            <a:spLocks xmlns:a="http://schemas.openxmlformats.org/drawingml/2006/main" noGrp="1"/>
          </p:cNvSpPr>
          <p:nvPr/>
        </p:nvSpPr>
        <p:spPr>
          <a:xfrm xmlns:a="http://schemas.openxmlformats.org/drawingml/2006/main">
            <a:off x="1028700" y="54483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how can this observable record constrain an unobserved representation?</a:t>
            </a:r>
          </a:p>
        </p:txBody>
      </p:sp>
    </p:spTree>
    <p:extLst>
      <p:ext uri="{BB962C8B-B14F-4D97-AF65-F5344CB8AC3E}">
        <p14:creationId xmlns:p14="http://schemas.microsoft.com/office/powerpoint/2010/main" val="131337391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326525F-61D6-489C-88EB-A1AFBADB0F4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Representation must be inferred from observations</a:t>
            </a:r>
          </a:p>
        </p:txBody>
      </p:sp>
      <p:sp>
        <p:nvSpPr>
          <p:cNvPr id="2" name="">
            <a:extLst xmlns:a="http://schemas.openxmlformats.org/drawingml/2006/main">
              <a:ext uri="{FF2B5EF4-FFF2-40B4-BE49-F238E27FC236}">
                <a16:creationId xmlns:a16="http://schemas.microsoft.com/office/drawing/2014/main" id="{FE2A285A-5EBA-4995-9EF4-A52E76ED76A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a:t>
            </a:r>
          </a:p>
        </p:txBody>
      </p:sp>
      <p:sp>
        <p:nvSpPr>
          <p:cNvPr id="3" name="">
            <a:extLst xmlns:a="http://schemas.openxmlformats.org/drawingml/2006/main">
              <a:ext uri="{FF2B5EF4-FFF2-40B4-BE49-F238E27FC236}">
                <a16:creationId xmlns:a16="http://schemas.microsoft.com/office/drawing/2014/main" id="{DBACD04D-2801-4F4A-8152-9FE8F5330B4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9E80BB0-D1FB-4150-93AC-CB08A76B9C9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42</a:t>
            </a:r>
          </a:p>
        </p:txBody>
      </p:sp>
      <p:sp>
        <p:nvSpPr>
          <p:cNvPr id="5" name="">
            <a:extLst xmlns:a="http://schemas.openxmlformats.org/drawingml/2006/main">
              <a:ext uri="{FF2B5EF4-FFF2-40B4-BE49-F238E27FC236}">
                <a16:creationId xmlns:a16="http://schemas.microsoft.com/office/drawing/2014/main" id="{75C1577C-0125-4D56-B4E9-606410AC48E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CB2B937-5603-4012-A11C-14062AC0297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EB35ED6-9F4C-445F-9310-D63300480BC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660109B-483B-49E2-9238-192D54F11D3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98797A5-02EC-4EB6-B202-B9EE5451C8E4}"/>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1DA8255-096E-4A1A-8FE5-E01999B43C4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E68443F-BE87-4A34-8B95-7D7BD490B79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30EC106-913B-4A08-9846-8E606393244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1EEEAD1-0D98-460C-8158-06695939CEA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FA1D0E2-BCD9-4309-AF4C-BC839E7107D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06CDF31-EF93-4FBA-BDC0-BAE16EA33F2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three-step measurement argument</a:t>
            </a:r>
          </a:p>
        </p:txBody>
      </p:sp>
      <p:sp>
        <p:nvSpPr>
          <p:cNvPr id="16" name="">
            <a:extLst xmlns:a="http://schemas.openxmlformats.org/drawingml/2006/main">
              <a:ext uri="{FF2B5EF4-FFF2-40B4-BE49-F238E27FC236}">
                <a16:creationId xmlns:a16="http://schemas.microsoft.com/office/drawing/2014/main" id="{7880B556-AE8D-4417-A7A4-EF07A6FA60AC}"/>
              </a:ext>
            </a:extLst>
          </p:cNvPr>
          <p:cNvSpPr>
            <a:spLocks xmlns:a="http://schemas.openxmlformats.org/drawingml/2006/main" noGrp="1"/>
          </p:cNvSpPr>
          <p:nvPr/>
        </p:nvSpPr>
        <p:spPr>
          <a:xfrm xmlns:a="http://schemas.openxmlformats.org/drawingml/2006/main">
            <a:off x="990600" y="200025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Observe: We record choices, language, eye movements, physiology, or neural signals - not the representation itself.</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Infer: A measurement model maps those observations to a candidate latent state.</a:t>
            </a:r>
          </a:p>
        </p:txBody>
      </p:sp>
      <p:sp>
        <p:nvSpPr>
          <p:cNvPr id="17" name="">
            <a:extLst xmlns:a="http://schemas.openxmlformats.org/drawingml/2006/main">
              <a:ext uri="{FF2B5EF4-FFF2-40B4-BE49-F238E27FC236}">
                <a16:creationId xmlns:a16="http://schemas.microsoft.com/office/drawing/2014/main" id="{EEAF1D1D-271A-44CB-897E-7719BA0BDE0A}"/>
              </a:ext>
            </a:extLst>
          </p:cNvPr>
          <p:cNvSpPr>
            <a:spLocks xmlns:a="http://schemas.openxmlformats.org/drawingml/2006/main" noGrp="1"/>
          </p:cNvSpPr>
          <p:nvPr/>
        </p:nvSpPr>
        <p:spPr>
          <a:xfrm xmlns:a="http://schemas.openxmlformats.org/drawingml/2006/main">
            <a:off x="800100" y="4914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89A1271-838F-4C34-91D5-DCCF8CA1DBEF}"/>
              </a:ext>
            </a:extLst>
          </p:cNvPr>
          <p:cNvSpPr>
            <a:spLocks xmlns:a="http://schemas.openxmlformats.org/drawingml/2006/main" noGrp="1"/>
          </p:cNvSpPr>
          <p:nvPr/>
        </p:nvSpPr>
        <p:spPr>
          <a:xfrm xmlns:a="http://schemas.openxmlformats.org/drawingml/2006/main">
            <a:off x="1028700" y="4895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 measurement model supplies the bridge from observations to a candidate latent state.</a:t>
            </a:r>
          </a:p>
        </p:txBody>
      </p:sp>
    </p:spTree>
    <p:extLst>
      <p:ext uri="{BB962C8B-B14F-4D97-AF65-F5344CB8AC3E}">
        <p14:creationId xmlns:p14="http://schemas.microsoft.com/office/powerpoint/2010/main" val="75977906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4B6EF69-07CD-4AA8-905C-AF1D3E0526E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Representation must be inferred from observations</a:t>
            </a:r>
          </a:p>
        </p:txBody>
      </p:sp>
      <p:sp>
        <p:nvSpPr>
          <p:cNvPr id="2" name="">
            <a:extLst xmlns:a="http://schemas.openxmlformats.org/drawingml/2006/main">
              <a:ext uri="{FF2B5EF4-FFF2-40B4-BE49-F238E27FC236}">
                <a16:creationId xmlns:a16="http://schemas.microsoft.com/office/drawing/2014/main" id="{79DE65EF-A397-4D7D-B08A-58CEFB4E3C4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a:t>
            </a:r>
          </a:p>
        </p:txBody>
      </p:sp>
      <p:sp>
        <p:nvSpPr>
          <p:cNvPr id="3" name="">
            <a:extLst xmlns:a="http://schemas.openxmlformats.org/drawingml/2006/main">
              <a:ext uri="{FF2B5EF4-FFF2-40B4-BE49-F238E27FC236}">
                <a16:creationId xmlns:a16="http://schemas.microsoft.com/office/drawing/2014/main" id="{57DA40DC-5DF2-4087-B21E-51B19018AA4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1D30B3-C106-4BC0-8A44-3DED9A43FD4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43</a:t>
            </a:r>
          </a:p>
        </p:txBody>
      </p:sp>
      <p:sp>
        <p:nvSpPr>
          <p:cNvPr id="5" name="">
            <a:extLst xmlns:a="http://schemas.openxmlformats.org/drawingml/2006/main">
              <a:ext uri="{FF2B5EF4-FFF2-40B4-BE49-F238E27FC236}">
                <a16:creationId xmlns:a16="http://schemas.microsoft.com/office/drawing/2014/main" id="{1C8FCEEC-5316-41B3-8551-3EAA4632E29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03395A7-0A29-4FA3-869E-370AC77E598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4AAA5F2-5514-4922-A815-337B325B5FBA}"/>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75D3460-93E0-4A8B-83D9-CC52A1F0887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709568E-5804-4BEB-A9F3-253B3404E477}"/>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30E915D-9951-4839-A925-4EDF363462A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9BA4ADE-604F-4EE6-A940-6278281B073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7C2CB14-E989-4DAE-BF42-76E38D7E2C9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E49F22A-D146-49EF-BF7B-BB0B1D4295B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E14C2D-0A45-487C-98A1-4CE9ACFFF6F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4EF5296-07E9-4720-B031-77E26DC7B7D8}"/>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three-step measurement argument</a:t>
            </a:r>
          </a:p>
        </p:txBody>
      </p:sp>
      <p:sp>
        <p:nvSpPr>
          <p:cNvPr id="16" name="">
            <a:extLst xmlns:a="http://schemas.openxmlformats.org/drawingml/2006/main">
              <a:ext uri="{FF2B5EF4-FFF2-40B4-BE49-F238E27FC236}">
                <a16:creationId xmlns:a16="http://schemas.microsoft.com/office/drawing/2014/main" id="{38C51C0B-4BF8-4828-ABA6-641FCED542D5}"/>
              </a:ext>
            </a:extLst>
          </p:cNvPr>
          <p:cNvSpPr>
            <a:spLocks xmlns:a="http://schemas.openxmlformats.org/drawingml/2006/main" noGrp="1"/>
          </p:cNvSpPr>
          <p:nvPr/>
        </p:nvSpPr>
        <p:spPr>
          <a:xfrm xmlns:a="http://schemas.openxmlformats.org/drawingml/2006/main">
            <a:off x="990600" y="200025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Observe: We record choices, language, eye movements, physiology, or neural signals - not the representation itself.</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Infer: A measurement model maps those observations to a candidate latent state.</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Interpret cautiously: The inferred state depends on the model and its assumptions; it is not ground truth.</a:t>
            </a:r>
          </a:p>
        </p:txBody>
      </p:sp>
      <p:sp>
        <p:nvSpPr>
          <p:cNvPr id="17" name="">
            <a:extLst xmlns:a="http://schemas.openxmlformats.org/drawingml/2006/main">
              <a:ext uri="{FF2B5EF4-FFF2-40B4-BE49-F238E27FC236}">
                <a16:creationId xmlns:a16="http://schemas.microsoft.com/office/drawing/2014/main" id="{39099242-D899-4C6D-98FC-3F1EE350F5F4}"/>
              </a:ext>
            </a:extLst>
          </p:cNvPr>
          <p:cNvSpPr>
            <a:spLocks xmlns:a="http://schemas.openxmlformats.org/drawingml/2006/main" noGrp="1"/>
          </p:cNvSpPr>
          <p:nvPr/>
        </p:nvSpPr>
        <p:spPr>
          <a:xfrm xmlns:a="http://schemas.openxmlformats.org/drawingml/2006/main">
            <a:off x="800100" y="432435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38A17C-9C44-4143-AF4B-788210055F10}"/>
              </a:ext>
            </a:extLst>
          </p:cNvPr>
          <p:cNvSpPr>
            <a:spLocks xmlns:a="http://schemas.openxmlformats.org/drawingml/2006/main" noGrp="1"/>
          </p:cNvSpPr>
          <p:nvPr/>
        </p:nvSpPr>
        <p:spPr>
          <a:xfrm xmlns:a="http://schemas.openxmlformats.org/drawingml/2006/main">
            <a:off x="800100" y="4572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Why use Qwen here?</a:t>
            </a:r>
          </a:p>
        </p:txBody>
      </p:sp>
      <p:sp>
        <p:nvSpPr>
          <p:cNvPr id="19" name="">
            <a:extLst xmlns:a="http://schemas.openxmlformats.org/drawingml/2006/main">
              <a:ext uri="{FF2B5EF4-FFF2-40B4-BE49-F238E27FC236}">
                <a16:creationId xmlns:a16="http://schemas.microsoft.com/office/drawing/2014/main" id="{D23396A0-82C5-419F-BE9A-CD26C22186C1}"/>
              </a:ext>
            </a:extLst>
          </p:cNvPr>
          <p:cNvSpPr>
            <a:spLocks xmlns:a="http://schemas.openxmlformats.org/drawingml/2006/main" noGrp="1"/>
          </p:cNvSpPr>
          <p:nvPr/>
        </p:nvSpPr>
        <p:spPr>
          <a:xfrm xmlns:a="http://schemas.openxmlformats.org/drawingml/2006/main">
            <a:off x="3714750" y="4476750"/>
            <a:ext cx="7334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8000"/>
              </a:lnSpc>
              <a:buNone/>
              <a:defRPr sz="1650">
                <a:solidFill>
                  <a:srgbClr val="111827"/>
                </a:solidFill>
                <a:latin typeface="Arial"/>
                <a:ea typeface="Arial"/>
                <a:cs typeface="Arial"/>
              </a:defRPr>
            </a:pPr>
            <a:r>
              <a:rPr sz="1650">
                <a:solidFill>
                  <a:srgbClr val="111827"/>
                </a:solidFill>
                <a:latin typeface="Arial"/>
                <a:ea typeface="Arial"/>
                <a:cs typeface="Arial"/>
              </a:rPr>
              <a:t>The observation is think-aloud language.</a:t>
            </a:r>
          </a:p>
          <a:p xmlns:a="http://schemas.openxmlformats.org/drawingml/2006/main">
            <a:pPr marL="28" indent="-16">
              <a:lnSpc>
                <a:spcPct val="118000"/>
              </a:lnSpc>
              <a:buNone/>
              <a:defRPr sz="1650">
                <a:solidFill>
                  <a:srgbClr val="111827"/>
                </a:solidFill>
                <a:latin typeface="Arial"/>
                <a:ea typeface="Arial"/>
                <a:cs typeface="Arial"/>
              </a:defRPr>
            </a:pPr>
            <a:r>
              <a:rPr sz="1650">
                <a:solidFill>
                  <a:srgbClr val="111827"/>
                </a:solidFill>
                <a:latin typeface="Arial"/>
                <a:ea typeface="Arial"/>
                <a:cs typeface="Arial"/>
              </a:rPr>
              <a:t>An open model provides contextual hidden states that we can inspect.</a:t>
            </a:r>
          </a:p>
        </p:txBody>
      </p:sp>
      <p:sp>
        <p:nvSpPr>
          <p:cNvPr id="20" name="">
            <a:extLst xmlns:a="http://schemas.openxmlformats.org/drawingml/2006/main">
              <a:ext uri="{FF2B5EF4-FFF2-40B4-BE49-F238E27FC236}">
                <a16:creationId xmlns:a16="http://schemas.microsoft.com/office/drawing/2014/main" id="{6F4A34D0-6DAC-4C05-8425-D4C2B7474A70}"/>
              </a:ext>
            </a:extLst>
          </p:cNvPr>
          <p:cNvSpPr>
            <a:spLocks xmlns:a="http://schemas.openxmlformats.org/drawingml/2006/main" noGrp="1"/>
          </p:cNvSpPr>
          <p:nvPr/>
        </p:nvSpPr>
        <p:spPr>
          <a:xfrm xmlns:a="http://schemas.openxmlformats.org/drawingml/2006/main">
            <a:off x="1809750" y="52578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Consolas"/>
                <a:ea typeface="Consolas"/>
                <a:cs typeface="Consolas"/>
              </a:defRPr>
            </a:pPr>
            <a:r>
              <a:rPr sz="1875" b="1" i="0">
                <a:solidFill>
                  <a:srgbClr val="234E70"/>
                </a:solidFill>
                <a:latin typeface="Consolas"/>
                <a:ea typeface="Consolas"/>
                <a:cs typeface="Consolas"/>
              </a:rPr>
              <a:t>masked think-aloud  →  frozen Qwen  →  candidate state h(t)</a:t>
            </a:r>
          </a:p>
        </p:txBody>
      </p:sp>
      <p:sp>
        <p:nvSpPr>
          <p:cNvPr id="21" name="">
            <a:extLst xmlns:a="http://schemas.openxmlformats.org/drawingml/2006/main">
              <a:ext uri="{FF2B5EF4-FFF2-40B4-BE49-F238E27FC236}">
                <a16:creationId xmlns:a16="http://schemas.microsoft.com/office/drawing/2014/main" id="{72AEBA4D-A922-4A58-925F-B226E99C8185}"/>
              </a:ext>
            </a:extLst>
          </p:cNvPr>
          <p:cNvSpPr>
            <a:spLocks xmlns:a="http://schemas.openxmlformats.org/drawingml/2006/main" noGrp="1"/>
          </p:cNvSpPr>
          <p:nvPr/>
        </p:nvSpPr>
        <p:spPr>
          <a:xfrm xmlns:a="http://schemas.openxmlformats.org/drawingml/2006/main">
            <a:off x="800100" y="5676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1268CFD-1A80-4727-8E21-4FFFCAC9A7D5}"/>
              </a:ext>
            </a:extLst>
          </p:cNvPr>
          <p:cNvSpPr>
            <a:spLocks xmlns:a="http://schemas.openxmlformats.org/drawingml/2006/main" noGrp="1"/>
          </p:cNvSpPr>
          <p:nvPr/>
        </p:nvSpPr>
        <p:spPr>
          <a:xfrm xmlns:a="http://schemas.openxmlformats.org/drawingml/2006/main">
            <a:off x="1028700" y="5657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Qwen provides a model-dependent measurement of information expressed in the text - not ground truth about GPT-4 or a human.</a:t>
            </a:r>
          </a:p>
        </p:txBody>
      </p:sp>
    </p:spTree>
    <p:extLst>
      <p:ext uri="{BB962C8B-B14F-4D97-AF65-F5344CB8AC3E}">
        <p14:creationId xmlns:p14="http://schemas.microsoft.com/office/powerpoint/2010/main" val="2570182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48BE5C7-56C9-4FB2-87E9-4702FC13170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Operationalize the inference: construct the model input</a:t>
            </a:r>
          </a:p>
        </p:txBody>
      </p:sp>
      <p:sp>
        <p:nvSpPr>
          <p:cNvPr id="2" name="">
            <a:extLst xmlns:a="http://schemas.openxmlformats.org/drawingml/2006/main">
              <a:ext uri="{FF2B5EF4-FFF2-40B4-BE49-F238E27FC236}">
                <a16:creationId xmlns:a16="http://schemas.microsoft.com/office/drawing/2014/main" id="{7C8BA70C-CB5C-48B8-99EB-FE58E643AD7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 input</a:t>
            </a:r>
          </a:p>
        </p:txBody>
      </p:sp>
      <p:sp>
        <p:nvSpPr>
          <p:cNvPr id="3" name="">
            <a:extLst xmlns:a="http://schemas.openxmlformats.org/drawingml/2006/main">
              <a:ext uri="{FF2B5EF4-FFF2-40B4-BE49-F238E27FC236}">
                <a16:creationId xmlns:a16="http://schemas.microsoft.com/office/drawing/2014/main" id="{4ABFF916-288C-4591-A939-E363B06B53B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5AB17CB-5B71-454C-A1DD-25D09636B31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2E7B9AF5-954E-4BF0-8A3A-CECBB3721AE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158DD3-8A52-4AB5-A584-6EF94ABB026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53C01AE-3195-4192-8B95-18620E0392D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B65FCAD-A2F8-4F88-BC27-24C972D337C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B058EF4-028A-45E8-9537-E72E673A3E04}"/>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6EA09F7-9AD8-49DA-85D8-1975BD1FE17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A57C54E-F106-40BF-B0C7-B8A17C0AC9F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B4F8366-0474-4340-8055-BF238D0C997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16EE756-1F4F-4B82-B8B5-AEBDED2F868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C7157A-163A-4BC6-A010-E965C0636BC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EA1C4E1-9D36-4AE6-B5C1-872DC0AA7AA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The same record is transformed without revealing the persona or original choice</a:t>
            </a:r>
          </a:p>
        </p:txBody>
      </p:sp>
      <p:sp>
        <p:nvSpPr>
          <p:cNvPr id="16" name="">
            <a:extLst xmlns:a="http://schemas.openxmlformats.org/drawingml/2006/main">
              <a:ext uri="{FF2B5EF4-FFF2-40B4-BE49-F238E27FC236}">
                <a16:creationId xmlns:a16="http://schemas.microsoft.com/office/drawing/2014/main" id="{011021B4-4A48-41DB-8273-5A7BA8E2AC13}"/>
              </a:ext>
            </a:extLst>
          </p:cNvPr>
          <p:cNvSpPr>
            <a:spLocks xmlns:a="http://schemas.openxmlformats.org/drawingml/2006/main" noGrp="1"/>
          </p:cNvSpPr>
          <p:nvPr/>
        </p:nvSpPr>
        <p:spPr>
          <a:xfrm xmlns:a="http://schemas.openxmlformats.org/drawingml/2006/main">
            <a:off x="800100" y="19431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QWEN INPUT AT THE CURRENT SENTENCE</a:t>
            </a:r>
          </a:p>
        </p:txBody>
      </p:sp>
      <p:sp>
        <p:nvSpPr>
          <p:cNvPr id="17" name="">
            <a:extLst xmlns:a="http://schemas.openxmlformats.org/drawingml/2006/main">
              <a:ext uri="{FF2B5EF4-FFF2-40B4-BE49-F238E27FC236}">
                <a16:creationId xmlns:a16="http://schemas.microsoft.com/office/drawing/2014/main" id="{591FD767-FD6C-417D-B336-2E4A8B869EFC}"/>
              </a:ext>
            </a:extLst>
          </p:cNvPr>
          <p:cNvSpPr>
            <a:spLocks xmlns:a="http://schemas.openxmlformats.org/drawingml/2006/main" noGrp="1"/>
          </p:cNvSpPr>
          <p:nvPr/>
        </p:nvSpPr>
        <p:spPr>
          <a:xfrm xmlns:a="http://schemas.openxmlformats.org/drawingml/2006/main">
            <a:off x="800100" y="2324100"/>
            <a:ext cx="65722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18" name="">
            <a:extLst xmlns:a="http://schemas.openxmlformats.org/drawingml/2006/main">
              <a:ext uri="{FF2B5EF4-FFF2-40B4-BE49-F238E27FC236}">
                <a16:creationId xmlns:a16="http://schemas.microsoft.com/office/drawing/2014/main" id="{41F58D97-7E0A-4D66-83C0-54966B434264}"/>
              </a:ext>
            </a:extLst>
          </p:cNvPr>
          <p:cNvSpPr>
            <a:spLocks xmlns:a="http://schemas.openxmlformats.org/drawingml/2006/main" noGrp="1"/>
          </p:cNvSpPr>
          <p:nvPr/>
        </p:nvSpPr>
        <p:spPr>
          <a:xfrm xmlns:a="http://schemas.openxmlformats.org/drawingml/2006/main">
            <a:off x="1028700" y="25146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INSTRUCTION</a:t>
            </a:r>
          </a:p>
        </p:txBody>
      </p:sp>
      <p:sp>
        <p:nvSpPr>
          <p:cNvPr id="19" name="">
            <a:extLst xmlns:a="http://schemas.openxmlformats.org/drawingml/2006/main">
              <a:ext uri="{FF2B5EF4-FFF2-40B4-BE49-F238E27FC236}">
                <a16:creationId xmlns:a16="http://schemas.microsoft.com/office/drawing/2014/main" id="{4BDFC313-EA23-46D8-8C69-EF948FCC70BF}"/>
              </a:ext>
            </a:extLst>
          </p:cNvPr>
          <p:cNvSpPr>
            <a:spLocks xmlns:a="http://schemas.openxmlformats.org/drawingml/2006/main" noGrp="1"/>
          </p:cNvSpPr>
          <p:nvPr/>
        </p:nvSpPr>
        <p:spPr>
          <a:xfrm xmlns:a="http://schemas.openxmlformats.org/drawingml/2006/main">
            <a:off x="1028700" y="2781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Infer which option the reasoning supports.</a:t>
            </a:r>
          </a:p>
        </p:txBody>
      </p:sp>
      <p:sp>
        <p:nvSpPr>
          <p:cNvPr id="20" name="">
            <a:extLst xmlns:a="http://schemas.openxmlformats.org/drawingml/2006/main">
              <a:ext uri="{FF2B5EF4-FFF2-40B4-BE49-F238E27FC236}">
                <a16:creationId xmlns:a16="http://schemas.microsoft.com/office/drawing/2014/main" id="{522924E4-1F48-4FE6-9093-50487DB811B2}"/>
              </a:ext>
            </a:extLst>
          </p:cNvPr>
          <p:cNvSpPr>
            <a:spLocks xmlns:a="http://schemas.openxmlformats.org/drawingml/2006/main" noGrp="1"/>
          </p:cNvSpPr>
          <p:nvPr/>
        </p:nvSpPr>
        <p:spPr>
          <a:xfrm xmlns:a="http://schemas.openxmlformats.org/drawingml/2006/main">
            <a:off x="1028700" y="31813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QUESTION</a:t>
            </a:r>
          </a:p>
        </p:txBody>
      </p:sp>
      <p:sp>
        <p:nvSpPr>
          <p:cNvPr id="21" name="">
            <a:extLst xmlns:a="http://schemas.openxmlformats.org/drawingml/2006/main">
              <a:ext uri="{FF2B5EF4-FFF2-40B4-BE49-F238E27FC236}">
                <a16:creationId xmlns:a16="http://schemas.microsoft.com/office/drawing/2014/main" id="{36141F0C-9926-4FB1-8E78-C21783CDD53D}"/>
              </a:ext>
            </a:extLst>
          </p:cNvPr>
          <p:cNvSpPr>
            <a:spLocks xmlns:a="http://schemas.openxmlformats.org/drawingml/2006/main" noGrp="1"/>
          </p:cNvSpPr>
          <p:nvPr/>
        </p:nvSpPr>
        <p:spPr>
          <a:xfrm xmlns:a="http://schemas.openxmlformats.org/drawingml/2006/main">
            <a:off x="1028700" y="3448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11827"/>
                </a:solidFill>
                <a:latin typeface="Arial"/>
                <a:ea typeface="Arial"/>
                <a:cs typeface="Arial"/>
              </a:defRPr>
            </a:pPr>
            <a:r>
              <a:rPr sz="1425" b="0" i="0">
                <a:solidFill>
                  <a:srgbClr val="111827"/>
                </a:solidFill>
                <a:latin typeface="Arial"/>
                <a:ea typeface="Arial"/>
                <a:cs typeface="Arial"/>
              </a:rPr>
              <a:t>A: 25% chance of $1,000; otherwise $0    B: $240 for sure</a:t>
            </a:r>
          </a:p>
        </p:txBody>
      </p:sp>
      <p:sp>
        <p:nvSpPr>
          <p:cNvPr id="22" name="">
            <a:extLst xmlns:a="http://schemas.openxmlformats.org/drawingml/2006/main">
              <a:ext uri="{FF2B5EF4-FFF2-40B4-BE49-F238E27FC236}">
                <a16:creationId xmlns:a16="http://schemas.microsoft.com/office/drawing/2014/main" id="{267138E2-3499-4EF7-899B-904FEBFAFBCA}"/>
              </a:ext>
            </a:extLst>
          </p:cNvPr>
          <p:cNvSpPr>
            <a:spLocks xmlns:a="http://schemas.openxmlformats.org/drawingml/2006/main" noGrp="1"/>
          </p:cNvSpPr>
          <p:nvPr/>
        </p:nvSpPr>
        <p:spPr>
          <a:xfrm xmlns:a="http://schemas.openxmlformats.org/drawingml/2006/main">
            <a:off x="1028700" y="3886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A4B6E"/>
                </a:solidFill>
                <a:latin typeface="Arial"/>
                <a:ea typeface="Arial"/>
                <a:cs typeface="Arial"/>
              </a:defRPr>
            </a:pPr>
            <a:r>
              <a:rPr sz="1050" b="1" i="0">
                <a:solidFill>
                  <a:srgbClr val="5A4B6E"/>
                </a:solidFill>
                <a:latin typeface="Arial"/>
                <a:ea typeface="Arial"/>
                <a:cs typeface="Arial"/>
              </a:rPr>
              <a:t>CUMULATIVE MASKED REASONING</a:t>
            </a:r>
          </a:p>
        </p:txBody>
      </p:sp>
      <p:sp>
        <p:nvSpPr>
          <p:cNvPr id="23" name="">
            <a:extLst xmlns:a="http://schemas.openxmlformats.org/drawingml/2006/main">
              <a:ext uri="{FF2B5EF4-FFF2-40B4-BE49-F238E27FC236}">
                <a16:creationId xmlns:a16="http://schemas.microsoft.com/office/drawing/2014/main" id="{AA1A4FA6-4915-40CF-B2A8-08EF0FA8F572}"/>
              </a:ext>
            </a:extLst>
          </p:cNvPr>
          <p:cNvSpPr>
            <a:spLocks xmlns:a="http://schemas.openxmlformats.org/drawingml/2006/main" noGrp="1"/>
          </p:cNvSpPr>
          <p:nvPr/>
        </p:nvSpPr>
        <p:spPr>
          <a:xfrm xmlns:a="http://schemas.openxmlformats.org/drawingml/2006/main">
            <a:off x="1028700" y="4171950"/>
            <a:ext cx="590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425" b="0" i="0">
                <a:solidFill>
                  <a:srgbClr val="283643"/>
                </a:solidFill>
                <a:latin typeface="Arial"/>
                <a:ea typeface="Arial"/>
                <a:cs typeface="Arial"/>
              </a:defRPr>
            </a:pPr>
            <a:r>
              <a:rPr sz="1425" b="0" i="0">
                <a:solidFill>
                  <a:srgbClr val="283643"/>
                </a:solidFill>
                <a:latin typeface="Arial"/>
                <a:ea typeface="Arial"/>
                <a:cs typeface="Arial"/>
              </a:rPr>
              <a:t>I will compare expected values. A gives $250; B gives $240.</a:t>
            </a:r>
          </a:p>
          <a:p xmlns:a="http://schemas.openxmlformats.org/drawingml/2006/main">
            <a:pPr algn="l">
              <a:lnSpc>
                <a:spcPct val="115000"/>
              </a:lnSpc>
              <a:buNone/>
              <a:defRPr sz="1425" b="0" i="0">
                <a:solidFill>
                  <a:srgbClr val="283643"/>
                </a:solidFill>
                <a:latin typeface="Arial"/>
                <a:ea typeface="Arial"/>
                <a:cs typeface="Arial"/>
              </a:defRPr>
            </a:pPr>
            <a:r>
              <a:rPr sz="1425" b="0" i="0">
                <a:solidFill>
                  <a:srgbClr val="283643"/>
                </a:solidFill>
                <a:latin typeface="Arial"/>
                <a:ea typeface="Arial"/>
                <a:cs typeface="Arial"/>
              </a:rPr>
              <a:t>A has the higher expected value. I choose Option X.</a:t>
            </a:r>
          </a:p>
        </p:txBody>
      </p:sp>
      <p:sp>
        <p:nvSpPr>
          <p:cNvPr id="24" name="">
            <a:extLst xmlns:a="http://schemas.openxmlformats.org/drawingml/2006/main">
              <a:ext uri="{FF2B5EF4-FFF2-40B4-BE49-F238E27FC236}">
                <a16:creationId xmlns:a16="http://schemas.microsoft.com/office/drawing/2014/main" id="{2A2FB53C-FE63-4BBA-B007-A07DC5EDDF11}"/>
              </a:ext>
            </a:extLst>
          </p:cNvPr>
          <p:cNvSpPr>
            <a:spLocks xmlns:a="http://schemas.openxmlformats.org/drawingml/2006/main" noGrp="1"/>
          </p:cNvSpPr>
          <p:nvPr/>
        </p:nvSpPr>
        <p:spPr>
          <a:xfrm xmlns:a="http://schemas.openxmlformats.org/drawingml/2006/main">
            <a:off x="7848600"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Included</a:t>
            </a:r>
          </a:p>
        </p:txBody>
      </p:sp>
      <p:sp>
        <p:nvSpPr>
          <p:cNvPr id="25" name="">
            <a:extLst xmlns:a="http://schemas.openxmlformats.org/drawingml/2006/main">
              <a:ext uri="{FF2B5EF4-FFF2-40B4-BE49-F238E27FC236}">
                <a16:creationId xmlns:a16="http://schemas.microsoft.com/office/drawing/2014/main" id="{4AA9D9B6-620D-4528-8322-401C64AEC4C6}"/>
              </a:ext>
            </a:extLst>
          </p:cNvPr>
          <p:cNvSpPr>
            <a:spLocks xmlns:a="http://schemas.openxmlformats.org/drawingml/2006/main" noGrp="1"/>
          </p:cNvSpPr>
          <p:nvPr/>
        </p:nvSpPr>
        <p:spPr>
          <a:xfrm xmlns:a="http://schemas.openxmlformats.org/drawingml/2006/main">
            <a:off x="8001000" y="2571750"/>
            <a:ext cx="3238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choice-recovery instruction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risky-choice question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reasoning observed up to sentence t</a:t>
            </a:r>
          </a:p>
        </p:txBody>
      </p:sp>
      <p:sp>
        <p:nvSpPr>
          <p:cNvPr id="26" name="">
            <a:extLst xmlns:a="http://schemas.openxmlformats.org/drawingml/2006/main">
              <a:ext uri="{FF2B5EF4-FFF2-40B4-BE49-F238E27FC236}">
                <a16:creationId xmlns:a16="http://schemas.microsoft.com/office/drawing/2014/main" id="{49CD3C53-183D-4C71-85CC-F31B8CDED30D}"/>
              </a:ext>
            </a:extLst>
          </p:cNvPr>
          <p:cNvSpPr>
            <a:spLocks xmlns:a="http://schemas.openxmlformats.org/drawingml/2006/main" noGrp="1"/>
          </p:cNvSpPr>
          <p:nvPr/>
        </p:nvSpPr>
        <p:spPr>
          <a:xfrm xmlns:a="http://schemas.openxmlformats.org/drawingml/2006/main">
            <a:off x="7848600" y="3981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Withheld</a:t>
            </a:r>
          </a:p>
        </p:txBody>
      </p:sp>
      <p:sp>
        <p:nvSpPr>
          <p:cNvPr id="27" name="">
            <a:extLst xmlns:a="http://schemas.openxmlformats.org/drawingml/2006/main">
              <a:ext uri="{FF2B5EF4-FFF2-40B4-BE49-F238E27FC236}">
                <a16:creationId xmlns:a16="http://schemas.microsoft.com/office/drawing/2014/main" id="{9CDEC60D-6C90-4496-8C78-E36749B90345}"/>
              </a:ext>
            </a:extLst>
          </p:cNvPr>
          <p:cNvSpPr>
            <a:spLocks xmlns:a="http://schemas.openxmlformats.org/drawingml/2006/main" noGrp="1"/>
          </p:cNvSpPr>
          <p:nvPr/>
        </p:nvSpPr>
        <p:spPr>
          <a:xfrm xmlns:a="http://schemas.openxmlformats.org/drawingml/2006/main">
            <a:off x="8001000" y="4419600"/>
            <a:ext cx="3238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persona label</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original A/B conclusion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GPT-4 internal activations</a:t>
            </a:r>
          </a:p>
        </p:txBody>
      </p:sp>
      <p:sp>
        <p:nvSpPr>
          <p:cNvPr id="28" name="">
            <a:extLst xmlns:a="http://schemas.openxmlformats.org/drawingml/2006/main">
              <a:ext uri="{FF2B5EF4-FFF2-40B4-BE49-F238E27FC236}">
                <a16:creationId xmlns:a16="http://schemas.microsoft.com/office/drawing/2014/main" id="{EE683E6D-C9E8-413E-BE99-0CDE573C28D7}"/>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753B74F-1255-4EB1-9ED6-DC5990C22E61}"/>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h(t) is Qwen's state conditioned on the observed text so far - not GPT-4's or a human's latent state.</a:t>
            </a:r>
          </a:p>
        </p:txBody>
      </p:sp>
    </p:spTree>
    <p:extLst>
      <p:ext uri="{BB962C8B-B14F-4D97-AF65-F5344CB8AC3E}">
        <p14:creationId xmlns:p14="http://schemas.microsoft.com/office/powerpoint/2010/main" val="16133869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832418E-28AF-40FE-90ED-8AB9273188C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Sample Qwen states at sentence boundaries</a:t>
            </a:r>
          </a:p>
        </p:txBody>
      </p:sp>
      <p:sp>
        <p:nvSpPr>
          <p:cNvPr id="2" name="">
            <a:extLst xmlns:a="http://schemas.openxmlformats.org/drawingml/2006/main">
              <a:ext uri="{FF2B5EF4-FFF2-40B4-BE49-F238E27FC236}">
                <a16:creationId xmlns:a16="http://schemas.microsoft.com/office/drawing/2014/main" id="{32691E36-9FDF-472E-91EE-B4F539E772E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state extraction</a:t>
            </a:r>
          </a:p>
        </p:txBody>
      </p:sp>
      <p:sp>
        <p:nvSpPr>
          <p:cNvPr id="3" name="">
            <a:extLst xmlns:a="http://schemas.openxmlformats.org/drawingml/2006/main">
              <a:ext uri="{FF2B5EF4-FFF2-40B4-BE49-F238E27FC236}">
                <a16:creationId xmlns:a16="http://schemas.microsoft.com/office/drawing/2014/main" id="{944C95E3-AE01-4348-9B2D-2CFCD40ED28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FD99512-936C-4A01-9FB5-475AC2B5F14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94028D50-65F4-43D6-A4B2-B141C5244A2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071DB27-B134-4CF5-A62B-F8A595F127C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C38900D-DD66-4848-BAD3-0FBB3574DF02}"/>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B17859B-6ABF-4517-8CD8-B7BD0F42EB5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AAD2884-E211-4553-B9F0-3A0FF4C91087}"/>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0FC706C-D9D9-4875-8C8F-B28CAE00BE0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65A5B25-CD08-4EC6-9BFF-7D9F67F7636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7DE4287-CCEE-49E3-B34D-01318935346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D900735-82AD-41EA-B6AF-660C7B43F50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5FFCD5F-F544-4465-BC3D-4C3D3CF870C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FDEA9B6-F8B9-4578-A485-85CCCB27F05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causal forward pass over each question + masked reasoning trace</a:t>
            </a:r>
          </a:p>
        </p:txBody>
      </p:sp>
      <p:sp>
        <p:nvSpPr>
          <p:cNvPr id="16" name="">
            <a:extLst xmlns:a="http://schemas.openxmlformats.org/drawingml/2006/main">
              <a:ext uri="{FF2B5EF4-FFF2-40B4-BE49-F238E27FC236}">
                <a16:creationId xmlns:a16="http://schemas.microsoft.com/office/drawing/2014/main" id="{ECFBCBAE-003E-4B13-95A8-66490C938CA5}"/>
              </a:ext>
            </a:extLst>
          </p:cNvPr>
          <p:cNvSpPr>
            <a:spLocks xmlns:a="http://schemas.openxmlformats.org/drawingml/2006/main" noGrp="1"/>
          </p:cNvSpPr>
          <p:nvPr/>
        </p:nvSpPr>
        <p:spPr>
          <a:xfrm xmlns:a="http://schemas.openxmlformats.org/drawingml/2006/main">
            <a:off x="800100" y="19621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51"/>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Tokens in the Qwen prompt</a:t>
            </a:r>
          </a:p>
        </p:txBody>
      </p:sp>
      <p:sp>
        <p:nvSpPr>
          <p:cNvPr id="17" name="">
            <a:extLst xmlns:a="http://schemas.openxmlformats.org/drawingml/2006/main">
              <a:ext uri="{FF2B5EF4-FFF2-40B4-BE49-F238E27FC236}">
                <a16:creationId xmlns:a16="http://schemas.microsoft.com/office/drawing/2014/main" id="{0C2F43FB-7BFB-4EEB-8D41-AB6F3D176D43}"/>
              </a:ext>
            </a:extLst>
          </p:cNvPr>
          <p:cNvSpPr>
            <a:spLocks xmlns:a="http://schemas.openxmlformats.org/drawingml/2006/main" noGrp="1"/>
          </p:cNvSpPr>
          <p:nvPr/>
        </p:nvSpPr>
        <p:spPr>
          <a:xfrm xmlns:a="http://schemas.openxmlformats.org/drawingml/2006/main">
            <a:off x="800100" y="2571750"/>
            <a:ext cx="2381250" cy="5905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18" name="">
            <a:extLst xmlns:a="http://schemas.openxmlformats.org/drawingml/2006/main">
              <a:ext uri="{FF2B5EF4-FFF2-40B4-BE49-F238E27FC236}">
                <a16:creationId xmlns:a16="http://schemas.microsoft.com/office/drawing/2014/main" id="{6DFCB800-F874-40F2-8114-95C17F2CE864}"/>
              </a:ext>
            </a:extLst>
          </p:cNvPr>
          <p:cNvSpPr>
            <a:spLocks xmlns:a="http://schemas.openxmlformats.org/drawingml/2006/main" noGrp="1"/>
          </p:cNvSpPr>
          <p:nvPr/>
        </p:nvSpPr>
        <p:spPr>
          <a:xfrm xmlns:a="http://schemas.openxmlformats.org/drawingml/2006/main">
            <a:off x="800100" y="2743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choice question</a:t>
            </a:r>
          </a:p>
        </p:txBody>
      </p:sp>
      <p:sp>
        <p:nvSpPr>
          <p:cNvPr id="19" name="">
            <a:extLst xmlns:a="http://schemas.openxmlformats.org/drawingml/2006/main">
              <a:ext uri="{FF2B5EF4-FFF2-40B4-BE49-F238E27FC236}">
                <a16:creationId xmlns:a16="http://schemas.microsoft.com/office/drawing/2014/main" id="{D47A451E-FEB9-40F2-80EB-237B8ED1A300}"/>
              </a:ext>
            </a:extLst>
          </p:cNvPr>
          <p:cNvSpPr>
            <a:spLocks xmlns:a="http://schemas.openxmlformats.org/drawingml/2006/main" noGrp="1"/>
          </p:cNvSpPr>
          <p:nvPr/>
        </p:nvSpPr>
        <p:spPr>
          <a:xfrm xmlns:a="http://schemas.openxmlformats.org/drawingml/2006/main">
            <a:off x="337185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0" name="">
            <a:extLst xmlns:a="http://schemas.openxmlformats.org/drawingml/2006/main">
              <a:ext uri="{FF2B5EF4-FFF2-40B4-BE49-F238E27FC236}">
                <a16:creationId xmlns:a16="http://schemas.microsoft.com/office/drawing/2014/main" id="{8B3BC453-32F7-4C50-AF79-BD76C37D3866}"/>
              </a:ext>
            </a:extLst>
          </p:cNvPr>
          <p:cNvSpPr>
            <a:spLocks xmlns:a="http://schemas.openxmlformats.org/drawingml/2006/main" noGrp="1"/>
          </p:cNvSpPr>
          <p:nvPr/>
        </p:nvSpPr>
        <p:spPr>
          <a:xfrm xmlns:a="http://schemas.openxmlformats.org/drawingml/2006/main">
            <a:off x="337185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1</a:t>
            </a:r>
          </a:p>
        </p:txBody>
      </p:sp>
      <p:sp>
        <p:nvSpPr>
          <p:cNvPr id="21" name="">
            <a:extLst xmlns:a="http://schemas.openxmlformats.org/drawingml/2006/main">
              <a:ext uri="{FF2B5EF4-FFF2-40B4-BE49-F238E27FC236}">
                <a16:creationId xmlns:a16="http://schemas.microsoft.com/office/drawing/2014/main" id="{466CD178-7770-42D6-B2ED-4FE90852839F}"/>
              </a:ext>
            </a:extLst>
          </p:cNvPr>
          <p:cNvSpPr>
            <a:spLocks xmlns:a="http://schemas.openxmlformats.org/drawingml/2006/main" noGrp="1"/>
          </p:cNvSpPr>
          <p:nvPr/>
        </p:nvSpPr>
        <p:spPr>
          <a:xfrm xmlns:a="http://schemas.openxmlformats.org/drawingml/2006/main">
            <a:off x="556260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2" name="">
            <a:extLst xmlns:a="http://schemas.openxmlformats.org/drawingml/2006/main">
              <a:ext uri="{FF2B5EF4-FFF2-40B4-BE49-F238E27FC236}">
                <a16:creationId xmlns:a16="http://schemas.microsoft.com/office/drawing/2014/main" id="{4B27C47C-EB9F-4AD8-8348-F93E890A7F23}"/>
              </a:ext>
            </a:extLst>
          </p:cNvPr>
          <p:cNvSpPr>
            <a:spLocks xmlns:a="http://schemas.openxmlformats.org/drawingml/2006/main" noGrp="1"/>
          </p:cNvSpPr>
          <p:nvPr/>
        </p:nvSpPr>
        <p:spPr>
          <a:xfrm xmlns:a="http://schemas.openxmlformats.org/drawingml/2006/main">
            <a:off x="556260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2</a:t>
            </a:r>
          </a:p>
        </p:txBody>
      </p:sp>
      <p:sp>
        <p:nvSpPr>
          <p:cNvPr id="23" name="">
            <a:extLst xmlns:a="http://schemas.openxmlformats.org/drawingml/2006/main">
              <a:ext uri="{FF2B5EF4-FFF2-40B4-BE49-F238E27FC236}">
                <a16:creationId xmlns:a16="http://schemas.microsoft.com/office/drawing/2014/main" id="{CB6F8BAF-1922-499C-9926-AE6A0E5F4A16}"/>
              </a:ext>
            </a:extLst>
          </p:cNvPr>
          <p:cNvSpPr>
            <a:spLocks xmlns:a="http://schemas.openxmlformats.org/drawingml/2006/main" noGrp="1"/>
          </p:cNvSpPr>
          <p:nvPr/>
        </p:nvSpPr>
        <p:spPr>
          <a:xfrm xmlns:a="http://schemas.openxmlformats.org/drawingml/2006/main">
            <a:off x="775335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4" name="">
            <a:extLst xmlns:a="http://schemas.openxmlformats.org/drawingml/2006/main">
              <a:ext uri="{FF2B5EF4-FFF2-40B4-BE49-F238E27FC236}">
                <a16:creationId xmlns:a16="http://schemas.microsoft.com/office/drawing/2014/main" id="{242D6624-6E4F-429C-92E1-0241C2F7F8A3}"/>
              </a:ext>
            </a:extLst>
          </p:cNvPr>
          <p:cNvSpPr>
            <a:spLocks xmlns:a="http://schemas.openxmlformats.org/drawingml/2006/main" noGrp="1"/>
          </p:cNvSpPr>
          <p:nvPr/>
        </p:nvSpPr>
        <p:spPr>
          <a:xfrm xmlns:a="http://schemas.openxmlformats.org/drawingml/2006/main">
            <a:off x="775335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3</a:t>
            </a:r>
          </a:p>
        </p:txBody>
      </p:sp>
      <p:sp>
        <p:nvSpPr>
          <p:cNvPr id="25" name="">
            <a:extLst xmlns:a="http://schemas.openxmlformats.org/drawingml/2006/main">
              <a:ext uri="{FF2B5EF4-FFF2-40B4-BE49-F238E27FC236}">
                <a16:creationId xmlns:a16="http://schemas.microsoft.com/office/drawing/2014/main" id="{24434C29-1175-499D-9701-51D4C98C9D31}"/>
              </a:ext>
            </a:extLst>
          </p:cNvPr>
          <p:cNvSpPr>
            <a:spLocks xmlns:a="http://schemas.openxmlformats.org/drawingml/2006/main" noGrp="1"/>
          </p:cNvSpPr>
          <p:nvPr/>
        </p:nvSpPr>
        <p:spPr>
          <a:xfrm xmlns:a="http://schemas.openxmlformats.org/drawingml/2006/main">
            <a:off x="497205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t1</a:t>
            </a:r>
          </a:p>
        </p:txBody>
      </p:sp>
      <p:sp>
        <p:nvSpPr>
          <p:cNvPr id="26" name="">
            <a:extLst xmlns:a="http://schemas.openxmlformats.org/drawingml/2006/main">
              <a:ext uri="{FF2B5EF4-FFF2-40B4-BE49-F238E27FC236}">
                <a16:creationId xmlns:a16="http://schemas.microsoft.com/office/drawing/2014/main" id="{FBC5AD56-ADDF-492E-B37F-EEDE147C97F3}"/>
              </a:ext>
            </a:extLst>
          </p:cNvPr>
          <p:cNvSpPr>
            <a:spLocks xmlns:a="http://schemas.openxmlformats.org/drawingml/2006/main" noGrp="1"/>
          </p:cNvSpPr>
          <p:nvPr/>
        </p:nvSpPr>
        <p:spPr>
          <a:xfrm xmlns:a="http://schemas.openxmlformats.org/drawingml/2006/main">
            <a:off x="716280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t2</a:t>
            </a:r>
          </a:p>
        </p:txBody>
      </p:sp>
      <p:sp>
        <p:nvSpPr>
          <p:cNvPr id="27" name="">
            <a:extLst xmlns:a="http://schemas.openxmlformats.org/drawingml/2006/main">
              <a:ext uri="{FF2B5EF4-FFF2-40B4-BE49-F238E27FC236}">
                <a16:creationId xmlns:a16="http://schemas.microsoft.com/office/drawing/2014/main" id="{A505B498-6A6B-4D94-9983-8902DAB8C240}"/>
              </a:ext>
            </a:extLst>
          </p:cNvPr>
          <p:cNvSpPr>
            <a:spLocks xmlns:a="http://schemas.openxmlformats.org/drawingml/2006/main" noGrp="1"/>
          </p:cNvSpPr>
          <p:nvPr/>
        </p:nvSpPr>
        <p:spPr>
          <a:xfrm xmlns:a="http://schemas.openxmlformats.org/drawingml/2006/main">
            <a:off x="935355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t3</a:t>
            </a:r>
          </a:p>
        </p:txBody>
      </p:sp>
      <p:sp>
        <p:nvSpPr>
          <p:cNvPr id="28" name="">
            <a:extLst xmlns:a="http://schemas.openxmlformats.org/drawingml/2006/main">
              <a:ext uri="{FF2B5EF4-FFF2-40B4-BE49-F238E27FC236}">
                <a16:creationId xmlns:a16="http://schemas.microsoft.com/office/drawing/2014/main" id="{3050CA62-0079-4A57-BCE3-C67D0B370691}"/>
              </a:ext>
            </a:extLst>
          </p:cNvPr>
          <p:cNvSpPr>
            <a:spLocks xmlns:a="http://schemas.openxmlformats.org/drawingml/2006/main" noGrp="1"/>
          </p:cNvSpPr>
          <p:nvPr/>
        </p:nvSpPr>
        <p:spPr>
          <a:xfrm xmlns:a="http://schemas.openxmlformats.org/drawingml/2006/main">
            <a:off x="800100" y="38290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02"/>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At each sentence-ending token ts, save</a:t>
            </a:r>
          </a:p>
        </p:txBody>
      </p:sp>
      <p:sp>
        <p:nvSpPr>
          <p:cNvPr id="29" name="">
            <a:extLst xmlns:a="http://schemas.openxmlformats.org/drawingml/2006/main">
              <a:ext uri="{FF2B5EF4-FFF2-40B4-BE49-F238E27FC236}">
                <a16:creationId xmlns:a16="http://schemas.microsoft.com/office/drawing/2014/main" id="{CC6E0383-034A-435E-AC7A-6F1EE8525D5B}"/>
              </a:ext>
            </a:extLst>
          </p:cNvPr>
          <p:cNvSpPr>
            <a:spLocks xmlns:a="http://schemas.openxmlformats.org/drawingml/2006/main" noGrp="1"/>
          </p:cNvSpPr>
          <p:nvPr/>
        </p:nvSpPr>
        <p:spPr>
          <a:xfrm xmlns:a="http://schemas.openxmlformats.org/drawingml/2006/main">
            <a:off x="800100" y="43053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902"/>
          </a:bodyPr>
          <a:lstStyle xmlns:a="http://schemas.openxmlformats.org/drawingml/2006/main"/>
          <a:p xmlns:a="http://schemas.openxmlformats.org/drawingml/2006/main">
            <a:pPr algn="l">
              <a:lnSpc>
                <a:spcPct val="108000"/>
              </a:lnSpc>
              <a:buNone/>
              <a:defRPr sz="1875" b="1" i="0">
                <a:solidFill>
                  <a:srgbClr val="5A4B6E"/>
                </a:solidFill>
                <a:latin typeface="Consolas"/>
                <a:ea typeface="Consolas"/>
                <a:cs typeface="Consolas"/>
              </a:defRPr>
            </a:pPr>
            <a:r>
              <a:rPr sz="1875" b="1" i="0">
                <a:solidFill>
                  <a:srgbClr val="5A4B6E"/>
                </a:solidFill>
                <a:latin typeface="Consolas"/>
                <a:ea typeface="Consolas"/>
                <a:cs typeface="Consolas"/>
              </a:rPr>
              <a:t>h(l, ts) = Qwen layer l state at that token</a:t>
            </a:r>
          </a:p>
        </p:txBody>
      </p:sp>
      <p:sp>
        <p:nvSpPr>
          <p:cNvPr id="30" name="">
            <a:extLst xmlns:a="http://schemas.openxmlformats.org/drawingml/2006/main">
              <a:ext uri="{FF2B5EF4-FFF2-40B4-BE49-F238E27FC236}">
                <a16:creationId xmlns:a16="http://schemas.microsoft.com/office/drawing/2014/main" id="{8652CA36-1AF9-4CD1-A4D7-6E0324DB4479}"/>
              </a:ext>
            </a:extLst>
          </p:cNvPr>
          <p:cNvSpPr>
            <a:spLocks xmlns:a="http://schemas.openxmlformats.org/drawingml/2006/main" noGrp="1"/>
          </p:cNvSpPr>
          <p:nvPr/>
        </p:nvSpPr>
        <p:spPr>
          <a:xfrm xmlns:a="http://schemas.openxmlformats.org/drawingml/2006/main">
            <a:off x="6705600" y="382905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33 states per boundary</a:t>
            </a:r>
          </a:p>
        </p:txBody>
      </p:sp>
      <p:sp>
        <p:nvSpPr>
          <p:cNvPr id="31" name="">
            <a:extLst xmlns:a="http://schemas.openxmlformats.org/drawingml/2006/main">
              <a:ext uri="{FF2B5EF4-FFF2-40B4-BE49-F238E27FC236}">
                <a16:creationId xmlns:a16="http://schemas.microsoft.com/office/drawing/2014/main" id="{69432893-15EB-4151-A3DA-8BED53CB2204}"/>
              </a:ext>
            </a:extLst>
          </p:cNvPr>
          <p:cNvSpPr>
            <a:spLocks xmlns:a="http://schemas.openxmlformats.org/drawingml/2006/main" noGrp="1"/>
          </p:cNvSpPr>
          <p:nvPr/>
        </p:nvSpPr>
        <p:spPr>
          <a:xfrm xmlns:a="http://schemas.openxmlformats.org/drawingml/2006/main">
            <a:off x="6705600" y="430530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layer 00: input embedding / initial residual</a:t>
            </a:r>
          </a:p>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layers 01-32: successive block outputs</a:t>
            </a:r>
          </a:p>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each state: 4,096 numbers</a:t>
            </a:r>
          </a:p>
        </p:txBody>
      </p:sp>
      <p:sp>
        <p:nvSpPr>
          <p:cNvPr id="32" name="">
            <a:extLst xmlns:a="http://schemas.openxmlformats.org/drawingml/2006/main">
              <a:ext uri="{FF2B5EF4-FFF2-40B4-BE49-F238E27FC236}">
                <a16:creationId xmlns:a16="http://schemas.microsoft.com/office/drawing/2014/main" id="{C868F823-7021-4A6B-9C5B-DF3B59FE76CB}"/>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23E0038-AE4D-4F2C-B516-004ACFC44F69}"/>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This is Qwen's contextual hidden state - not GPT-4's embedding and not an isolated sentence vector.</a:t>
            </a:r>
          </a:p>
        </p:txBody>
      </p:sp>
    </p:spTree>
    <p:extLst>
      <p:ext uri="{BB962C8B-B14F-4D97-AF65-F5344CB8AC3E}">
        <p14:creationId xmlns:p14="http://schemas.microsoft.com/office/powerpoint/2010/main" val="150957558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593B0FF1-D6B5-42EC-B261-93E0908DD96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Can the hidden state recover the masked choice?</a:t>
            </a:r>
          </a:p>
        </p:txBody>
      </p:sp>
      <p:sp>
        <p:nvSpPr>
          <p:cNvPr id="2" name="">
            <a:extLst xmlns:a="http://schemas.openxmlformats.org/drawingml/2006/main">
              <a:ext uri="{FF2B5EF4-FFF2-40B4-BE49-F238E27FC236}">
                <a16:creationId xmlns:a16="http://schemas.microsoft.com/office/drawing/2014/main" id="{E4303723-9A19-4D0C-A11B-F56D89425F7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choice probe</a:t>
            </a:r>
          </a:p>
        </p:txBody>
      </p:sp>
      <p:sp>
        <p:nvSpPr>
          <p:cNvPr id="3" name="">
            <a:extLst xmlns:a="http://schemas.openxmlformats.org/drawingml/2006/main">
              <a:ext uri="{FF2B5EF4-FFF2-40B4-BE49-F238E27FC236}">
                <a16:creationId xmlns:a16="http://schemas.microsoft.com/office/drawing/2014/main" id="{FC7DD164-CFC8-434F-8A9B-4CE288944A1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9EF894-C8BF-46CC-ABF5-832C2517A20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1B471A50-36C9-4A8B-B055-6F73ED9E4E4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AF20BB1-0EED-485B-8412-80E94187BE6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FB706CD-5BC7-4FE8-A51F-0B4B846350F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34E0D90-ACAF-44BD-A520-67161EEC746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D9DD45C-220E-4C60-AD30-A2800EBDEEF5}"/>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2C37135-7162-4E9B-AE5D-693CD178D31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ABFF020-6D8A-46DA-AB43-C3527E167F2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AFF91CD-5D77-47F0-A973-831DAD8BE96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A51FE36-6A2B-4FFA-9352-76B7333B044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0278677-5A48-4B71-B9B5-DF30ABA9CDE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09A2F80-CD92-4311-8595-83A6F9FE35F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held-out linear readout anchors the state to behavior</a:t>
            </a:r>
          </a:p>
        </p:txBody>
      </p:sp>
      <p:sp>
        <p:nvSpPr>
          <p:cNvPr id="16" name="">
            <a:extLst xmlns:a="http://schemas.openxmlformats.org/drawingml/2006/main">
              <a:ext uri="{FF2B5EF4-FFF2-40B4-BE49-F238E27FC236}">
                <a16:creationId xmlns:a16="http://schemas.microsoft.com/office/drawing/2014/main" id="{C2821A97-BB6E-4B72-B7A5-EF1AB9710391}"/>
              </a:ext>
            </a:extLst>
          </p:cNvPr>
          <p:cNvSpPr>
            <a:spLocks xmlns:a="http://schemas.openxmlformats.org/drawingml/2006/main" noGrp="1"/>
          </p:cNvSpPr>
          <p:nvPr/>
        </p:nvSpPr>
        <p:spPr>
          <a:xfrm xmlns:a="http://schemas.openxmlformats.org/drawingml/2006/main">
            <a:off x="800100" y="2324100"/>
            <a:ext cx="285750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92593"/>
          </a:bodyPr>
          <a:lstStyle xmlns:a="http://schemas.openxmlformats.org/drawingml/2006/main"/>
          <a:p xmlns:a="http://schemas.openxmlformats.org/drawingml/2006/main">
            <a:pPr algn="ctr">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final sentence-end state h_l(T)</a:t>
            </a:r>
          </a:p>
        </p:txBody>
      </p:sp>
      <p:sp>
        <p:nvSpPr>
          <p:cNvPr id="17" name="">
            <a:extLst xmlns:a="http://schemas.openxmlformats.org/drawingml/2006/main">
              <a:ext uri="{FF2B5EF4-FFF2-40B4-BE49-F238E27FC236}">
                <a16:creationId xmlns:a16="http://schemas.microsoft.com/office/drawing/2014/main" id="{5C2EC0BD-FA66-4AB1-A5E2-456B8D218F72}"/>
              </a:ext>
            </a:extLst>
          </p:cNvPr>
          <p:cNvSpPr>
            <a:spLocks xmlns:a="http://schemas.openxmlformats.org/drawingml/2006/main" noGrp="1"/>
          </p:cNvSpPr>
          <p:nvPr/>
        </p:nvSpPr>
        <p:spPr>
          <a:xfrm xmlns:a="http://schemas.openxmlformats.org/drawingml/2006/main">
            <a:off x="3790950" y="2557463"/>
            <a:ext cx="6096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A229F8C-D27A-4277-B5CF-A5BDE57AA1E8}"/>
              </a:ext>
            </a:extLst>
          </p:cNvPr>
          <p:cNvSpPr>
            <a:spLocks xmlns:a="http://schemas.openxmlformats.org/drawingml/2006/main" noGrp="1"/>
          </p:cNvSpPr>
          <p:nvPr/>
        </p:nvSpPr>
        <p:spPr>
          <a:xfrm xmlns:a="http://schemas.openxmlformats.org/drawingml/2006/main">
            <a:off x="4533900" y="2324100"/>
            <a:ext cx="257175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standardize +</a:t>
            </a:r>
          </a:p>
          <a:p xmlns:a="http://schemas.openxmlformats.org/drawingml/2006/main">
            <a:pPr algn="ctr">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logistic regression</a:t>
            </a:r>
          </a:p>
        </p:txBody>
      </p:sp>
      <p:sp>
        <p:nvSpPr>
          <p:cNvPr id="19" name="">
            <a:extLst xmlns:a="http://schemas.openxmlformats.org/drawingml/2006/main">
              <a:ext uri="{FF2B5EF4-FFF2-40B4-BE49-F238E27FC236}">
                <a16:creationId xmlns:a16="http://schemas.microsoft.com/office/drawing/2014/main" id="{C0CF4D8E-65B4-4B4D-B96A-2320A12CA912}"/>
              </a:ext>
            </a:extLst>
          </p:cNvPr>
          <p:cNvSpPr>
            <a:spLocks xmlns:a="http://schemas.openxmlformats.org/drawingml/2006/main" noGrp="1"/>
          </p:cNvSpPr>
          <p:nvPr/>
        </p:nvSpPr>
        <p:spPr>
          <a:xfrm xmlns:a="http://schemas.openxmlformats.org/drawingml/2006/main">
            <a:off x="7239000" y="2557463"/>
            <a:ext cx="6096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416832A-B541-46C2-B771-AC21F9DEFB84}"/>
              </a:ext>
            </a:extLst>
          </p:cNvPr>
          <p:cNvSpPr>
            <a:spLocks xmlns:a="http://schemas.openxmlformats.org/drawingml/2006/main" noGrp="1"/>
          </p:cNvSpPr>
          <p:nvPr/>
        </p:nvSpPr>
        <p:spPr>
          <a:xfrm xmlns:a="http://schemas.openxmlformats.org/drawingml/2006/main">
            <a:off x="7981950" y="2324100"/>
            <a:ext cx="285750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predict A versus B</a:t>
            </a:r>
          </a:p>
        </p:txBody>
      </p:sp>
      <p:sp>
        <p:nvSpPr>
          <p:cNvPr id="21" name="">
            <a:extLst xmlns:a="http://schemas.openxmlformats.org/drawingml/2006/main">
              <a:ext uri="{FF2B5EF4-FFF2-40B4-BE49-F238E27FC236}">
                <a16:creationId xmlns:a16="http://schemas.microsoft.com/office/drawing/2014/main" id="{75271EA5-F19D-463A-BF58-95F21F072335}"/>
              </a:ext>
            </a:extLst>
          </p:cNvPr>
          <p:cNvSpPr>
            <a:spLocks xmlns:a="http://schemas.openxmlformats.org/drawingml/2006/main" noGrp="1"/>
          </p:cNvSpPr>
          <p:nvPr/>
        </p:nvSpPr>
        <p:spPr>
          <a:xfrm xmlns:a="http://schemas.openxmlformats.org/drawingml/2006/main">
            <a:off x="800100" y="331470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76D56C2-9A28-4E11-B22D-782C16D3F1D6}"/>
              </a:ext>
            </a:extLst>
          </p:cNvPr>
          <p:cNvSpPr>
            <a:spLocks xmlns:a="http://schemas.openxmlformats.org/drawingml/2006/main" noGrp="1"/>
          </p:cNvSpPr>
          <p:nvPr/>
        </p:nvSpPr>
        <p:spPr>
          <a:xfrm xmlns:a="http://schemas.openxmlformats.org/drawingml/2006/main">
            <a:off x="1123950" y="3581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Training unit</a:t>
            </a:r>
          </a:p>
        </p:txBody>
      </p:sp>
      <p:sp>
        <p:nvSpPr>
          <p:cNvPr id="23" name="">
            <a:extLst xmlns:a="http://schemas.openxmlformats.org/drawingml/2006/main">
              <a:ext uri="{FF2B5EF4-FFF2-40B4-BE49-F238E27FC236}">
                <a16:creationId xmlns:a16="http://schemas.microsoft.com/office/drawing/2014/main" id="{0B949FE2-460D-472E-944A-CD4ED37DCF86}"/>
              </a:ext>
            </a:extLst>
          </p:cNvPr>
          <p:cNvSpPr>
            <a:spLocks xmlns:a="http://schemas.openxmlformats.org/drawingml/2006/main" noGrp="1"/>
          </p:cNvSpPr>
          <p:nvPr/>
        </p:nvSpPr>
        <p:spPr>
          <a:xfrm xmlns:a="http://schemas.openxmlformats.org/drawingml/2006/main">
            <a:off x="3371850" y="35814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one masked GPT-4 reasoning trace</a:t>
            </a:r>
          </a:p>
        </p:txBody>
      </p:sp>
      <p:sp>
        <p:nvSpPr>
          <p:cNvPr id="24" name="">
            <a:extLst xmlns:a="http://schemas.openxmlformats.org/drawingml/2006/main">
              <a:ext uri="{FF2B5EF4-FFF2-40B4-BE49-F238E27FC236}">
                <a16:creationId xmlns:a16="http://schemas.microsoft.com/office/drawing/2014/main" id="{37407F1E-33D8-4196-A7F5-379152C8C4C1}"/>
              </a:ext>
            </a:extLst>
          </p:cNvPr>
          <p:cNvSpPr>
            <a:spLocks xmlns:a="http://schemas.openxmlformats.org/drawingml/2006/main" noGrp="1"/>
          </p:cNvSpPr>
          <p:nvPr/>
        </p:nvSpPr>
        <p:spPr>
          <a:xfrm xmlns:a="http://schemas.openxmlformats.org/drawingml/2006/main">
            <a:off x="1123950" y="40005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Target</a:t>
            </a:r>
          </a:p>
        </p:txBody>
      </p:sp>
      <p:sp>
        <p:nvSpPr>
          <p:cNvPr id="25" name="">
            <a:extLst xmlns:a="http://schemas.openxmlformats.org/drawingml/2006/main">
              <a:ext uri="{FF2B5EF4-FFF2-40B4-BE49-F238E27FC236}">
                <a16:creationId xmlns:a16="http://schemas.microsoft.com/office/drawing/2014/main" id="{2B35E3ED-6665-4CEB-86D0-130ECC0A65C8}"/>
              </a:ext>
            </a:extLst>
          </p:cNvPr>
          <p:cNvSpPr>
            <a:spLocks xmlns:a="http://schemas.openxmlformats.org/drawingml/2006/main" noGrp="1"/>
          </p:cNvSpPr>
          <p:nvPr/>
        </p:nvSpPr>
        <p:spPr>
          <a:xfrm xmlns:a="http://schemas.openxmlformats.org/drawingml/2006/main">
            <a:off x="3371850" y="40005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the original A/B choice</a:t>
            </a:r>
          </a:p>
        </p:txBody>
      </p:sp>
      <p:sp>
        <p:nvSpPr>
          <p:cNvPr id="26" name="">
            <a:extLst xmlns:a="http://schemas.openxmlformats.org/drawingml/2006/main">
              <a:ext uri="{FF2B5EF4-FFF2-40B4-BE49-F238E27FC236}">
                <a16:creationId xmlns:a16="http://schemas.microsoft.com/office/drawing/2014/main" id="{5AF9A9E6-9871-4CE3-965C-52C43D7316E2}"/>
              </a:ext>
            </a:extLst>
          </p:cNvPr>
          <p:cNvSpPr>
            <a:spLocks xmlns:a="http://schemas.openxmlformats.org/drawingml/2006/main" noGrp="1"/>
          </p:cNvSpPr>
          <p:nvPr/>
        </p:nvSpPr>
        <p:spPr>
          <a:xfrm xmlns:a="http://schemas.openxmlformats.org/drawingml/2006/main">
            <a:off x="1123950" y="44196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Generalization test</a:t>
            </a:r>
          </a:p>
        </p:txBody>
      </p:sp>
      <p:sp>
        <p:nvSpPr>
          <p:cNvPr id="27" name="">
            <a:extLst xmlns:a="http://schemas.openxmlformats.org/drawingml/2006/main">
              <a:ext uri="{FF2B5EF4-FFF2-40B4-BE49-F238E27FC236}">
                <a16:creationId xmlns:a16="http://schemas.microsoft.com/office/drawing/2014/main" id="{24786E5D-0BFB-4B7A-B53E-44B360AB7679}"/>
              </a:ext>
            </a:extLst>
          </p:cNvPr>
          <p:cNvSpPr>
            <a:spLocks xmlns:a="http://schemas.openxmlformats.org/drawingml/2006/main" noGrp="1"/>
          </p:cNvSpPr>
          <p:nvPr/>
        </p:nvSpPr>
        <p:spPr>
          <a:xfrm xmlns:a="http://schemas.openxmlformats.org/drawingml/2006/main">
            <a:off x="3371850" y="44196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hold out entire risky-choice questions</a:t>
            </a:r>
          </a:p>
        </p:txBody>
      </p:sp>
      <p:sp>
        <p:nvSpPr>
          <p:cNvPr id="28" name="">
            <a:extLst xmlns:a="http://schemas.openxmlformats.org/drawingml/2006/main">
              <a:ext uri="{FF2B5EF4-FFF2-40B4-BE49-F238E27FC236}">
                <a16:creationId xmlns:a16="http://schemas.microsoft.com/office/drawing/2014/main" id="{0CB4E0C2-237F-4242-928E-9FAC5B84F1D7}"/>
              </a:ext>
            </a:extLst>
          </p:cNvPr>
          <p:cNvSpPr>
            <a:spLocks xmlns:a="http://schemas.openxmlformats.org/drawingml/2006/main" noGrp="1"/>
          </p:cNvSpPr>
          <p:nvPr/>
        </p:nvSpPr>
        <p:spPr>
          <a:xfrm xmlns:a="http://schemas.openxmlformats.org/drawingml/2006/main">
            <a:off x="1123950" y="48387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Leakage controls</a:t>
            </a:r>
          </a:p>
        </p:txBody>
      </p:sp>
      <p:sp>
        <p:nvSpPr>
          <p:cNvPr id="29" name="">
            <a:extLst xmlns:a="http://schemas.openxmlformats.org/drawingml/2006/main">
              <a:ext uri="{FF2B5EF4-FFF2-40B4-BE49-F238E27FC236}">
                <a16:creationId xmlns:a16="http://schemas.microsoft.com/office/drawing/2014/main" id="{47C63FD0-3664-42E6-BB8D-0B9A302DD326}"/>
              </a:ext>
            </a:extLst>
          </p:cNvPr>
          <p:cNvSpPr>
            <a:spLocks xmlns:a="http://schemas.openxmlformats.org/drawingml/2006/main" noGrp="1"/>
          </p:cNvSpPr>
          <p:nvPr/>
        </p:nvSpPr>
        <p:spPr>
          <a:xfrm xmlns:a="http://schemas.openxmlformats.org/drawingml/2006/main">
            <a:off x="3371850" y="48387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persona label and explicit conclusion withheld</a:t>
            </a:r>
          </a:p>
        </p:txBody>
      </p:sp>
      <p:sp>
        <p:nvSpPr>
          <p:cNvPr id="30" name="">
            <a:extLst xmlns:a="http://schemas.openxmlformats.org/drawingml/2006/main">
              <a:ext uri="{FF2B5EF4-FFF2-40B4-BE49-F238E27FC236}">
                <a16:creationId xmlns:a16="http://schemas.microsoft.com/office/drawing/2014/main" id="{DEFFB0B1-6689-477B-B6F0-C22B37075B4C}"/>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B962AC1-7749-4F33-86E4-0B79338C1FE2}"/>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Success would show linearly accessible choice information - not that the model uses a linear decision rule.</a:t>
            </a:r>
          </a:p>
        </p:txBody>
      </p:sp>
    </p:spTree>
    <p:extLst>
      <p:ext uri="{BB962C8B-B14F-4D97-AF65-F5344CB8AC3E}">
        <p14:creationId xmlns:p14="http://schemas.microsoft.com/office/powerpoint/2010/main" val="21779141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0F92CFA-0760-4884-BD0E-740C0AC92EB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Choice signal peaks near layer 15</a:t>
            </a:r>
          </a:p>
        </p:txBody>
      </p:sp>
      <p:sp>
        <p:nvSpPr>
          <p:cNvPr id="2" name="">
            <a:extLst xmlns:a="http://schemas.openxmlformats.org/drawingml/2006/main">
              <a:ext uri="{FF2B5EF4-FFF2-40B4-BE49-F238E27FC236}">
                <a16:creationId xmlns:a16="http://schemas.microsoft.com/office/drawing/2014/main" id="{D784E2D6-B1D9-40FE-BDC9-CA33CFFF549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first test</a:t>
            </a:r>
          </a:p>
        </p:txBody>
      </p:sp>
      <p:sp>
        <p:nvSpPr>
          <p:cNvPr id="3" name="">
            <a:extLst xmlns:a="http://schemas.openxmlformats.org/drawingml/2006/main">
              <a:ext uri="{FF2B5EF4-FFF2-40B4-BE49-F238E27FC236}">
                <a16:creationId xmlns:a16="http://schemas.microsoft.com/office/drawing/2014/main" id="{4861040E-D62E-4469-8DAC-1689E63539B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7F1DDF6-7227-4931-8E41-9BA61AFA11A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47</a:t>
            </a:r>
          </a:p>
        </p:txBody>
      </p:sp>
      <p:sp>
        <p:nvSpPr>
          <p:cNvPr id="5" name="">
            <a:extLst xmlns:a="http://schemas.openxmlformats.org/drawingml/2006/main">
              <a:ext uri="{FF2B5EF4-FFF2-40B4-BE49-F238E27FC236}">
                <a16:creationId xmlns:a16="http://schemas.microsoft.com/office/drawing/2014/main" id="{BA3ACBFF-7D52-4C0F-A2CA-F8C409AC77C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1A7ADF-F7D5-4BAF-BC5E-86B148D8FE6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7DE497D-F837-4B88-B82A-5FA27AAE776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84FD84-1321-497B-9CAE-CD80563F789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64B26A0-08C5-4F23-A5FA-66ADDFE9BC1A}"/>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50DD83-A93E-4164-9364-A3684B52157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BC5672F-F1BF-4480-B37E-72A4EAF8969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BB002A0-52B9-4456-B6D6-A655BFA55A4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1E9EF24-F197-4B36-8904-36A0A80D1FB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F30A60E-7825-49E4-9974-88AB58AEB92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A17A9F6-74A6-4AC4-8F5C-F841A41D736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 word masked / questions held out during evaluation</a:t>
            </a:r>
          </a:p>
        </p:txBody>
      </p:sp>
      <p:sp>
        <p:nvSpPr>
          <p:cNvPr id="16" name="">
            <a:extLst xmlns:a="http://schemas.openxmlformats.org/drawingml/2006/main">
              <a:ext uri="{FF2B5EF4-FFF2-40B4-BE49-F238E27FC236}">
                <a16:creationId xmlns:a16="http://schemas.microsoft.com/office/drawing/2014/main" id="{D1EB0D62-18F0-47DB-BCFC-C09F03F5554A}"/>
              </a:ext>
            </a:extLst>
          </p:cNvPr>
          <p:cNvSpPr>
            <a:spLocks xmlns:a="http://schemas.openxmlformats.org/drawingml/2006/main" noGrp="1"/>
          </p:cNvSpPr>
          <p:nvPr/>
        </p:nvSpPr>
        <p:spPr>
          <a:xfrm xmlns:a="http://schemas.openxmlformats.org/drawingml/2006/main">
            <a:off x="800100" y="19431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Balanced accuracy on held-out risky-choice questions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1de72f35d1241b1"/>
          <a:stretch xmlns:a="http://schemas.openxmlformats.org/drawingml/2006/main"/>
        </p:blipFill>
        <p:spPr>
          <a:xfrm xmlns:a="http://schemas.openxmlformats.org/drawingml/2006/main">
            <a:off x="781050" y="2400300"/>
            <a:ext cx="7810500" cy="27241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8EFCFF84-4CBE-4716-9B77-C4C0102D60DD}"/>
              </a:ext>
            </a:extLst>
          </p:cNvPr>
          <p:cNvSpPr>
            <a:spLocks xmlns:a="http://schemas.openxmlformats.org/drawingml/2006/main" noGrp="1"/>
          </p:cNvSpPr>
          <p:nvPr/>
        </p:nvSpPr>
        <p:spPr>
          <a:xfrm xmlns:a="http://schemas.openxmlformats.org/drawingml/2006/main">
            <a:off x="9067800" y="2324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667085"/>
                </a:solidFill>
                <a:latin typeface="Arial"/>
                <a:ea typeface="Arial"/>
                <a:cs typeface="Arial"/>
              </a:defRPr>
            </a:pPr>
            <a:r>
              <a:rPr sz="1425" b="1" i="0">
                <a:solidFill>
                  <a:srgbClr val="667085"/>
                </a:solidFill>
                <a:latin typeface="Arial"/>
                <a:ea typeface="Arial"/>
                <a:cs typeface="Arial"/>
              </a:rPr>
              <a:t>Qwen output</a:t>
            </a:r>
          </a:p>
        </p:txBody>
      </p:sp>
      <p:sp>
        <p:nvSpPr>
          <p:cNvPr id="19" name="">
            <a:extLst xmlns:a="http://schemas.openxmlformats.org/drawingml/2006/main">
              <a:ext uri="{FF2B5EF4-FFF2-40B4-BE49-F238E27FC236}">
                <a16:creationId xmlns:a16="http://schemas.microsoft.com/office/drawing/2014/main" id="{3452C45E-5266-4F79-A840-9A00C36172CE}"/>
              </a:ext>
            </a:extLst>
          </p:cNvPr>
          <p:cNvSpPr>
            <a:spLocks xmlns:a="http://schemas.openxmlformats.org/drawingml/2006/main" noGrp="1"/>
          </p:cNvSpPr>
          <p:nvPr/>
        </p:nvSpPr>
        <p:spPr>
          <a:xfrm xmlns:a="http://schemas.openxmlformats.org/drawingml/2006/main">
            <a:off x="9067800" y="26479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000" b="1" i="0">
                <a:solidFill>
                  <a:srgbClr val="111827"/>
                </a:solidFill>
                <a:latin typeface="Arial"/>
                <a:ea typeface="Arial"/>
                <a:cs typeface="Arial"/>
              </a:defRPr>
            </a:pPr>
            <a:r>
              <a:rPr sz="3000" b="1" i="0">
                <a:solidFill>
                  <a:srgbClr val="111827"/>
                </a:solidFill>
                <a:latin typeface="Arial"/>
                <a:ea typeface="Arial"/>
                <a:cs typeface="Arial"/>
              </a:rPr>
              <a:t>0.934</a:t>
            </a:r>
          </a:p>
        </p:txBody>
      </p:sp>
      <p:sp>
        <p:nvSpPr>
          <p:cNvPr id="20" name="">
            <a:extLst xmlns:a="http://schemas.openxmlformats.org/drawingml/2006/main">
              <a:ext uri="{FF2B5EF4-FFF2-40B4-BE49-F238E27FC236}">
                <a16:creationId xmlns:a16="http://schemas.microsoft.com/office/drawing/2014/main" id="{D418D781-71D9-43AE-A551-D9C45FCD9651}"/>
              </a:ext>
            </a:extLst>
          </p:cNvPr>
          <p:cNvSpPr>
            <a:spLocks xmlns:a="http://schemas.openxmlformats.org/drawingml/2006/main" noGrp="1"/>
          </p:cNvSpPr>
          <p:nvPr/>
        </p:nvSpPr>
        <p:spPr>
          <a:xfrm xmlns:a="http://schemas.openxmlformats.org/drawingml/2006/main">
            <a:off x="9067800" y="31813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balanced accuracy</a:t>
            </a:r>
          </a:p>
        </p:txBody>
      </p:sp>
      <p:sp>
        <p:nvSpPr>
          <p:cNvPr id="21" name="">
            <a:extLst xmlns:a="http://schemas.openxmlformats.org/drawingml/2006/main">
              <a:ext uri="{FF2B5EF4-FFF2-40B4-BE49-F238E27FC236}">
                <a16:creationId xmlns:a16="http://schemas.microsoft.com/office/drawing/2014/main" id="{ABA1A664-AD68-4C42-BE5F-3B1847A4A780}"/>
              </a:ext>
            </a:extLst>
          </p:cNvPr>
          <p:cNvSpPr>
            <a:spLocks xmlns:a="http://schemas.openxmlformats.org/drawingml/2006/main" noGrp="1"/>
          </p:cNvSpPr>
          <p:nvPr/>
        </p:nvSpPr>
        <p:spPr>
          <a:xfrm xmlns:a="http://schemas.openxmlformats.org/drawingml/2006/main">
            <a:off x="9067800" y="37909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Layer 15 readout</a:t>
            </a:r>
          </a:p>
        </p:txBody>
      </p:sp>
      <p:sp>
        <p:nvSpPr>
          <p:cNvPr id="22" name="">
            <a:extLst xmlns:a="http://schemas.openxmlformats.org/drawingml/2006/main">
              <a:ext uri="{FF2B5EF4-FFF2-40B4-BE49-F238E27FC236}">
                <a16:creationId xmlns:a16="http://schemas.microsoft.com/office/drawing/2014/main" id="{FEF889F2-BAE8-4501-A66E-BB2C8CD63EB8}"/>
              </a:ext>
            </a:extLst>
          </p:cNvPr>
          <p:cNvSpPr>
            <a:spLocks xmlns:a="http://schemas.openxmlformats.org/drawingml/2006/main" noGrp="1"/>
          </p:cNvSpPr>
          <p:nvPr/>
        </p:nvSpPr>
        <p:spPr>
          <a:xfrm xmlns:a="http://schemas.openxmlformats.org/drawingml/2006/main">
            <a:off x="9067800" y="41148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000" b="1" i="0">
                <a:solidFill>
                  <a:srgbClr val="234E70"/>
                </a:solidFill>
                <a:latin typeface="Arial"/>
                <a:ea typeface="Arial"/>
                <a:cs typeface="Arial"/>
              </a:defRPr>
            </a:pPr>
            <a:r>
              <a:rPr sz="3000" b="1" i="0">
                <a:solidFill>
                  <a:srgbClr val="234E70"/>
                </a:solidFill>
                <a:latin typeface="Arial"/>
                <a:ea typeface="Arial"/>
                <a:cs typeface="Arial"/>
              </a:rPr>
              <a:t>0.942</a:t>
            </a:r>
          </a:p>
        </p:txBody>
      </p:sp>
      <p:sp>
        <p:nvSpPr>
          <p:cNvPr id="23" name="">
            <a:extLst xmlns:a="http://schemas.openxmlformats.org/drawingml/2006/main">
              <a:ext uri="{FF2B5EF4-FFF2-40B4-BE49-F238E27FC236}">
                <a16:creationId xmlns:a16="http://schemas.microsoft.com/office/drawing/2014/main" id="{24976054-2C26-4F42-800C-497C2DFB45D2}"/>
              </a:ext>
            </a:extLst>
          </p:cNvPr>
          <p:cNvSpPr>
            <a:spLocks xmlns:a="http://schemas.openxmlformats.org/drawingml/2006/main" noGrp="1"/>
          </p:cNvSpPr>
          <p:nvPr/>
        </p:nvSpPr>
        <p:spPr>
          <a:xfrm xmlns:a="http://schemas.openxmlformats.org/drawingml/2006/main">
            <a:off x="9067800" y="4648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held-out questions</a:t>
            </a:r>
          </a:p>
        </p:txBody>
      </p:sp>
      <p:sp>
        <p:nvSpPr>
          <p:cNvPr id="24" name="">
            <a:extLst xmlns:a="http://schemas.openxmlformats.org/drawingml/2006/main">
              <a:ext uri="{FF2B5EF4-FFF2-40B4-BE49-F238E27FC236}">
                <a16:creationId xmlns:a16="http://schemas.microsoft.com/office/drawing/2014/main" id="{0B498785-82FD-4881-A854-955A9FDF1BEE}"/>
              </a:ext>
            </a:extLst>
          </p:cNvPr>
          <p:cNvSpPr>
            <a:spLocks xmlns:a="http://schemas.openxmlformats.org/drawingml/2006/main" noGrp="1"/>
          </p:cNvSpPr>
          <p:nvPr/>
        </p:nvSpPr>
        <p:spPr>
          <a:xfrm xmlns:a="http://schemas.openxmlformats.org/drawingml/2006/main">
            <a:off x="800100" y="5486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E5919F2-71C3-4534-B12A-1EF828FAE539}"/>
              </a:ext>
            </a:extLst>
          </p:cNvPr>
          <p:cNvSpPr>
            <a:spLocks xmlns:a="http://schemas.openxmlformats.org/drawingml/2006/main" noGrp="1"/>
          </p:cNvSpPr>
          <p:nvPr/>
        </p:nvSpPr>
        <p:spPr>
          <a:xfrm xmlns:a="http://schemas.openxmlformats.org/drawingml/2006/main">
            <a:off x="1028700" y="5467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Layer 15 provides a behaviorally anchored state; now trace how that information forms across the answer.</a:t>
            </a:r>
          </a:p>
        </p:txBody>
      </p:sp>
    </p:spTree>
    <p:extLst>
      <p:ext uri="{BB962C8B-B14F-4D97-AF65-F5344CB8AC3E}">
        <p14:creationId xmlns:p14="http://schemas.microsoft.com/office/powerpoint/2010/main" val="605888993"/>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EB11487-ED62-42E6-AEB4-1E879208E5D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Cumulative states show how information forms over time</a:t>
            </a:r>
          </a:p>
        </p:txBody>
      </p:sp>
      <p:sp>
        <p:nvSpPr>
          <p:cNvPr id="2" name="">
            <a:extLst xmlns:a="http://schemas.openxmlformats.org/drawingml/2006/main">
              <a:ext uri="{FF2B5EF4-FFF2-40B4-BE49-F238E27FC236}">
                <a16:creationId xmlns:a16="http://schemas.microsoft.com/office/drawing/2014/main" id="{260676C2-A7D4-4959-9396-B5669069D4F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trajectory</a:t>
            </a:r>
          </a:p>
        </p:txBody>
      </p:sp>
      <p:sp>
        <p:nvSpPr>
          <p:cNvPr id="3" name="">
            <a:extLst xmlns:a="http://schemas.openxmlformats.org/drawingml/2006/main">
              <a:ext uri="{FF2B5EF4-FFF2-40B4-BE49-F238E27FC236}">
                <a16:creationId xmlns:a16="http://schemas.microsoft.com/office/drawing/2014/main" id="{A3B0A1E2-78E2-4A6B-B49E-ABBE50B58FB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24918FB-69F7-4305-AFA1-BE26EFA8933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48</a:t>
            </a:r>
          </a:p>
        </p:txBody>
      </p:sp>
      <p:sp>
        <p:nvSpPr>
          <p:cNvPr id="5" name="">
            <a:extLst xmlns:a="http://schemas.openxmlformats.org/drawingml/2006/main">
              <a:ext uri="{FF2B5EF4-FFF2-40B4-BE49-F238E27FC236}">
                <a16:creationId xmlns:a16="http://schemas.microsoft.com/office/drawing/2014/main" id="{5CEFB539-25CA-4009-B4B4-56F735E5354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833F8D3-21E7-49C0-9C43-7F13BCD2D2B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B74A8B8-68B7-4B56-8A4E-E798315DA1E8}"/>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E77481F-FCA4-49CA-AB9A-0DB5AC1DB94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862A6BB-3B70-42B8-8A90-7D8DFCC3883F}"/>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13AEA06-8ABC-4795-9CB8-3CAF99949F4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1D106B8-DF01-4388-8C2E-6CAFB63CE6B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B047ACF-B13E-4DA3-AFE1-2426EE7577E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DA631BB-4D5A-4255-B06C-4F32F4971FE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CC8D363-8DD6-4C98-980E-D54FC65F11C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11D13D8-BCF2-412C-ABEC-2A5869CF585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causal forward pass; states sampled at sentence boundaries</a:t>
            </a:r>
          </a:p>
        </p:txBody>
      </p:sp>
      <p:sp>
        <p:nvSpPr>
          <p:cNvPr id="16" name="">
            <a:extLst xmlns:a="http://schemas.openxmlformats.org/drawingml/2006/main">
              <a:ext uri="{FF2B5EF4-FFF2-40B4-BE49-F238E27FC236}">
                <a16:creationId xmlns:a16="http://schemas.microsoft.com/office/drawing/2014/main" id="{EBAE4661-5FEF-405B-8B4B-D307082B4A49}"/>
              </a:ext>
            </a:extLst>
          </p:cNvPr>
          <p:cNvSpPr>
            <a:spLocks xmlns:a="http://schemas.openxmlformats.org/drawingml/2006/main" noGrp="1"/>
          </p:cNvSpPr>
          <p:nvPr/>
        </p:nvSpPr>
        <p:spPr>
          <a:xfrm xmlns:a="http://schemas.openxmlformats.org/drawingml/2006/main">
            <a:off x="800100" y="20955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0</a:t>
            </a:r>
          </a:p>
        </p:txBody>
      </p:sp>
      <p:sp>
        <p:nvSpPr>
          <p:cNvPr id="17" name="">
            <a:extLst xmlns:a="http://schemas.openxmlformats.org/drawingml/2006/main">
              <a:ext uri="{FF2B5EF4-FFF2-40B4-BE49-F238E27FC236}">
                <a16:creationId xmlns:a16="http://schemas.microsoft.com/office/drawing/2014/main" id="{CA0AC514-B307-41E1-81BB-FE3A4861588F}"/>
              </a:ext>
            </a:extLst>
          </p:cNvPr>
          <p:cNvSpPr>
            <a:spLocks xmlns:a="http://schemas.openxmlformats.org/drawingml/2006/main" noGrp="1"/>
          </p:cNvSpPr>
          <p:nvPr/>
        </p:nvSpPr>
        <p:spPr>
          <a:xfrm xmlns:a="http://schemas.openxmlformats.org/drawingml/2006/main">
            <a:off x="2038350" y="20193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only</a:t>
            </a:r>
          </a:p>
        </p:txBody>
      </p:sp>
      <p:sp>
        <p:nvSpPr>
          <p:cNvPr id="18" name="">
            <a:extLst xmlns:a="http://schemas.openxmlformats.org/drawingml/2006/main">
              <a:ext uri="{FF2B5EF4-FFF2-40B4-BE49-F238E27FC236}">
                <a16:creationId xmlns:a16="http://schemas.microsoft.com/office/drawing/2014/main" id="{1B50751F-1C72-45E7-AA21-B8C4A6364C7D}"/>
              </a:ext>
            </a:extLst>
          </p:cNvPr>
          <p:cNvSpPr>
            <a:spLocks xmlns:a="http://schemas.openxmlformats.org/drawingml/2006/main" noGrp="1"/>
          </p:cNvSpPr>
          <p:nvPr/>
        </p:nvSpPr>
        <p:spPr>
          <a:xfrm xmlns:a="http://schemas.openxmlformats.org/drawingml/2006/main">
            <a:off x="7505700" y="218598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4A78895-D068-4F0B-B974-539D3489D8E9}"/>
              </a:ext>
            </a:extLst>
          </p:cNvPr>
          <p:cNvSpPr>
            <a:spLocks xmlns:a="http://schemas.openxmlformats.org/drawingml/2006/main" noGrp="1"/>
          </p:cNvSpPr>
          <p:nvPr/>
        </p:nvSpPr>
        <p:spPr>
          <a:xfrm xmlns:a="http://schemas.openxmlformats.org/drawingml/2006/main">
            <a:off x="8286750" y="20193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h(0)</a:t>
            </a:r>
          </a:p>
        </p:txBody>
      </p:sp>
      <p:sp>
        <p:nvSpPr>
          <p:cNvPr id="20" name="">
            <a:extLst xmlns:a="http://schemas.openxmlformats.org/drawingml/2006/main">
              <a:ext uri="{FF2B5EF4-FFF2-40B4-BE49-F238E27FC236}">
                <a16:creationId xmlns:a16="http://schemas.microsoft.com/office/drawing/2014/main" id="{0287E99E-B513-4B8F-A6D4-48B30B24981D}"/>
              </a:ext>
            </a:extLst>
          </p:cNvPr>
          <p:cNvSpPr>
            <a:spLocks xmlns:a="http://schemas.openxmlformats.org/drawingml/2006/main" noGrp="1"/>
          </p:cNvSpPr>
          <p:nvPr/>
        </p:nvSpPr>
        <p:spPr>
          <a:xfrm xmlns:a="http://schemas.openxmlformats.org/drawingml/2006/main">
            <a:off x="800100" y="257175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CC42488-857D-4B26-A7BD-470BE12DAA6F}"/>
              </a:ext>
            </a:extLst>
          </p:cNvPr>
          <p:cNvSpPr>
            <a:spLocks xmlns:a="http://schemas.openxmlformats.org/drawingml/2006/main" noGrp="1"/>
          </p:cNvSpPr>
          <p:nvPr/>
        </p:nvSpPr>
        <p:spPr>
          <a:xfrm xmlns:a="http://schemas.openxmlformats.org/drawingml/2006/main">
            <a:off x="800100" y="28384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1</a:t>
            </a:r>
          </a:p>
        </p:txBody>
      </p:sp>
      <p:sp>
        <p:nvSpPr>
          <p:cNvPr id="22" name="">
            <a:extLst xmlns:a="http://schemas.openxmlformats.org/drawingml/2006/main">
              <a:ext uri="{FF2B5EF4-FFF2-40B4-BE49-F238E27FC236}">
                <a16:creationId xmlns:a16="http://schemas.microsoft.com/office/drawing/2014/main" id="{813A6196-75F9-488D-A370-07C5D29726AC}"/>
              </a:ext>
            </a:extLst>
          </p:cNvPr>
          <p:cNvSpPr>
            <a:spLocks xmlns:a="http://schemas.openxmlformats.org/drawingml/2006/main" noGrp="1"/>
          </p:cNvSpPr>
          <p:nvPr/>
        </p:nvSpPr>
        <p:spPr>
          <a:xfrm xmlns:a="http://schemas.openxmlformats.org/drawingml/2006/main">
            <a:off x="2038350" y="276225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 sentence 1</a:t>
            </a:r>
          </a:p>
        </p:txBody>
      </p:sp>
      <p:sp>
        <p:nvSpPr>
          <p:cNvPr id="23" name="">
            <a:extLst xmlns:a="http://schemas.openxmlformats.org/drawingml/2006/main">
              <a:ext uri="{FF2B5EF4-FFF2-40B4-BE49-F238E27FC236}">
                <a16:creationId xmlns:a16="http://schemas.microsoft.com/office/drawing/2014/main" id="{C15FC50C-C850-4CDC-AC10-17C78ABF1E45}"/>
              </a:ext>
            </a:extLst>
          </p:cNvPr>
          <p:cNvSpPr>
            <a:spLocks xmlns:a="http://schemas.openxmlformats.org/drawingml/2006/main" noGrp="1"/>
          </p:cNvSpPr>
          <p:nvPr/>
        </p:nvSpPr>
        <p:spPr>
          <a:xfrm xmlns:a="http://schemas.openxmlformats.org/drawingml/2006/main">
            <a:off x="7505700" y="292893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15B7196-5309-421B-B9BE-9C8A732AFE9E}"/>
              </a:ext>
            </a:extLst>
          </p:cNvPr>
          <p:cNvSpPr>
            <a:spLocks xmlns:a="http://schemas.openxmlformats.org/drawingml/2006/main" noGrp="1"/>
          </p:cNvSpPr>
          <p:nvPr/>
        </p:nvSpPr>
        <p:spPr>
          <a:xfrm xmlns:a="http://schemas.openxmlformats.org/drawingml/2006/main">
            <a:off x="8286750" y="27622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h(1)</a:t>
            </a:r>
          </a:p>
        </p:txBody>
      </p:sp>
      <p:sp>
        <p:nvSpPr>
          <p:cNvPr id="25" name="">
            <a:extLst xmlns:a="http://schemas.openxmlformats.org/drawingml/2006/main">
              <a:ext uri="{FF2B5EF4-FFF2-40B4-BE49-F238E27FC236}">
                <a16:creationId xmlns:a16="http://schemas.microsoft.com/office/drawing/2014/main" id="{0460769B-6CFA-4F96-B8B1-3C323A6B7802}"/>
              </a:ext>
            </a:extLst>
          </p:cNvPr>
          <p:cNvSpPr>
            <a:spLocks xmlns:a="http://schemas.openxmlformats.org/drawingml/2006/main" noGrp="1"/>
          </p:cNvSpPr>
          <p:nvPr/>
        </p:nvSpPr>
        <p:spPr>
          <a:xfrm xmlns:a="http://schemas.openxmlformats.org/drawingml/2006/main">
            <a:off x="800100" y="331470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1DD6730-1F66-4C26-B7F6-3C0CABD5C64C}"/>
              </a:ext>
            </a:extLst>
          </p:cNvPr>
          <p:cNvSpPr>
            <a:spLocks xmlns:a="http://schemas.openxmlformats.org/drawingml/2006/main" noGrp="1"/>
          </p:cNvSpPr>
          <p:nvPr/>
        </p:nvSpPr>
        <p:spPr>
          <a:xfrm xmlns:a="http://schemas.openxmlformats.org/drawingml/2006/main">
            <a:off x="800100" y="35814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2</a:t>
            </a:r>
          </a:p>
        </p:txBody>
      </p:sp>
      <p:sp>
        <p:nvSpPr>
          <p:cNvPr id="27" name="">
            <a:extLst xmlns:a="http://schemas.openxmlformats.org/drawingml/2006/main">
              <a:ext uri="{FF2B5EF4-FFF2-40B4-BE49-F238E27FC236}">
                <a16:creationId xmlns:a16="http://schemas.microsoft.com/office/drawing/2014/main" id="{EB649C00-90D5-4BD4-8F10-F4CD501DCF04}"/>
              </a:ext>
            </a:extLst>
          </p:cNvPr>
          <p:cNvSpPr>
            <a:spLocks xmlns:a="http://schemas.openxmlformats.org/drawingml/2006/main" noGrp="1"/>
          </p:cNvSpPr>
          <p:nvPr/>
        </p:nvSpPr>
        <p:spPr>
          <a:xfrm xmlns:a="http://schemas.openxmlformats.org/drawingml/2006/main">
            <a:off x="2038350" y="35052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 sentences 1-2</a:t>
            </a:r>
          </a:p>
        </p:txBody>
      </p:sp>
      <p:sp>
        <p:nvSpPr>
          <p:cNvPr id="28" name="">
            <a:extLst xmlns:a="http://schemas.openxmlformats.org/drawingml/2006/main">
              <a:ext uri="{FF2B5EF4-FFF2-40B4-BE49-F238E27FC236}">
                <a16:creationId xmlns:a16="http://schemas.microsoft.com/office/drawing/2014/main" id="{49D9354C-5439-41D5-B31F-BFDBF24041C7}"/>
              </a:ext>
            </a:extLst>
          </p:cNvPr>
          <p:cNvSpPr>
            <a:spLocks xmlns:a="http://schemas.openxmlformats.org/drawingml/2006/main" noGrp="1"/>
          </p:cNvSpPr>
          <p:nvPr/>
        </p:nvSpPr>
        <p:spPr>
          <a:xfrm xmlns:a="http://schemas.openxmlformats.org/drawingml/2006/main">
            <a:off x="7505700" y="367188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7BB8D2C-5A35-4F65-95D7-8FB35D36D454}"/>
              </a:ext>
            </a:extLst>
          </p:cNvPr>
          <p:cNvSpPr>
            <a:spLocks xmlns:a="http://schemas.openxmlformats.org/drawingml/2006/main" noGrp="1"/>
          </p:cNvSpPr>
          <p:nvPr/>
        </p:nvSpPr>
        <p:spPr>
          <a:xfrm xmlns:a="http://schemas.openxmlformats.org/drawingml/2006/main">
            <a:off x="8286750" y="35052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h(2)</a:t>
            </a:r>
          </a:p>
        </p:txBody>
      </p:sp>
      <p:sp>
        <p:nvSpPr>
          <p:cNvPr id="30" name="">
            <a:extLst xmlns:a="http://schemas.openxmlformats.org/drawingml/2006/main">
              <a:ext uri="{FF2B5EF4-FFF2-40B4-BE49-F238E27FC236}">
                <a16:creationId xmlns:a16="http://schemas.microsoft.com/office/drawing/2014/main" id="{39EF71CC-6B6C-4ED3-832F-3B22EF056060}"/>
              </a:ext>
            </a:extLst>
          </p:cNvPr>
          <p:cNvSpPr>
            <a:spLocks xmlns:a="http://schemas.openxmlformats.org/drawingml/2006/main" noGrp="1"/>
          </p:cNvSpPr>
          <p:nvPr/>
        </p:nvSpPr>
        <p:spPr>
          <a:xfrm xmlns:a="http://schemas.openxmlformats.org/drawingml/2006/main">
            <a:off x="800100" y="405765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488002B-0472-4563-841D-651EA2358C9D}"/>
              </a:ext>
            </a:extLst>
          </p:cNvPr>
          <p:cNvSpPr>
            <a:spLocks xmlns:a="http://schemas.openxmlformats.org/drawingml/2006/main" noGrp="1"/>
          </p:cNvSpPr>
          <p:nvPr/>
        </p:nvSpPr>
        <p:spPr>
          <a:xfrm xmlns:a="http://schemas.openxmlformats.org/drawingml/2006/main">
            <a:off x="800100" y="4324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t = 3</a:t>
            </a:r>
          </a:p>
        </p:txBody>
      </p:sp>
      <p:sp>
        <p:nvSpPr>
          <p:cNvPr id="32" name="">
            <a:extLst xmlns:a="http://schemas.openxmlformats.org/drawingml/2006/main">
              <a:ext uri="{FF2B5EF4-FFF2-40B4-BE49-F238E27FC236}">
                <a16:creationId xmlns:a16="http://schemas.microsoft.com/office/drawing/2014/main" id="{4D4D2E7C-0420-48ED-849A-6D9C045032DE}"/>
              </a:ext>
            </a:extLst>
          </p:cNvPr>
          <p:cNvSpPr>
            <a:spLocks xmlns:a="http://schemas.openxmlformats.org/drawingml/2006/main" noGrp="1"/>
          </p:cNvSpPr>
          <p:nvPr/>
        </p:nvSpPr>
        <p:spPr>
          <a:xfrm xmlns:a="http://schemas.openxmlformats.org/drawingml/2006/main">
            <a:off x="2038350" y="424815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i="0">
                <a:solidFill>
                  <a:srgbClr val="111827"/>
                </a:solidFill>
                <a:latin typeface="Arial"/>
                <a:ea typeface="Arial"/>
                <a:cs typeface="Arial"/>
              </a:defRPr>
            </a:pPr>
            <a:r>
              <a:rPr sz="1875" b="0" i="0">
                <a:solidFill>
                  <a:srgbClr val="111827"/>
                </a:solidFill>
                <a:latin typeface="Arial"/>
                <a:ea typeface="Arial"/>
                <a:cs typeface="Arial"/>
              </a:rPr>
              <a:t>question + sentences 1-3</a:t>
            </a:r>
          </a:p>
        </p:txBody>
      </p:sp>
      <p:sp>
        <p:nvSpPr>
          <p:cNvPr id="33" name="">
            <a:extLst xmlns:a="http://schemas.openxmlformats.org/drawingml/2006/main">
              <a:ext uri="{FF2B5EF4-FFF2-40B4-BE49-F238E27FC236}">
                <a16:creationId xmlns:a16="http://schemas.microsoft.com/office/drawing/2014/main" id="{B6A9BEAD-1EB2-4CFA-9C88-2FCCB234B31E}"/>
              </a:ext>
            </a:extLst>
          </p:cNvPr>
          <p:cNvSpPr>
            <a:spLocks xmlns:a="http://schemas.openxmlformats.org/drawingml/2006/main" noGrp="1"/>
          </p:cNvSpPr>
          <p:nvPr/>
        </p:nvSpPr>
        <p:spPr>
          <a:xfrm xmlns:a="http://schemas.openxmlformats.org/drawingml/2006/main">
            <a:off x="7505700" y="441483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6FB705F-BA4C-438D-978A-8BC3AF2D6C08}"/>
              </a:ext>
            </a:extLst>
          </p:cNvPr>
          <p:cNvSpPr>
            <a:spLocks xmlns:a="http://schemas.openxmlformats.org/drawingml/2006/main" noGrp="1"/>
          </p:cNvSpPr>
          <p:nvPr/>
        </p:nvSpPr>
        <p:spPr>
          <a:xfrm xmlns:a="http://schemas.openxmlformats.org/drawingml/2006/main">
            <a:off x="8286750" y="42481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Consolas"/>
                <a:ea typeface="Consolas"/>
                <a:cs typeface="Consolas"/>
              </a:defRPr>
            </a:pPr>
            <a:r>
              <a:rPr sz="2025" b="1" i="0">
                <a:solidFill>
                  <a:srgbClr val="5A4B6E"/>
                </a:solidFill>
                <a:latin typeface="Consolas"/>
                <a:ea typeface="Consolas"/>
                <a:cs typeface="Consolas"/>
              </a:rPr>
              <a:t>h(3)</a:t>
            </a:r>
          </a:p>
        </p:txBody>
      </p:sp>
      <p:sp>
        <p:nvSpPr>
          <p:cNvPr id="35" name="">
            <a:extLst xmlns:a="http://schemas.openxmlformats.org/drawingml/2006/main">
              <a:ext uri="{FF2B5EF4-FFF2-40B4-BE49-F238E27FC236}">
                <a16:creationId xmlns:a16="http://schemas.microsoft.com/office/drawing/2014/main" id="{146DE700-138A-43AA-80F4-69CE2BE024A6}"/>
              </a:ext>
            </a:extLst>
          </p:cNvPr>
          <p:cNvSpPr>
            <a:spLocks xmlns:a="http://schemas.openxmlformats.org/drawingml/2006/main" noGrp="1"/>
          </p:cNvSpPr>
          <p:nvPr/>
        </p:nvSpPr>
        <p:spPr>
          <a:xfrm xmlns:a="http://schemas.openxmlformats.org/drawingml/2006/main">
            <a:off x="1790700" y="5124450"/>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At h(2), the model has seen sentence 1 and sentence 2 - never sentence 3.</a:t>
            </a:r>
          </a:p>
        </p:txBody>
      </p:sp>
      <p:sp>
        <p:nvSpPr>
          <p:cNvPr id="36" name="">
            <a:extLst xmlns:a="http://schemas.openxmlformats.org/drawingml/2006/main">
              <a:ext uri="{FF2B5EF4-FFF2-40B4-BE49-F238E27FC236}">
                <a16:creationId xmlns:a16="http://schemas.microsoft.com/office/drawing/2014/main" id="{E398444A-93DB-40FC-B2C9-2C9B73CCBD9D}"/>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8E47FA8-53AD-4DAC-8DD5-CCA87E8B6726}"/>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do different personas follow different paths through the same question?</a:t>
            </a:r>
          </a:p>
        </p:txBody>
      </p:sp>
    </p:spTree>
    <p:extLst>
      <p:ext uri="{BB962C8B-B14F-4D97-AF65-F5344CB8AC3E}">
        <p14:creationId xmlns:p14="http://schemas.microsoft.com/office/powerpoint/2010/main" val="19412051"/>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F023C10-3027-4B01-8E6E-F9C832380EE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Persona trajectories diverge within the same problem</a:t>
            </a:r>
          </a:p>
        </p:txBody>
      </p:sp>
      <p:sp>
        <p:nvSpPr>
          <p:cNvPr id="2" name="">
            <a:extLst xmlns:a="http://schemas.openxmlformats.org/drawingml/2006/main">
              <a:ext uri="{FF2B5EF4-FFF2-40B4-BE49-F238E27FC236}">
                <a16:creationId xmlns:a16="http://schemas.microsoft.com/office/drawing/2014/main" id="{C2AF943D-AB3D-4F75-85CE-47B540964DA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geometry</a:t>
            </a:r>
          </a:p>
        </p:txBody>
      </p:sp>
      <p:sp>
        <p:nvSpPr>
          <p:cNvPr id="3" name="">
            <a:extLst xmlns:a="http://schemas.openxmlformats.org/drawingml/2006/main">
              <a:ext uri="{FF2B5EF4-FFF2-40B4-BE49-F238E27FC236}">
                <a16:creationId xmlns:a16="http://schemas.microsoft.com/office/drawing/2014/main" id="{C108D470-48C9-4569-BB25-D2D2378FDB4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8D21B0E-2916-4D08-8F55-A2E0D670F0E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49</a:t>
            </a:r>
          </a:p>
        </p:txBody>
      </p:sp>
      <p:sp>
        <p:nvSpPr>
          <p:cNvPr id="5" name="">
            <a:extLst xmlns:a="http://schemas.openxmlformats.org/drawingml/2006/main">
              <a:ext uri="{FF2B5EF4-FFF2-40B4-BE49-F238E27FC236}">
                <a16:creationId xmlns:a16="http://schemas.microsoft.com/office/drawing/2014/main" id="{6278B07C-EC61-46CC-861C-7ADD8FA5E1A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6A9D21-BA83-43E7-A88D-D2FF7EB1588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BA71AC6-846D-43E7-AE47-8D84A4381878}"/>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952EF93-ED1C-4145-9DCA-93BD12292F6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65CB7D2-3426-4E43-925B-9408C0A4FDD8}"/>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106D9C-7990-4E38-85C5-E9C77867E0B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83F0600-5712-4AF5-A4A8-74509F2DD055}"/>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796480C-05D3-4A30-BB3F-06BFBC1C42D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C423414-9E6F-4A28-92E5-DB4C77B5A7F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CB3F3A0-D570-4D8F-9794-8DCF5929A5D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9D85AE5-990A-440A-8E0D-716CF0D2CF9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Q04 / Qwen layer 15 / 72 individual traces and persona averages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fd2b4ddab5f4230"/>
          <a:stretch xmlns:a="http://schemas.openxmlformats.org/drawingml/2006/main"/>
        </p:blipFill>
        <p:spPr>
          <a:xfrm xmlns:a="http://schemas.openxmlformats.org/drawingml/2006/main">
            <a:off x="1558089" y="1657350"/>
            <a:ext cx="9075821" cy="4171950"/>
          </a:xfrm>
          <a:prstGeom xmlns:a="http://schemas.openxmlformats.org/drawingml/2006/main" prst="rect">
            <a:avLst/>
          </a:prstGeom>
        </p:spPr>
      </p:pic>
    </p:spTree>
    <p:extLst>
      <p:ext uri="{BB962C8B-B14F-4D97-AF65-F5344CB8AC3E}">
        <p14:creationId xmlns:p14="http://schemas.microsoft.com/office/powerpoint/2010/main" val="48558347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43808B0-DBA3-402F-8225-ABA45E8929F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Distance reveals divergence, not meaning</a:t>
            </a:r>
          </a:p>
        </p:txBody>
      </p:sp>
      <p:sp>
        <p:nvSpPr>
          <p:cNvPr id="2" name="">
            <a:extLst xmlns:a="http://schemas.openxmlformats.org/drawingml/2006/main">
              <a:ext uri="{FF2B5EF4-FFF2-40B4-BE49-F238E27FC236}">
                <a16:creationId xmlns:a16="http://schemas.microsoft.com/office/drawing/2014/main" id="{8BB0B878-9A7C-44D5-B58B-E9E091803A0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geometry to interpretation</a:t>
            </a:r>
          </a:p>
        </p:txBody>
      </p:sp>
      <p:sp>
        <p:nvSpPr>
          <p:cNvPr id="3" name="">
            <a:extLst xmlns:a="http://schemas.openxmlformats.org/drawingml/2006/main">
              <a:ext uri="{FF2B5EF4-FFF2-40B4-BE49-F238E27FC236}">
                <a16:creationId xmlns:a16="http://schemas.microsoft.com/office/drawing/2014/main" id="{3032BBAB-9F1E-4CE2-9801-54C9039E7EA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2FE323-67A9-4FD1-A52C-B616DEFF55E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3487C315-EC76-46B0-BF90-509BC166A7C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ABA6972-59F5-4B3B-B88E-5100A56464B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23FCCBE-DED6-4A5E-8E72-5F2FD80150F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9545CBA-28EF-4D6A-B96D-BC24132C0F6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8E4F79A-605F-4D13-8C3E-08BD3A6BD490}"/>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FD77045-E485-4D21-8D65-41E8073EEAE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D268240-C1AB-4CE5-9287-8451E82DBDE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6F7E8CF-D705-4281-85C1-F271706B4DF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F51A747-5B6A-49D1-A58B-07D9BFFF264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3F9487E-90F7-46C0-A641-141887143D9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AEAE9CD-CBFA-4682-B885-5DD28994FC5D}"/>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Question 4 / layer 15 / original-state distance before semantic interpretation</a:t>
            </a:r>
          </a:p>
        </p:txBody>
      </p:sp>
      <p:sp>
        <p:nvSpPr>
          <p:cNvPr id="16" name="">
            <a:extLst xmlns:a="http://schemas.openxmlformats.org/drawingml/2006/main">
              <a:ext uri="{FF2B5EF4-FFF2-40B4-BE49-F238E27FC236}">
                <a16:creationId xmlns:a16="http://schemas.microsoft.com/office/drawing/2014/main" id="{2C1C578B-09C8-437F-A141-5836C7CEFCED}"/>
              </a:ext>
            </a:extLst>
          </p:cNvPr>
          <p:cNvSpPr>
            <a:spLocks xmlns:a="http://schemas.openxmlformats.org/drawingml/2006/main" noGrp="1"/>
          </p:cNvSpPr>
          <p:nvPr/>
        </p:nvSpPr>
        <p:spPr>
          <a:xfrm xmlns:a="http://schemas.openxmlformats.org/drawingml/2006/main">
            <a:off x="800100" y="194310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Mean pairwise distance between persona trajectories</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c52fa107046547dd"/>
          <a:stretch xmlns:a="http://schemas.openxmlformats.org/drawingml/2006/main"/>
        </p:blipFill>
        <p:spPr>
          <a:xfrm xmlns:a="http://schemas.openxmlformats.org/drawingml/2006/main">
            <a:off x="781050" y="2343150"/>
            <a:ext cx="7239000" cy="25527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A64A6D03-B75D-4EC5-A91F-3DCB8263B031}"/>
              </a:ext>
            </a:extLst>
          </p:cNvPr>
          <p:cNvSpPr>
            <a:spLocks xmlns:a="http://schemas.openxmlformats.org/drawingml/2006/main" noGrp="1"/>
          </p:cNvSpPr>
          <p:nvPr/>
        </p:nvSpPr>
        <p:spPr>
          <a:xfrm xmlns:a="http://schemas.openxmlformats.org/drawingml/2006/main">
            <a:off x="8591550" y="21526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Validated</a:t>
            </a:r>
          </a:p>
        </p:txBody>
      </p:sp>
      <p:sp>
        <p:nvSpPr>
          <p:cNvPr id="19" name="">
            <a:extLst xmlns:a="http://schemas.openxmlformats.org/drawingml/2006/main">
              <a:ext uri="{FF2B5EF4-FFF2-40B4-BE49-F238E27FC236}">
                <a16:creationId xmlns:a16="http://schemas.microsoft.com/office/drawing/2014/main" id="{1E7776B5-BF1E-4F29-A6DF-39477CED3605}"/>
              </a:ext>
            </a:extLst>
          </p:cNvPr>
          <p:cNvSpPr>
            <a:spLocks xmlns:a="http://schemas.openxmlformats.org/drawingml/2006/main" noGrp="1"/>
          </p:cNvSpPr>
          <p:nvPr/>
        </p:nvSpPr>
        <p:spPr>
          <a:xfrm xmlns:a="http://schemas.openxmlformats.org/drawingml/2006/main">
            <a:off x="8591550" y="2533650"/>
            <a:ext cx="2571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029"/>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Distance increases in the original 4,096D state space. The MDS pattern is not only a projection artifact.</a:t>
            </a:r>
          </a:p>
        </p:txBody>
      </p:sp>
      <p:sp>
        <p:nvSpPr>
          <p:cNvPr id="20" name="">
            <a:extLst xmlns:a="http://schemas.openxmlformats.org/drawingml/2006/main">
              <a:ext uri="{FF2B5EF4-FFF2-40B4-BE49-F238E27FC236}">
                <a16:creationId xmlns:a16="http://schemas.microsoft.com/office/drawing/2014/main" id="{3D1A07C6-31CF-4FB9-A782-E52AFC121711}"/>
              </a:ext>
            </a:extLst>
          </p:cNvPr>
          <p:cNvSpPr>
            <a:spLocks xmlns:a="http://schemas.openxmlformats.org/drawingml/2006/main" noGrp="1"/>
          </p:cNvSpPr>
          <p:nvPr/>
        </p:nvSpPr>
        <p:spPr>
          <a:xfrm xmlns:a="http://schemas.openxmlformats.org/drawingml/2006/main">
            <a:off x="8591550" y="37719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8A3B35"/>
                </a:solidFill>
                <a:latin typeface="Arial"/>
                <a:ea typeface="Arial"/>
                <a:cs typeface="Arial"/>
              </a:defRPr>
            </a:pPr>
            <a:r>
              <a:rPr sz="1575" b="1" i="0">
                <a:solidFill>
                  <a:srgbClr val="8A3B35"/>
                </a:solidFill>
                <a:latin typeface="Arial"/>
                <a:ea typeface="Arial"/>
                <a:cs typeface="Arial"/>
              </a:rPr>
              <a:t>Still missing</a:t>
            </a:r>
          </a:p>
        </p:txBody>
      </p:sp>
      <p:sp>
        <p:nvSpPr>
          <p:cNvPr id="21" name="">
            <a:extLst xmlns:a="http://schemas.openxmlformats.org/drawingml/2006/main">
              <a:ext uri="{FF2B5EF4-FFF2-40B4-BE49-F238E27FC236}">
                <a16:creationId xmlns:a16="http://schemas.microsoft.com/office/drawing/2014/main" id="{C6A403B5-6276-4CE8-BA03-73D7078E3AE5}"/>
              </a:ext>
            </a:extLst>
          </p:cNvPr>
          <p:cNvSpPr>
            <a:spLocks xmlns:a="http://schemas.openxmlformats.org/drawingml/2006/main" noGrp="1"/>
          </p:cNvSpPr>
          <p:nvPr/>
        </p:nvSpPr>
        <p:spPr>
          <a:xfrm xmlns:a="http://schemas.openxmlformats.org/drawingml/2006/main">
            <a:off x="8591550" y="4152900"/>
            <a:ext cx="2571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622"/>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Distance does not label the paths as outcome-, probability-, value-, or uncertainty-related.</a:t>
            </a:r>
          </a:p>
        </p:txBody>
      </p:sp>
      <p:sp>
        <p:nvSpPr>
          <p:cNvPr id="22" name="">
            <a:extLst xmlns:a="http://schemas.openxmlformats.org/drawingml/2006/main">
              <a:ext uri="{FF2B5EF4-FFF2-40B4-BE49-F238E27FC236}">
                <a16:creationId xmlns:a16="http://schemas.microsoft.com/office/drawing/2014/main" id="{CD559E43-A3D4-49F1-9035-70C769EC0295}"/>
              </a:ext>
            </a:extLst>
          </p:cNvPr>
          <p:cNvSpPr>
            <a:spLocks xmlns:a="http://schemas.openxmlformats.org/drawingml/2006/main" noGrp="1"/>
          </p:cNvSpPr>
          <p:nvPr/>
        </p:nvSpPr>
        <p:spPr>
          <a:xfrm xmlns:a="http://schemas.openxmlformats.org/drawingml/2006/main">
            <a:off x="800100" y="521970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1302A7D-3823-4BBB-B99F-6D8F1AD6833B}"/>
              </a:ext>
            </a:extLst>
          </p:cNvPr>
          <p:cNvSpPr>
            <a:spLocks xmlns:a="http://schemas.openxmlformats.org/drawingml/2006/main" noGrp="1"/>
          </p:cNvSpPr>
          <p:nvPr/>
        </p:nvSpPr>
        <p:spPr>
          <a:xfrm xmlns:a="http://schemas.openxmlformats.org/drawingml/2006/main">
            <a:off x="1524000" y="53721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h_t in R^4096</a:t>
            </a:r>
          </a:p>
        </p:txBody>
      </p:sp>
      <p:sp>
        <p:nvSpPr>
          <p:cNvPr id="24" name="">
            <a:extLst xmlns:a="http://schemas.openxmlformats.org/drawingml/2006/main">
              <a:ext uri="{FF2B5EF4-FFF2-40B4-BE49-F238E27FC236}">
                <a16:creationId xmlns:a16="http://schemas.microsoft.com/office/drawing/2014/main" id="{2CD948A9-4382-48F7-9FFD-6575A925C7E8}"/>
              </a:ext>
            </a:extLst>
          </p:cNvPr>
          <p:cNvSpPr>
            <a:spLocks xmlns:a="http://schemas.openxmlformats.org/drawingml/2006/main" noGrp="1"/>
          </p:cNvSpPr>
          <p:nvPr/>
        </p:nvSpPr>
        <p:spPr>
          <a:xfrm xmlns:a="http://schemas.openxmlformats.org/drawingml/2006/main">
            <a:off x="3962400" y="5476875"/>
            <a:ext cx="60960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95CD030-28C7-49F5-94E1-CC7B51E16820}"/>
              </a:ext>
            </a:extLst>
          </p:cNvPr>
          <p:cNvSpPr>
            <a:spLocks xmlns:a="http://schemas.openxmlformats.org/drawingml/2006/main" noGrp="1"/>
          </p:cNvSpPr>
          <p:nvPr/>
        </p:nvSpPr>
        <p:spPr>
          <a:xfrm xmlns:a="http://schemas.openxmlformats.org/drawingml/2006/main">
            <a:off x="4857750" y="5372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g(h_t) in R^12</a:t>
            </a:r>
          </a:p>
        </p:txBody>
      </p:sp>
      <p:sp>
        <p:nvSpPr>
          <p:cNvPr id="26" name="">
            <a:extLst xmlns:a="http://schemas.openxmlformats.org/drawingml/2006/main">
              <a:ext uri="{FF2B5EF4-FFF2-40B4-BE49-F238E27FC236}">
                <a16:creationId xmlns:a16="http://schemas.microsoft.com/office/drawing/2014/main" id="{966032EB-9CC9-4951-A097-1FF036E1ADD3}"/>
              </a:ext>
            </a:extLst>
          </p:cNvPr>
          <p:cNvSpPr>
            <a:spLocks xmlns:a="http://schemas.openxmlformats.org/drawingml/2006/main" noGrp="1"/>
          </p:cNvSpPr>
          <p:nvPr/>
        </p:nvSpPr>
        <p:spPr>
          <a:xfrm xmlns:a="http://schemas.openxmlformats.org/drawingml/2006/main">
            <a:off x="7905750" y="5372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Text2Decision</a:t>
            </a:r>
          </a:p>
        </p:txBody>
      </p:sp>
      <p:sp>
        <p:nvSpPr>
          <p:cNvPr id="27" name="">
            <a:extLst xmlns:a="http://schemas.openxmlformats.org/drawingml/2006/main">
              <a:ext uri="{FF2B5EF4-FFF2-40B4-BE49-F238E27FC236}">
                <a16:creationId xmlns:a16="http://schemas.microsoft.com/office/drawing/2014/main" id="{0BE30516-8D00-4C1C-BB65-3D3D28B4EA31}"/>
              </a:ext>
            </a:extLst>
          </p:cNvPr>
          <p:cNvSpPr>
            <a:spLocks xmlns:a="http://schemas.openxmlformats.org/drawingml/2006/main" noGrp="1"/>
          </p:cNvSpPr>
          <p:nvPr/>
        </p:nvSpPr>
        <p:spPr>
          <a:xfrm xmlns:a="http://schemas.openxmlformats.org/drawingml/2006/main">
            <a:off x="800100" y="58483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8777D88-44E7-4377-93AA-3BF2E8CFC5A0}"/>
              </a:ext>
            </a:extLst>
          </p:cNvPr>
          <p:cNvSpPr>
            <a:spLocks xmlns:a="http://schemas.openxmlformats.org/drawingml/2006/main" noGrp="1"/>
          </p:cNvSpPr>
          <p:nvPr/>
        </p:nvSpPr>
        <p:spPr>
          <a:xfrm xmlns:a="http://schemas.openxmlformats.org/drawingml/2006/main">
            <a:off x="1028700" y="58293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Next: learn a task-defined coordinate system, then validate the map before interpreting trajectories.</a:t>
            </a:r>
          </a:p>
        </p:txBody>
      </p:sp>
    </p:spTree>
    <p:extLst>
      <p:ext uri="{BB962C8B-B14F-4D97-AF65-F5344CB8AC3E}">
        <p14:creationId xmlns:p14="http://schemas.microsoft.com/office/powerpoint/2010/main" val="97410875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957706B7-50D4-4B1F-BB9C-AF3A0AEABA6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Train the map on known decision variables</a:t>
            </a:r>
          </a:p>
        </p:txBody>
      </p:sp>
      <p:sp>
        <p:nvSpPr>
          <p:cNvPr id="2" name="">
            <a:extLst xmlns:a="http://schemas.openxmlformats.org/drawingml/2006/main">
              <a:ext uri="{FF2B5EF4-FFF2-40B4-BE49-F238E27FC236}">
                <a16:creationId xmlns:a16="http://schemas.microsoft.com/office/drawing/2014/main" id="{7F44C3BD-6F77-4FEA-A0C2-7F4C89DA445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method</a:t>
            </a:r>
          </a:p>
        </p:txBody>
      </p:sp>
      <p:sp>
        <p:nvSpPr>
          <p:cNvPr id="3" name="">
            <a:extLst xmlns:a="http://schemas.openxmlformats.org/drawingml/2006/main">
              <a:ext uri="{FF2B5EF4-FFF2-40B4-BE49-F238E27FC236}">
                <a16:creationId xmlns:a16="http://schemas.microsoft.com/office/drawing/2014/main" id="{A1072D7B-405B-4797-99FE-93D846B920D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CE241A6-28B4-48F0-83F9-55B87427380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51</a:t>
            </a:r>
          </a:p>
        </p:txBody>
      </p:sp>
      <p:sp>
        <p:nvSpPr>
          <p:cNvPr id="5" name="">
            <a:extLst xmlns:a="http://schemas.openxmlformats.org/drawingml/2006/main">
              <a:ext uri="{FF2B5EF4-FFF2-40B4-BE49-F238E27FC236}">
                <a16:creationId xmlns:a16="http://schemas.microsoft.com/office/drawing/2014/main" id="{DDCAF500-C668-452E-AB0C-BAD613F2ED1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732DB71-2C14-4D62-BE0D-6D6C53ECF5E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A6C516C-8A3F-4B24-895D-334B3C22FA32}"/>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E25D9C5-5686-41E5-8D7F-330A29E84C4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0B707E3-6E6B-4983-B0D8-7877586F5631}"/>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E25BA32-342A-4EE1-938B-7776F1F2E91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72B412B-F1FF-4288-A7E5-37927D48EB0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5FA188A-BC1D-42C2-88EE-2EF6627973D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66601C2-58D2-4B7C-9F32-D094E429000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B87403F-A62D-4B19-A63A-B42EACDDD58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6CCE1B4-ABCF-4ED7-9E5E-F79F2C40A71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Choice13K option descriptions → frozen Qwen layer 15 → feed-forward network → 12 targets</a:t>
            </a:r>
          </a:p>
        </p:txBody>
      </p:sp>
      <p:sp>
        <p:nvSpPr>
          <p:cNvPr id="16" name="">
            <a:extLst xmlns:a="http://schemas.openxmlformats.org/drawingml/2006/main">
              <a:ext uri="{FF2B5EF4-FFF2-40B4-BE49-F238E27FC236}">
                <a16:creationId xmlns:a16="http://schemas.microsoft.com/office/drawing/2014/main" id="{FB80FF5E-B852-4322-81A1-2808D79148D0}"/>
              </a:ext>
            </a:extLst>
          </p:cNvPr>
          <p:cNvSpPr>
            <a:spLocks xmlns:a="http://schemas.openxmlformats.org/drawingml/2006/main" noGrp="1"/>
          </p:cNvSpPr>
          <p:nvPr/>
        </p:nvSpPr>
        <p:spPr>
          <a:xfrm xmlns:a="http://schemas.openxmlformats.org/drawingml/2006/main">
            <a:off x="800100" y="1943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TRAINING</a:t>
            </a:r>
          </a:p>
        </p:txBody>
      </p:sp>
      <p:sp>
        <p:nvSpPr>
          <p:cNvPr id="17" name="">
            <a:extLst xmlns:a="http://schemas.openxmlformats.org/drawingml/2006/main">
              <a:ext uri="{FF2B5EF4-FFF2-40B4-BE49-F238E27FC236}">
                <a16:creationId xmlns:a16="http://schemas.microsoft.com/office/drawing/2014/main" id="{21C4A646-559D-4DE3-B562-3D8DE9F31D4A}"/>
              </a:ext>
            </a:extLst>
          </p:cNvPr>
          <p:cNvSpPr>
            <a:spLocks xmlns:a="http://schemas.openxmlformats.org/drawingml/2006/main" noGrp="1"/>
          </p:cNvSpPr>
          <p:nvPr/>
        </p:nvSpPr>
        <p:spPr>
          <a:xfrm xmlns:a="http://schemas.openxmlformats.org/drawingml/2006/main">
            <a:off x="800100" y="2476500"/>
            <a:ext cx="2286000" cy="6667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Choice13K option text</a:t>
            </a:r>
          </a:p>
        </p:txBody>
      </p:sp>
      <p:sp>
        <p:nvSpPr>
          <p:cNvPr id="18" name="">
            <a:extLst xmlns:a="http://schemas.openxmlformats.org/drawingml/2006/main">
              <a:ext uri="{FF2B5EF4-FFF2-40B4-BE49-F238E27FC236}">
                <a16:creationId xmlns:a16="http://schemas.microsoft.com/office/drawing/2014/main" id="{8CB3B534-8B33-489D-9C2C-1E814414D37C}"/>
              </a:ext>
            </a:extLst>
          </p:cNvPr>
          <p:cNvSpPr>
            <a:spLocks xmlns:a="http://schemas.openxmlformats.org/drawingml/2006/main" noGrp="1"/>
          </p:cNvSpPr>
          <p:nvPr/>
        </p:nvSpPr>
        <p:spPr>
          <a:xfrm xmlns:a="http://schemas.openxmlformats.org/drawingml/2006/main">
            <a:off x="3219450" y="275748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D190692-D9C1-4049-87D4-BE028A2F7E57}"/>
              </a:ext>
            </a:extLst>
          </p:cNvPr>
          <p:cNvSpPr>
            <a:spLocks xmlns:a="http://schemas.openxmlformats.org/drawingml/2006/main" noGrp="1"/>
          </p:cNvSpPr>
          <p:nvPr/>
        </p:nvSpPr>
        <p:spPr>
          <a:xfrm xmlns:a="http://schemas.openxmlformats.org/drawingml/2006/main">
            <a:off x="3867150" y="2476500"/>
            <a:ext cx="2381250" cy="6667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Frozen Qwen state</a:t>
            </a:r>
          </a:p>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layer 15 / 4096D</a:t>
            </a:r>
          </a:p>
        </p:txBody>
      </p:sp>
      <p:sp>
        <p:nvSpPr>
          <p:cNvPr id="20" name="">
            <a:extLst xmlns:a="http://schemas.openxmlformats.org/drawingml/2006/main">
              <a:ext uri="{FF2B5EF4-FFF2-40B4-BE49-F238E27FC236}">
                <a16:creationId xmlns:a16="http://schemas.microsoft.com/office/drawing/2014/main" id="{A73E5018-3269-4814-AB64-58B92BBEC412}"/>
              </a:ext>
            </a:extLst>
          </p:cNvPr>
          <p:cNvSpPr>
            <a:spLocks xmlns:a="http://schemas.openxmlformats.org/drawingml/2006/main" noGrp="1"/>
          </p:cNvSpPr>
          <p:nvPr/>
        </p:nvSpPr>
        <p:spPr>
          <a:xfrm xmlns:a="http://schemas.openxmlformats.org/drawingml/2006/main">
            <a:off x="6362700" y="2757488"/>
            <a:ext cx="4762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865EE9-F9B3-4B4F-B797-A40A8835425C}"/>
              </a:ext>
            </a:extLst>
          </p:cNvPr>
          <p:cNvSpPr>
            <a:spLocks xmlns:a="http://schemas.openxmlformats.org/drawingml/2006/main" noGrp="1"/>
          </p:cNvSpPr>
          <p:nvPr/>
        </p:nvSpPr>
        <p:spPr>
          <a:xfrm xmlns:a="http://schemas.openxmlformats.org/drawingml/2006/main">
            <a:off x="6972300" y="19431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Feed-forward network</a:t>
            </a:r>
          </a:p>
        </p:txBody>
      </p:sp>
      <p:sp>
        <p:nvSpPr>
          <p:cNvPr id="22" name="">
            <a:extLst xmlns:a="http://schemas.openxmlformats.org/drawingml/2006/main">
              <a:ext uri="{FF2B5EF4-FFF2-40B4-BE49-F238E27FC236}">
                <a16:creationId xmlns:a16="http://schemas.microsoft.com/office/drawing/2014/main" id="{06F3C6AF-8E05-406B-81D9-F77CAA3AB166}"/>
              </a:ext>
            </a:extLst>
          </p:cNvPr>
          <p:cNvSpPr>
            <a:spLocks xmlns:a="http://schemas.openxmlformats.org/drawingml/2006/main" noGrp="1"/>
          </p:cNvSpPr>
          <p:nvPr/>
        </p:nvSpPr>
        <p:spPr>
          <a:xfrm xmlns:a="http://schemas.openxmlformats.org/drawingml/2006/main">
            <a:off x="74866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B11CC1D-F0BE-4A73-97DC-F73D74DCA84A}"/>
              </a:ext>
            </a:extLst>
          </p:cNvPr>
          <p:cNvSpPr>
            <a:spLocks xmlns:a="http://schemas.openxmlformats.org/drawingml/2006/main" noGrp="1"/>
          </p:cNvSpPr>
          <p:nvPr/>
        </p:nvSpPr>
        <p:spPr>
          <a:xfrm xmlns:a="http://schemas.openxmlformats.org/drawingml/2006/main">
            <a:off x="82105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DB382DA-2AB2-4AF4-A465-6C31F16B0DF9}"/>
              </a:ext>
            </a:extLst>
          </p:cNvPr>
          <p:cNvSpPr>
            <a:spLocks xmlns:a="http://schemas.openxmlformats.org/drawingml/2006/main" noGrp="1"/>
          </p:cNvSpPr>
          <p:nvPr/>
        </p:nvSpPr>
        <p:spPr>
          <a:xfrm xmlns:a="http://schemas.openxmlformats.org/drawingml/2006/main">
            <a:off x="89344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A25D544-B831-4AEA-B677-D9A5664C5AF8}"/>
              </a:ext>
            </a:extLst>
          </p:cNvPr>
          <p:cNvSpPr>
            <a:spLocks xmlns:a="http://schemas.openxmlformats.org/drawingml/2006/main" noGrp="1"/>
          </p:cNvSpPr>
          <p:nvPr/>
        </p:nvSpPr>
        <p:spPr>
          <a:xfrm xmlns:a="http://schemas.openxmlformats.org/drawingml/2006/main">
            <a:off x="96583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60E34B3-2A6F-4502-85E2-40DDE6EEF8CC}"/>
              </a:ext>
            </a:extLst>
          </p:cNvPr>
          <p:cNvSpPr>
            <a:spLocks xmlns:a="http://schemas.openxmlformats.org/drawingml/2006/main" noGrp="1"/>
          </p:cNvSpPr>
          <p:nvPr/>
        </p:nvSpPr>
        <p:spPr>
          <a:xfrm xmlns:a="http://schemas.openxmlformats.org/drawingml/2006/main">
            <a:off x="70866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27" name="">
            <a:extLst xmlns:a="http://schemas.openxmlformats.org/drawingml/2006/main">
              <a:ext uri="{FF2B5EF4-FFF2-40B4-BE49-F238E27FC236}">
                <a16:creationId xmlns:a16="http://schemas.microsoft.com/office/drawing/2014/main" id="{1D595099-2489-42C6-A129-0818C8E75E9E}"/>
              </a:ext>
            </a:extLst>
          </p:cNvPr>
          <p:cNvSpPr>
            <a:spLocks xmlns:a="http://schemas.openxmlformats.org/drawingml/2006/main" noGrp="1"/>
          </p:cNvSpPr>
          <p:nvPr/>
        </p:nvSpPr>
        <p:spPr>
          <a:xfrm xmlns:a="http://schemas.openxmlformats.org/drawingml/2006/main">
            <a:off x="70866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4096</a:t>
            </a:r>
          </a:p>
        </p:txBody>
      </p:sp>
      <p:sp>
        <p:nvSpPr>
          <p:cNvPr id="28" name="">
            <a:extLst xmlns:a="http://schemas.openxmlformats.org/drawingml/2006/main">
              <a:ext uri="{FF2B5EF4-FFF2-40B4-BE49-F238E27FC236}">
                <a16:creationId xmlns:a16="http://schemas.microsoft.com/office/drawing/2014/main" id="{B56F6A99-809F-48CC-BE5F-C3D74EDDD181}"/>
              </a:ext>
            </a:extLst>
          </p:cNvPr>
          <p:cNvSpPr>
            <a:spLocks xmlns:a="http://schemas.openxmlformats.org/drawingml/2006/main" noGrp="1"/>
          </p:cNvSpPr>
          <p:nvPr/>
        </p:nvSpPr>
        <p:spPr>
          <a:xfrm xmlns:a="http://schemas.openxmlformats.org/drawingml/2006/main">
            <a:off x="78105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29" name="">
            <a:extLst xmlns:a="http://schemas.openxmlformats.org/drawingml/2006/main">
              <a:ext uri="{FF2B5EF4-FFF2-40B4-BE49-F238E27FC236}">
                <a16:creationId xmlns:a16="http://schemas.microsoft.com/office/drawing/2014/main" id="{7859D7B4-396A-44DF-9D20-E28E56978EAF}"/>
              </a:ext>
            </a:extLst>
          </p:cNvPr>
          <p:cNvSpPr>
            <a:spLocks xmlns:a="http://schemas.openxmlformats.org/drawingml/2006/main" noGrp="1"/>
          </p:cNvSpPr>
          <p:nvPr/>
        </p:nvSpPr>
        <p:spPr>
          <a:xfrm xmlns:a="http://schemas.openxmlformats.org/drawingml/2006/main">
            <a:off x="78105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512</a:t>
            </a:r>
          </a:p>
        </p:txBody>
      </p:sp>
      <p:sp>
        <p:nvSpPr>
          <p:cNvPr id="30" name="">
            <a:extLst xmlns:a="http://schemas.openxmlformats.org/drawingml/2006/main">
              <a:ext uri="{FF2B5EF4-FFF2-40B4-BE49-F238E27FC236}">
                <a16:creationId xmlns:a16="http://schemas.microsoft.com/office/drawing/2014/main" id="{DDF86C76-1A35-4B6A-BE80-DC2112276BDA}"/>
              </a:ext>
            </a:extLst>
          </p:cNvPr>
          <p:cNvSpPr>
            <a:spLocks xmlns:a="http://schemas.openxmlformats.org/drawingml/2006/main" noGrp="1"/>
          </p:cNvSpPr>
          <p:nvPr/>
        </p:nvSpPr>
        <p:spPr>
          <a:xfrm xmlns:a="http://schemas.openxmlformats.org/drawingml/2006/main">
            <a:off x="85344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31" name="">
            <a:extLst xmlns:a="http://schemas.openxmlformats.org/drawingml/2006/main">
              <a:ext uri="{FF2B5EF4-FFF2-40B4-BE49-F238E27FC236}">
                <a16:creationId xmlns:a16="http://schemas.microsoft.com/office/drawing/2014/main" id="{2D34F498-5D65-4EF7-AE1C-9E2E65098D3F}"/>
              </a:ext>
            </a:extLst>
          </p:cNvPr>
          <p:cNvSpPr>
            <a:spLocks xmlns:a="http://schemas.openxmlformats.org/drawingml/2006/main" noGrp="1"/>
          </p:cNvSpPr>
          <p:nvPr/>
        </p:nvSpPr>
        <p:spPr>
          <a:xfrm xmlns:a="http://schemas.openxmlformats.org/drawingml/2006/main">
            <a:off x="85344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128</a:t>
            </a:r>
          </a:p>
        </p:txBody>
      </p:sp>
      <p:sp>
        <p:nvSpPr>
          <p:cNvPr id="32" name="">
            <a:extLst xmlns:a="http://schemas.openxmlformats.org/drawingml/2006/main">
              <a:ext uri="{FF2B5EF4-FFF2-40B4-BE49-F238E27FC236}">
                <a16:creationId xmlns:a16="http://schemas.microsoft.com/office/drawing/2014/main" id="{D3E1510D-F607-4212-9FE6-DDB9A6D83BA1}"/>
              </a:ext>
            </a:extLst>
          </p:cNvPr>
          <p:cNvSpPr>
            <a:spLocks xmlns:a="http://schemas.openxmlformats.org/drawingml/2006/main" noGrp="1"/>
          </p:cNvSpPr>
          <p:nvPr/>
        </p:nvSpPr>
        <p:spPr>
          <a:xfrm xmlns:a="http://schemas.openxmlformats.org/drawingml/2006/main">
            <a:off x="92583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33" name="">
            <a:extLst xmlns:a="http://schemas.openxmlformats.org/drawingml/2006/main">
              <a:ext uri="{FF2B5EF4-FFF2-40B4-BE49-F238E27FC236}">
                <a16:creationId xmlns:a16="http://schemas.microsoft.com/office/drawing/2014/main" id="{D4CDA0B6-545B-432E-AE34-057B93F52F05}"/>
              </a:ext>
            </a:extLst>
          </p:cNvPr>
          <p:cNvSpPr>
            <a:spLocks xmlns:a="http://schemas.openxmlformats.org/drawingml/2006/main" noGrp="1"/>
          </p:cNvSpPr>
          <p:nvPr/>
        </p:nvSpPr>
        <p:spPr>
          <a:xfrm xmlns:a="http://schemas.openxmlformats.org/drawingml/2006/main">
            <a:off x="92583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64</a:t>
            </a:r>
          </a:p>
        </p:txBody>
      </p:sp>
      <p:sp>
        <p:nvSpPr>
          <p:cNvPr id="34" name="">
            <a:extLst xmlns:a="http://schemas.openxmlformats.org/drawingml/2006/main">
              <a:ext uri="{FF2B5EF4-FFF2-40B4-BE49-F238E27FC236}">
                <a16:creationId xmlns:a16="http://schemas.microsoft.com/office/drawing/2014/main" id="{6BACC439-BD03-4632-9774-FAB40EF359BD}"/>
              </a:ext>
            </a:extLst>
          </p:cNvPr>
          <p:cNvSpPr>
            <a:spLocks xmlns:a="http://schemas.openxmlformats.org/drawingml/2006/main" noGrp="1"/>
          </p:cNvSpPr>
          <p:nvPr/>
        </p:nvSpPr>
        <p:spPr>
          <a:xfrm xmlns:a="http://schemas.openxmlformats.org/drawingml/2006/main">
            <a:off x="9982200" y="2495550"/>
            <a:ext cx="552450" cy="628650"/>
          </a:xfrm>
          <a:prstGeom xmlns:a="http://schemas.openxmlformats.org/drawingml/2006/main" prst="roundRect">
            <a:avLst>
              <a:gd name="adj" fmla="val 13793"/>
            </a:avLst>
          </a:prstGeom>
          <a:solidFill xmlns:a="http://schemas.openxmlformats.org/drawingml/2006/main">
            <a:srgbClr val="E8E2EE"/>
          </a:solidFill>
          <a:ln xmlns:a="http://schemas.openxmlformats.org/drawingml/2006/main" w="9525">
            <a:solidFill>
              <a:srgbClr val="5A4B6E"/>
            </a:solidFill>
            <a:prstDash val="solid"/>
          </a:ln>
        </p:spPr>
      </p:sp>
      <p:sp>
        <p:nvSpPr>
          <p:cNvPr id="35" name="">
            <a:extLst xmlns:a="http://schemas.openxmlformats.org/drawingml/2006/main">
              <a:ext uri="{FF2B5EF4-FFF2-40B4-BE49-F238E27FC236}">
                <a16:creationId xmlns:a16="http://schemas.microsoft.com/office/drawing/2014/main" id="{4BDF3FF5-5035-4819-8128-172ED10D588B}"/>
              </a:ext>
            </a:extLst>
          </p:cNvPr>
          <p:cNvSpPr>
            <a:spLocks xmlns:a="http://schemas.openxmlformats.org/drawingml/2006/main" noGrp="1"/>
          </p:cNvSpPr>
          <p:nvPr/>
        </p:nvSpPr>
        <p:spPr>
          <a:xfrm xmlns:a="http://schemas.openxmlformats.org/drawingml/2006/main">
            <a:off x="99822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5A4B6E"/>
                </a:solidFill>
                <a:latin typeface="Arial"/>
                <a:ea typeface="Arial"/>
                <a:cs typeface="Arial"/>
              </a:defRPr>
            </a:pPr>
            <a:r>
              <a:rPr sz="1425" b="1" i="0">
                <a:solidFill>
                  <a:srgbClr val="5A4B6E"/>
                </a:solidFill>
                <a:latin typeface="Arial"/>
                <a:ea typeface="Arial"/>
                <a:cs typeface="Arial"/>
              </a:rPr>
              <a:t>12</a:t>
            </a:r>
          </a:p>
        </p:txBody>
      </p:sp>
      <p:sp>
        <p:nvSpPr>
          <p:cNvPr id="36" name="">
            <a:extLst xmlns:a="http://schemas.openxmlformats.org/drawingml/2006/main">
              <a:ext uri="{FF2B5EF4-FFF2-40B4-BE49-F238E27FC236}">
                <a16:creationId xmlns:a16="http://schemas.microsoft.com/office/drawing/2014/main" id="{A04DFD6C-8570-409A-A0E9-6A9522E970EE}"/>
              </a:ext>
            </a:extLst>
          </p:cNvPr>
          <p:cNvSpPr>
            <a:spLocks xmlns:a="http://schemas.openxmlformats.org/drawingml/2006/main" noGrp="1"/>
          </p:cNvSpPr>
          <p:nvPr/>
        </p:nvSpPr>
        <p:spPr>
          <a:xfrm xmlns:a="http://schemas.openxmlformats.org/drawingml/2006/main">
            <a:off x="10591800" y="27574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A173DEC1-9E84-4679-8D06-64E33A856825}"/>
              </a:ext>
            </a:extLst>
          </p:cNvPr>
          <p:cNvSpPr>
            <a:spLocks xmlns:a="http://schemas.openxmlformats.org/drawingml/2006/main" noGrp="1"/>
          </p:cNvSpPr>
          <p:nvPr/>
        </p:nvSpPr>
        <p:spPr>
          <a:xfrm xmlns:a="http://schemas.openxmlformats.org/drawingml/2006/main">
            <a:off x="10953750" y="24765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12 decision</a:t>
            </a:r>
          </a:p>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variables</a:t>
            </a:r>
          </a:p>
        </p:txBody>
      </p:sp>
      <p:sp>
        <p:nvSpPr>
          <p:cNvPr id="38" name="">
            <a:extLst xmlns:a="http://schemas.openxmlformats.org/drawingml/2006/main">
              <a:ext uri="{FF2B5EF4-FFF2-40B4-BE49-F238E27FC236}">
                <a16:creationId xmlns:a16="http://schemas.microsoft.com/office/drawing/2014/main" id="{BFA8FBA2-2583-4404-B407-5FAF05A18ACE}"/>
              </a:ext>
            </a:extLst>
          </p:cNvPr>
          <p:cNvSpPr>
            <a:spLocks xmlns:a="http://schemas.openxmlformats.org/drawingml/2006/main" noGrp="1"/>
          </p:cNvSpPr>
          <p:nvPr/>
        </p:nvSpPr>
        <p:spPr>
          <a:xfrm xmlns:a="http://schemas.openxmlformats.org/drawingml/2006/main">
            <a:off x="800100" y="34671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Targets are computed from each lottery: five outcome summaries, five probabilities, expected value, and entropy.</a:t>
            </a:r>
          </a:p>
        </p:txBody>
      </p:sp>
      <p:sp>
        <p:nvSpPr>
          <p:cNvPr id="39" name="">
            <a:extLst xmlns:a="http://schemas.openxmlformats.org/drawingml/2006/main">
              <a:ext uri="{FF2B5EF4-FFF2-40B4-BE49-F238E27FC236}">
                <a16:creationId xmlns:a16="http://schemas.microsoft.com/office/drawing/2014/main" id="{56153BFC-8FB8-4C95-A935-8B6266490C4D}"/>
              </a:ext>
            </a:extLst>
          </p:cNvPr>
          <p:cNvSpPr>
            <a:spLocks xmlns:a="http://schemas.openxmlformats.org/drawingml/2006/main" noGrp="1"/>
          </p:cNvSpPr>
          <p:nvPr/>
        </p:nvSpPr>
        <p:spPr>
          <a:xfrm xmlns:a="http://schemas.openxmlformats.org/drawingml/2006/main">
            <a:off x="800100" y="41148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72C2D05-E850-45A2-B26E-72E8047A3C0A}"/>
              </a:ext>
            </a:extLst>
          </p:cNvPr>
          <p:cNvSpPr>
            <a:spLocks xmlns:a="http://schemas.openxmlformats.org/drawingml/2006/main" noGrp="1"/>
          </p:cNvSpPr>
          <p:nvPr/>
        </p:nvSpPr>
        <p:spPr>
          <a:xfrm xmlns:a="http://schemas.openxmlformats.org/drawingml/2006/main">
            <a:off x="800100" y="43243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TRANSFER AFTER TRAINING</a:t>
            </a:r>
          </a:p>
        </p:txBody>
      </p:sp>
      <p:sp>
        <p:nvSpPr>
          <p:cNvPr id="41" name="">
            <a:extLst xmlns:a="http://schemas.openxmlformats.org/drawingml/2006/main">
              <a:ext uri="{FF2B5EF4-FFF2-40B4-BE49-F238E27FC236}">
                <a16:creationId xmlns:a16="http://schemas.microsoft.com/office/drawing/2014/main" id="{9190D826-48F0-478F-A348-E2BD0F96DFFA}"/>
              </a:ext>
            </a:extLst>
          </p:cNvPr>
          <p:cNvSpPr>
            <a:spLocks xmlns:a="http://schemas.openxmlformats.org/drawingml/2006/main" noGrp="1"/>
          </p:cNvSpPr>
          <p:nvPr/>
        </p:nvSpPr>
        <p:spPr>
          <a:xfrm xmlns:a="http://schemas.openxmlformats.org/drawingml/2006/main">
            <a:off x="800100" y="4781550"/>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GPT-4 masked reasoning prefix</a:t>
            </a:r>
          </a:p>
        </p:txBody>
      </p:sp>
      <p:sp>
        <p:nvSpPr>
          <p:cNvPr id="42" name="">
            <a:extLst xmlns:a="http://schemas.openxmlformats.org/drawingml/2006/main">
              <a:ext uri="{FF2B5EF4-FFF2-40B4-BE49-F238E27FC236}">
                <a16:creationId xmlns:a16="http://schemas.microsoft.com/office/drawing/2014/main" id="{1780211E-D5C4-48C1-BB80-59C56EA20218}"/>
              </a:ext>
            </a:extLst>
          </p:cNvPr>
          <p:cNvSpPr>
            <a:spLocks xmlns:a="http://schemas.openxmlformats.org/drawingml/2006/main" noGrp="1"/>
          </p:cNvSpPr>
          <p:nvPr/>
        </p:nvSpPr>
        <p:spPr>
          <a:xfrm xmlns:a="http://schemas.openxmlformats.org/drawingml/2006/main">
            <a:off x="3676650" y="50196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E5EE4F0-A640-4761-99BA-313CDDD81598}"/>
              </a:ext>
            </a:extLst>
          </p:cNvPr>
          <p:cNvSpPr>
            <a:spLocks xmlns:a="http://schemas.openxmlformats.org/drawingml/2006/main" noGrp="1"/>
          </p:cNvSpPr>
          <p:nvPr/>
        </p:nvSpPr>
        <p:spPr>
          <a:xfrm xmlns:a="http://schemas.openxmlformats.org/drawingml/2006/main">
            <a:off x="4267200" y="478155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Qwen layer-15 state h_t</a:t>
            </a:r>
          </a:p>
        </p:txBody>
      </p:sp>
      <p:sp>
        <p:nvSpPr>
          <p:cNvPr id="44" name="">
            <a:extLst xmlns:a="http://schemas.openxmlformats.org/drawingml/2006/main">
              <a:ext uri="{FF2B5EF4-FFF2-40B4-BE49-F238E27FC236}">
                <a16:creationId xmlns:a16="http://schemas.microsoft.com/office/drawing/2014/main" id="{E0808CEC-FE9A-4C4D-8BDB-2E1BC1B77620}"/>
              </a:ext>
            </a:extLst>
          </p:cNvPr>
          <p:cNvSpPr>
            <a:spLocks xmlns:a="http://schemas.openxmlformats.org/drawingml/2006/main" noGrp="1"/>
          </p:cNvSpPr>
          <p:nvPr/>
        </p:nvSpPr>
        <p:spPr>
          <a:xfrm xmlns:a="http://schemas.openxmlformats.org/drawingml/2006/main">
            <a:off x="6953250" y="50196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CCCEC44-F44A-414B-886D-9DC0763E90F2}"/>
              </a:ext>
            </a:extLst>
          </p:cNvPr>
          <p:cNvSpPr>
            <a:spLocks xmlns:a="http://schemas.openxmlformats.org/drawingml/2006/main" noGrp="1"/>
          </p:cNvSpPr>
          <p:nvPr/>
        </p:nvSpPr>
        <p:spPr>
          <a:xfrm xmlns:a="http://schemas.openxmlformats.org/drawingml/2006/main">
            <a:off x="7543800" y="4781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Frozen Text2Decision</a:t>
            </a:r>
          </a:p>
        </p:txBody>
      </p:sp>
      <p:sp>
        <p:nvSpPr>
          <p:cNvPr id="46" name="">
            <a:extLst xmlns:a="http://schemas.openxmlformats.org/drawingml/2006/main">
              <a:ext uri="{FF2B5EF4-FFF2-40B4-BE49-F238E27FC236}">
                <a16:creationId xmlns:a16="http://schemas.microsoft.com/office/drawing/2014/main" id="{46CCFE01-50D1-4F05-BCE0-69AA6AFFED90}"/>
              </a:ext>
            </a:extLst>
          </p:cNvPr>
          <p:cNvSpPr>
            <a:spLocks xmlns:a="http://schemas.openxmlformats.org/drawingml/2006/main" noGrp="1"/>
          </p:cNvSpPr>
          <p:nvPr/>
        </p:nvSpPr>
        <p:spPr>
          <a:xfrm xmlns:a="http://schemas.openxmlformats.org/drawingml/2006/main">
            <a:off x="10039350" y="50196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0F11DA65-3FA5-482A-A930-71D9B80DC59C}"/>
              </a:ext>
            </a:extLst>
          </p:cNvPr>
          <p:cNvSpPr>
            <a:spLocks xmlns:a="http://schemas.openxmlformats.org/drawingml/2006/main" noGrp="1"/>
          </p:cNvSpPr>
          <p:nvPr/>
        </p:nvSpPr>
        <p:spPr>
          <a:xfrm xmlns:a="http://schemas.openxmlformats.org/drawingml/2006/main">
            <a:off x="10572750" y="4781550"/>
            <a:ext cx="104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75" b="1" i="0">
                <a:solidFill>
                  <a:srgbClr val="5A4B6E"/>
                </a:solidFill>
                <a:latin typeface="Arial"/>
                <a:ea typeface="Arial"/>
                <a:cs typeface="Arial"/>
              </a:defRPr>
            </a:pPr>
            <a:r>
              <a:rPr sz="1575" b="1" i="0">
                <a:solidFill>
                  <a:srgbClr val="5A4B6E"/>
                </a:solidFill>
                <a:latin typeface="Arial"/>
                <a:ea typeface="Arial"/>
                <a:cs typeface="Arial"/>
              </a:rPr>
              <a:t>12D trajectory</a:t>
            </a:r>
          </a:p>
        </p:txBody>
      </p:sp>
      <p:sp>
        <p:nvSpPr>
          <p:cNvPr id="48" name="">
            <a:extLst xmlns:a="http://schemas.openxmlformats.org/drawingml/2006/main">
              <a:ext uri="{FF2B5EF4-FFF2-40B4-BE49-F238E27FC236}">
                <a16:creationId xmlns:a16="http://schemas.microsoft.com/office/drawing/2014/main" id="{7D637A16-3A3B-446F-8E35-9844C3374F80}"/>
              </a:ext>
            </a:extLst>
          </p:cNvPr>
          <p:cNvSpPr>
            <a:spLocks xmlns:a="http://schemas.openxmlformats.org/drawingml/2006/main" noGrp="1"/>
          </p:cNvSpPr>
          <p:nvPr/>
        </p:nvSpPr>
        <p:spPr>
          <a:xfrm xmlns:a="http://schemas.openxmlformats.org/drawingml/2006/main">
            <a:off x="800100" y="56388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CFE3201E-70AA-446F-B96F-226C596192D9}"/>
              </a:ext>
            </a:extLst>
          </p:cNvPr>
          <p:cNvSpPr>
            <a:spLocks xmlns:a="http://schemas.openxmlformats.org/drawingml/2006/main" noGrp="1"/>
          </p:cNvSpPr>
          <p:nvPr/>
        </p:nvSpPr>
        <p:spPr>
          <a:xfrm xmlns:a="http://schemas.openxmlformats.org/drawingml/2006/main">
            <a:off x="1028700" y="56197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Train on stimuli with known variables; apply the frozen map to reasoning states whose content is unknown.</a:t>
            </a:r>
          </a:p>
        </p:txBody>
      </p:sp>
    </p:spTree>
    <p:extLst>
      <p:ext uri="{BB962C8B-B14F-4D97-AF65-F5344CB8AC3E}">
        <p14:creationId xmlns:p14="http://schemas.microsoft.com/office/powerpoint/2010/main" val="138064714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6F65D0BE-A6ED-44C6-944C-6AFF573D717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Validate the readout before transferring it to reasoning</a:t>
            </a:r>
          </a:p>
        </p:txBody>
      </p:sp>
      <p:sp>
        <p:nvSpPr>
          <p:cNvPr id="2" name="">
            <a:extLst xmlns:a="http://schemas.openxmlformats.org/drawingml/2006/main">
              <a:ext uri="{FF2B5EF4-FFF2-40B4-BE49-F238E27FC236}">
                <a16:creationId xmlns:a16="http://schemas.microsoft.com/office/drawing/2014/main" id="{A87C26B1-97A1-4B36-A10E-1A114412F50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validation</a:t>
            </a:r>
          </a:p>
        </p:txBody>
      </p:sp>
      <p:sp>
        <p:nvSpPr>
          <p:cNvPr id="3" name="">
            <a:extLst xmlns:a="http://schemas.openxmlformats.org/drawingml/2006/main">
              <a:ext uri="{FF2B5EF4-FFF2-40B4-BE49-F238E27FC236}">
                <a16:creationId xmlns:a16="http://schemas.microsoft.com/office/drawing/2014/main" id="{C7FC06A5-48DE-4D04-BDF9-B104258963B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AD0BDB3-3E4A-4706-952C-C16EC33703C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52</a:t>
            </a:r>
          </a:p>
        </p:txBody>
      </p:sp>
      <p:sp>
        <p:nvSpPr>
          <p:cNvPr id="5" name="">
            <a:extLst xmlns:a="http://schemas.openxmlformats.org/drawingml/2006/main">
              <a:ext uri="{FF2B5EF4-FFF2-40B4-BE49-F238E27FC236}">
                <a16:creationId xmlns:a16="http://schemas.microsoft.com/office/drawing/2014/main" id="{C5408C96-5F52-4E24-9FD4-FA21214C66E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EE8E472-F108-43EF-9B81-7B7FA6EB148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0F218E5-C611-4E68-AE2F-71F1A8BE31C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9CE265C-F642-4196-BC5D-31C526D86C7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116AD06-AB28-4971-A519-77CC681057BD}"/>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362662F-ED08-4707-B7D1-0F325AF35CB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977B9FF-6EDA-400C-B46F-B4E3634C90E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32A5440-F34D-4169-B843-38AD2B61CA1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DD11AD7-9EE7-4EB4-81E0-4C97DEC2EC2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81FA19-5A1B-4DBC-B2FE-CFB774B092C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B22E522-CED3-42C4-AEBE-1709B3F2008A}"/>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Choice13K test split grouped by problem ID / mean test R2 = 0.949</a:t>
            </a:r>
          </a:p>
        </p:txBody>
      </p:sp>
      <p:sp>
        <p:nvSpPr>
          <p:cNvPr id="16" name="">
            <a:extLst xmlns:a="http://schemas.openxmlformats.org/drawingml/2006/main">
              <a:ext uri="{FF2B5EF4-FFF2-40B4-BE49-F238E27FC236}">
                <a16:creationId xmlns:a16="http://schemas.microsoft.com/office/drawing/2014/main" id="{3902C69B-FE02-42CC-9D0F-3AD7E9BC26B2}"/>
              </a:ext>
            </a:extLst>
          </p:cNvPr>
          <p:cNvSpPr>
            <a:spLocks xmlns:a="http://schemas.openxmlformats.org/drawingml/2006/main" noGrp="1"/>
          </p:cNvSpPr>
          <p:nvPr/>
        </p:nvSpPr>
        <p:spPr>
          <a:xfrm xmlns:a="http://schemas.openxmlformats.org/drawingml/2006/main">
            <a:off x="2476500" y="1924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test R2 (%)</a:t>
            </a:r>
          </a:p>
        </p:txBody>
      </p:sp>
      <p:sp>
        <p:nvSpPr>
          <p:cNvPr id="17" name="">
            <a:extLst xmlns:a="http://schemas.openxmlformats.org/drawingml/2006/main">
              <a:ext uri="{FF2B5EF4-FFF2-40B4-BE49-F238E27FC236}">
                <a16:creationId xmlns:a16="http://schemas.microsoft.com/office/drawing/2014/main" id="{208F5581-3BEC-495B-A70B-F4C7D761D35B}"/>
              </a:ext>
            </a:extLst>
          </p:cNvPr>
          <p:cNvSpPr>
            <a:spLocks xmlns:a="http://schemas.openxmlformats.org/drawingml/2006/main" noGrp="1"/>
          </p:cNvSpPr>
          <p:nvPr/>
        </p:nvSpPr>
        <p:spPr>
          <a:xfrm xmlns:a="http://schemas.openxmlformats.org/drawingml/2006/main">
            <a:off x="742950" y="21907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max gain</a:t>
            </a:r>
          </a:p>
        </p:txBody>
      </p:sp>
      <p:sp>
        <p:nvSpPr>
          <p:cNvPr id="18" name="">
            <a:extLst xmlns:a="http://schemas.openxmlformats.org/drawingml/2006/main">
              <a:ext uri="{FF2B5EF4-FFF2-40B4-BE49-F238E27FC236}">
                <a16:creationId xmlns:a16="http://schemas.microsoft.com/office/drawing/2014/main" id="{11F6F984-2D89-4A51-A431-40261D914168}"/>
              </a:ext>
            </a:extLst>
          </p:cNvPr>
          <p:cNvSpPr>
            <a:spLocks xmlns:a="http://schemas.openxmlformats.org/drawingml/2006/main" noGrp="1"/>
          </p:cNvSpPr>
          <p:nvPr/>
        </p:nvSpPr>
        <p:spPr>
          <a:xfrm xmlns:a="http://schemas.openxmlformats.org/drawingml/2006/main">
            <a:off x="2476500" y="22098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19" name="">
            <a:extLst xmlns:a="http://schemas.openxmlformats.org/drawingml/2006/main">
              <a:ext uri="{FF2B5EF4-FFF2-40B4-BE49-F238E27FC236}">
                <a16:creationId xmlns:a16="http://schemas.microsoft.com/office/drawing/2014/main" id="{F9CAD142-6609-4579-A38F-4D844FB61468}"/>
              </a:ext>
            </a:extLst>
          </p:cNvPr>
          <p:cNvSpPr>
            <a:spLocks xmlns:a="http://schemas.openxmlformats.org/drawingml/2006/main" noGrp="1"/>
          </p:cNvSpPr>
          <p:nvPr/>
        </p:nvSpPr>
        <p:spPr>
          <a:xfrm xmlns:a="http://schemas.openxmlformats.org/drawingml/2006/main">
            <a:off x="2476500" y="2209800"/>
            <a:ext cx="533857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0" name="">
            <a:extLst xmlns:a="http://schemas.openxmlformats.org/drawingml/2006/main">
              <a:ext uri="{FF2B5EF4-FFF2-40B4-BE49-F238E27FC236}">
                <a16:creationId xmlns:a16="http://schemas.microsoft.com/office/drawing/2014/main" id="{8A7EBF72-A7D8-487E-9F80-5F2357631534}"/>
              </a:ext>
            </a:extLst>
          </p:cNvPr>
          <p:cNvSpPr>
            <a:spLocks xmlns:a="http://schemas.openxmlformats.org/drawingml/2006/main" noGrp="1"/>
          </p:cNvSpPr>
          <p:nvPr/>
        </p:nvSpPr>
        <p:spPr>
          <a:xfrm xmlns:a="http://schemas.openxmlformats.org/drawingml/2006/main">
            <a:off x="8515350" y="21812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90.4</a:t>
            </a:r>
          </a:p>
        </p:txBody>
      </p:sp>
      <p:sp>
        <p:nvSpPr>
          <p:cNvPr id="21" name="">
            <a:extLst xmlns:a="http://schemas.openxmlformats.org/drawingml/2006/main">
              <a:ext uri="{FF2B5EF4-FFF2-40B4-BE49-F238E27FC236}">
                <a16:creationId xmlns:a16="http://schemas.microsoft.com/office/drawing/2014/main" id="{ED16F7AB-2AB4-4D48-964D-76B8E8E884C1}"/>
              </a:ext>
            </a:extLst>
          </p:cNvPr>
          <p:cNvSpPr>
            <a:spLocks xmlns:a="http://schemas.openxmlformats.org/drawingml/2006/main" noGrp="1"/>
          </p:cNvSpPr>
          <p:nvPr/>
        </p:nvSpPr>
        <p:spPr>
          <a:xfrm xmlns:a="http://schemas.openxmlformats.org/drawingml/2006/main">
            <a:off x="742950" y="2438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min gain</a:t>
            </a:r>
          </a:p>
        </p:txBody>
      </p:sp>
      <p:sp>
        <p:nvSpPr>
          <p:cNvPr id="22" name="">
            <a:extLst xmlns:a="http://schemas.openxmlformats.org/drawingml/2006/main">
              <a:ext uri="{FF2B5EF4-FFF2-40B4-BE49-F238E27FC236}">
                <a16:creationId xmlns:a16="http://schemas.microsoft.com/office/drawing/2014/main" id="{820C99ED-3FC4-46F7-B0A2-B10B419E3C41}"/>
              </a:ext>
            </a:extLst>
          </p:cNvPr>
          <p:cNvSpPr>
            <a:spLocks xmlns:a="http://schemas.openxmlformats.org/drawingml/2006/main" noGrp="1"/>
          </p:cNvSpPr>
          <p:nvPr/>
        </p:nvSpPr>
        <p:spPr>
          <a:xfrm xmlns:a="http://schemas.openxmlformats.org/drawingml/2006/main">
            <a:off x="2476500" y="24574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23" name="">
            <a:extLst xmlns:a="http://schemas.openxmlformats.org/drawingml/2006/main">
              <a:ext uri="{FF2B5EF4-FFF2-40B4-BE49-F238E27FC236}">
                <a16:creationId xmlns:a16="http://schemas.microsoft.com/office/drawing/2014/main" id="{1C3D14DB-FFEC-4BA4-88EF-F1B4B3F6D1E6}"/>
              </a:ext>
            </a:extLst>
          </p:cNvPr>
          <p:cNvSpPr>
            <a:spLocks xmlns:a="http://schemas.openxmlformats.org/drawingml/2006/main" noGrp="1"/>
          </p:cNvSpPr>
          <p:nvPr/>
        </p:nvSpPr>
        <p:spPr>
          <a:xfrm xmlns:a="http://schemas.openxmlformats.org/drawingml/2006/main">
            <a:off x="2476500" y="2457450"/>
            <a:ext cx="5622036"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DB4B1033-34AA-4297-8DB0-463B43BA99AE}"/>
              </a:ext>
            </a:extLst>
          </p:cNvPr>
          <p:cNvSpPr>
            <a:spLocks xmlns:a="http://schemas.openxmlformats.org/drawingml/2006/main" noGrp="1"/>
          </p:cNvSpPr>
          <p:nvPr/>
        </p:nvSpPr>
        <p:spPr>
          <a:xfrm xmlns:a="http://schemas.openxmlformats.org/drawingml/2006/main">
            <a:off x="8515350" y="24288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95.2</a:t>
            </a:r>
          </a:p>
        </p:txBody>
      </p:sp>
      <p:sp>
        <p:nvSpPr>
          <p:cNvPr id="25" name="">
            <a:extLst xmlns:a="http://schemas.openxmlformats.org/drawingml/2006/main">
              <a:ext uri="{FF2B5EF4-FFF2-40B4-BE49-F238E27FC236}">
                <a16:creationId xmlns:a16="http://schemas.microsoft.com/office/drawing/2014/main" id="{B44C54CC-F8C5-4140-8C4B-66FFDA7CDE7F}"/>
              </a:ext>
            </a:extLst>
          </p:cNvPr>
          <p:cNvSpPr>
            <a:spLocks xmlns:a="http://schemas.openxmlformats.org/drawingml/2006/main" noGrp="1"/>
          </p:cNvSpPr>
          <p:nvPr/>
        </p:nvSpPr>
        <p:spPr>
          <a:xfrm xmlns:a="http://schemas.openxmlformats.org/drawingml/2006/main">
            <a:off x="742950" y="26860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max loss</a:t>
            </a:r>
          </a:p>
        </p:txBody>
      </p:sp>
      <p:sp>
        <p:nvSpPr>
          <p:cNvPr id="26" name="">
            <a:extLst xmlns:a="http://schemas.openxmlformats.org/drawingml/2006/main">
              <a:ext uri="{FF2B5EF4-FFF2-40B4-BE49-F238E27FC236}">
                <a16:creationId xmlns:a16="http://schemas.microsoft.com/office/drawing/2014/main" id="{966DAA5C-D8A3-44A8-9E71-846966C94A63}"/>
              </a:ext>
            </a:extLst>
          </p:cNvPr>
          <p:cNvSpPr>
            <a:spLocks xmlns:a="http://schemas.openxmlformats.org/drawingml/2006/main" noGrp="1"/>
          </p:cNvSpPr>
          <p:nvPr/>
        </p:nvSpPr>
        <p:spPr>
          <a:xfrm xmlns:a="http://schemas.openxmlformats.org/drawingml/2006/main">
            <a:off x="2476500" y="27051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778C2AEB-3A99-41F9-B456-EF898D5B3457}"/>
              </a:ext>
            </a:extLst>
          </p:cNvPr>
          <p:cNvSpPr>
            <a:spLocks xmlns:a="http://schemas.openxmlformats.org/drawingml/2006/main" noGrp="1"/>
          </p:cNvSpPr>
          <p:nvPr/>
        </p:nvSpPr>
        <p:spPr>
          <a:xfrm xmlns:a="http://schemas.openxmlformats.org/drawingml/2006/main">
            <a:off x="2476500" y="2705100"/>
            <a:ext cx="524999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8124B60F-126D-4DA7-B270-545E3F721F29}"/>
              </a:ext>
            </a:extLst>
          </p:cNvPr>
          <p:cNvSpPr>
            <a:spLocks xmlns:a="http://schemas.openxmlformats.org/drawingml/2006/main" noGrp="1"/>
          </p:cNvSpPr>
          <p:nvPr/>
        </p:nvSpPr>
        <p:spPr>
          <a:xfrm xmlns:a="http://schemas.openxmlformats.org/drawingml/2006/main">
            <a:off x="8515350" y="26765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88.9</a:t>
            </a:r>
          </a:p>
        </p:txBody>
      </p:sp>
      <p:sp>
        <p:nvSpPr>
          <p:cNvPr id="29" name="">
            <a:extLst xmlns:a="http://schemas.openxmlformats.org/drawingml/2006/main">
              <a:ext uri="{FF2B5EF4-FFF2-40B4-BE49-F238E27FC236}">
                <a16:creationId xmlns:a16="http://schemas.microsoft.com/office/drawing/2014/main" id="{B4E5AF7E-AD3E-4EF0-9A22-FE27F9F18662}"/>
              </a:ext>
            </a:extLst>
          </p:cNvPr>
          <p:cNvSpPr>
            <a:spLocks xmlns:a="http://schemas.openxmlformats.org/drawingml/2006/main" noGrp="1"/>
          </p:cNvSpPr>
          <p:nvPr/>
        </p:nvSpPr>
        <p:spPr>
          <a:xfrm xmlns:a="http://schemas.openxmlformats.org/drawingml/2006/main">
            <a:off x="742950" y="29337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min loss</a:t>
            </a:r>
          </a:p>
        </p:txBody>
      </p:sp>
      <p:sp>
        <p:nvSpPr>
          <p:cNvPr id="30" name="">
            <a:extLst xmlns:a="http://schemas.openxmlformats.org/drawingml/2006/main">
              <a:ext uri="{FF2B5EF4-FFF2-40B4-BE49-F238E27FC236}">
                <a16:creationId xmlns:a16="http://schemas.microsoft.com/office/drawing/2014/main" id="{A0D97E64-64B2-4D95-AFD6-876E27C8F32D}"/>
              </a:ext>
            </a:extLst>
          </p:cNvPr>
          <p:cNvSpPr>
            <a:spLocks xmlns:a="http://schemas.openxmlformats.org/drawingml/2006/main" noGrp="1"/>
          </p:cNvSpPr>
          <p:nvPr/>
        </p:nvSpPr>
        <p:spPr>
          <a:xfrm xmlns:a="http://schemas.openxmlformats.org/drawingml/2006/main">
            <a:off x="2476500" y="29527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1" name="">
            <a:extLst xmlns:a="http://schemas.openxmlformats.org/drawingml/2006/main">
              <a:ext uri="{FF2B5EF4-FFF2-40B4-BE49-F238E27FC236}">
                <a16:creationId xmlns:a16="http://schemas.microsoft.com/office/drawing/2014/main" id="{2FB2FFB9-34B7-449A-B723-43EE45F4FC00}"/>
              </a:ext>
            </a:extLst>
          </p:cNvPr>
          <p:cNvSpPr>
            <a:spLocks xmlns:a="http://schemas.openxmlformats.org/drawingml/2006/main" noGrp="1"/>
          </p:cNvSpPr>
          <p:nvPr/>
        </p:nvSpPr>
        <p:spPr>
          <a:xfrm xmlns:a="http://schemas.openxmlformats.org/drawingml/2006/main">
            <a:off x="2476500" y="2952750"/>
            <a:ext cx="527361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32" name="">
            <a:extLst xmlns:a="http://schemas.openxmlformats.org/drawingml/2006/main">
              <a:ext uri="{FF2B5EF4-FFF2-40B4-BE49-F238E27FC236}">
                <a16:creationId xmlns:a16="http://schemas.microsoft.com/office/drawing/2014/main" id="{3D23CC19-7770-4A6F-AA85-60E1897397FC}"/>
              </a:ext>
            </a:extLst>
          </p:cNvPr>
          <p:cNvSpPr>
            <a:spLocks xmlns:a="http://schemas.openxmlformats.org/drawingml/2006/main" noGrp="1"/>
          </p:cNvSpPr>
          <p:nvPr/>
        </p:nvSpPr>
        <p:spPr>
          <a:xfrm xmlns:a="http://schemas.openxmlformats.org/drawingml/2006/main">
            <a:off x="8515350" y="29241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89.3</a:t>
            </a:r>
          </a:p>
        </p:txBody>
      </p:sp>
      <p:sp>
        <p:nvSpPr>
          <p:cNvPr id="33" name="">
            <a:extLst xmlns:a="http://schemas.openxmlformats.org/drawingml/2006/main">
              <a:ext uri="{FF2B5EF4-FFF2-40B4-BE49-F238E27FC236}">
                <a16:creationId xmlns:a16="http://schemas.microsoft.com/office/drawing/2014/main" id="{B1F05DD5-3789-4257-B570-2BD95BF955CB}"/>
              </a:ext>
            </a:extLst>
          </p:cNvPr>
          <p:cNvSpPr>
            <a:spLocks xmlns:a="http://schemas.openxmlformats.org/drawingml/2006/main" noGrp="1"/>
          </p:cNvSpPr>
          <p:nvPr/>
        </p:nvSpPr>
        <p:spPr>
          <a:xfrm xmlns:a="http://schemas.openxmlformats.org/drawingml/2006/main">
            <a:off x="742950" y="31813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top-2 gains</a:t>
            </a:r>
          </a:p>
        </p:txBody>
      </p:sp>
      <p:sp>
        <p:nvSpPr>
          <p:cNvPr id="34" name="">
            <a:extLst xmlns:a="http://schemas.openxmlformats.org/drawingml/2006/main">
              <a:ext uri="{FF2B5EF4-FFF2-40B4-BE49-F238E27FC236}">
                <a16:creationId xmlns:a16="http://schemas.microsoft.com/office/drawing/2014/main" id="{57349AD9-3043-4CC8-9629-A783A632B075}"/>
              </a:ext>
            </a:extLst>
          </p:cNvPr>
          <p:cNvSpPr>
            <a:spLocks xmlns:a="http://schemas.openxmlformats.org/drawingml/2006/main" noGrp="1"/>
          </p:cNvSpPr>
          <p:nvPr/>
        </p:nvSpPr>
        <p:spPr>
          <a:xfrm xmlns:a="http://schemas.openxmlformats.org/drawingml/2006/main">
            <a:off x="2476500" y="32004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5" name="">
            <a:extLst xmlns:a="http://schemas.openxmlformats.org/drawingml/2006/main">
              <a:ext uri="{FF2B5EF4-FFF2-40B4-BE49-F238E27FC236}">
                <a16:creationId xmlns:a16="http://schemas.microsoft.com/office/drawing/2014/main" id="{E9AA7204-B090-478D-999A-1B8B6F9D1F02}"/>
              </a:ext>
            </a:extLst>
          </p:cNvPr>
          <p:cNvSpPr>
            <a:spLocks xmlns:a="http://schemas.openxmlformats.org/drawingml/2006/main" noGrp="1"/>
          </p:cNvSpPr>
          <p:nvPr/>
        </p:nvSpPr>
        <p:spPr>
          <a:xfrm xmlns:a="http://schemas.openxmlformats.org/drawingml/2006/main">
            <a:off x="2476500" y="3200400"/>
            <a:ext cx="519684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36" name="">
            <a:extLst xmlns:a="http://schemas.openxmlformats.org/drawingml/2006/main">
              <a:ext uri="{FF2B5EF4-FFF2-40B4-BE49-F238E27FC236}">
                <a16:creationId xmlns:a16="http://schemas.microsoft.com/office/drawing/2014/main" id="{95EDA76F-01EA-4A78-9521-E0AECF36FB83}"/>
              </a:ext>
            </a:extLst>
          </p:cNvPr>
          <p:cNvSpPr>
            <a:spLocks xmlns:a="http://schemas.openxmlformats.org/drawingml/2006/main" noGrp="1"/>
          </p:cNvSpPr>
          <p:nvPr/>
        </p:nvSpPr>
        <p:spPr>
          <a:xfrm xmlns:a="http://schemas.openxmlformats.org/drawingml/2006/main">
            <a:off x="8515350" y="31718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88.0</a:t>
            </a:r>
          </a:p>
        </p:txBody>
      </p:sp>
      <p:sp>
        <p:nvSpPr>
          <p:cNvPr id="37" name="">
            <a:extLst xmlns:a="http://schemas.openxmlformats.org/drawingml/2006/main">
              <a:ext uri="{FF2B5EF4-FFF2-40B4-BE49-F238E27FC236}">
                <a16:creationId xmlns:a16="http://schemas.microsoft.com/office/drawing/2014/main" id="{099F23BB-9105-44E4-8214-BA9CD6CB9CAF}"/>
              </a:ext>
            </a:extLst>
          </p:cNvPr>
          <p:cNvSpPr>
            <a:spLocks xmlns:a="http://schemas.openxmlformats.org/drawingml/2006/main" noGrp="1"/>
          </p:cNvSpPr>
          <p:nvPr/>
        </p:nvSpPr>
        <p:spPr>
          <a:xfrm xmlns:a="http://schemas.openxmlformats.org/drawingml/2006/main">
            <a:off x="742950" y="34290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P(max gain)</a:t>
            </a:r>
          </a:p>
        </p:txBody>
      </p:sp>
      <p:sp>
        <p:nvSpPr>
          <p:cNvPr id="38" name="">
            <a:extLst xmlns:a="http://schemas.openxmlformats.org/drawingml/2006/main">
              <a:ext uri="{FF2B5EF4-FFF2-40B4-BE49-F238E27FC236}">
                <a16:creationId xmlns:a16="http://schemas.microsoft.com/office/drawing/2014/main" id="{929361C3-1723-477D-9559-B246D0E39646}"/>
              </a:ext>
            </a:extLst>
          </p:cNvPr>
          <p:cNvSpPr>
            <a:spLocks xmlns:a="http://schemas.openxmlformats.org/drawingml/2006/main" noGrp="1"/>
          </p:cNvSpPr>
          <p:nvPr/>
        </p:nvSpPr>
        <p:spPr>
          <a:xfrm xmlns:a="http://schemas.openxmlformats.org/drawingml/2006/main">
            <a:off x="2476500" y="34480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9" name="">
            <a:extLst xmlns:a="http://schemas.openxmlformats.org/drawingml/2006/main">
              <a:ext uri="{FF2B5EF4-FFF2-40B4-BE49-F238E27FC236}">
                <a16:creationId xmlns:a16="http://schemas.microsoft.com/office/drawing/2014/main" id="{8281525A-1AA1-457B-817D-5DE93C0F84B4}"/>
              </a:ext>
            </a:extLst>
          </p:cNvPr>
          <p:cNvSpPr>
            <a:spLocks xmlns:a="http://schemas.openxmlformats.org/drawingml/2006/main" noGrp="1"/>
          </p:cNvSpPr>
          <p:nvPr/>
        </p:nvSpPr>
        <p:spPr>
          <a:xfrm xmlns:a="http://schemas.openxmlformats.org/drawingml/2006/main">
            <a:off x="2476500" y="34480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0" name="">
            <a:extLst xmlns:a="http://schemas.openxmlformats.org/drawingml/2006/main">
              <a:ext uri="{FF2B5EF4-FFF2-40B4-BE49-F238E27FC236}">
                <a16:creationId xmlns:a16="http://schemas.microsoft.com/office/drawing/2014/main" id="{EC9708BF-105A-4EB9-8859-26D52E584F4C}"/>
              </a:ext>
            </a:extLst>
          </p:cNvPr>
          <p:cNvSpPr>
            <a:spLocks xmlns:a="http://schemas.openxmlformats.org/drawingml/2006/main" noGrp="1"/>
          </p:cNvSpPr>
          <p:nvPr/>
        </p:nvSpPr>
        <p:spPr>
          <a:xfrm xmlns:a="http://schemas.openxmlformats.org/drawingml/2006/main">
            <a:off x="8515350" y="34194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41" name="">
            <a:extLst xmlns:a="http://schemas.openxmlformats.org/drawingml/2006/main">
              <a:ext uri="{FF2B5EF4-FFF2-40B4-BE49-F238E27FC236}">
                <a16:creationId xmlns:a16="http://schemas.microsoft.com/office/drawing/2014/main" id="{2F173D20-358C-4B67-87A0-B491D9C0C352}"/>
              </a:ext>
            </a:extLst>
          </p:cNvPr>
          <p:cNvSpPr>
            <a:spLocks xmlns:a="http://schemas.openxmlformats.org/drawingml/2006/main" noGrp="1"/>
          </p:cNvSpPr>
          <p:nvPr/>
        </p:nvSpPr>
        <p:spPr>
          <a:xfrm xmlns:a="http://schemas.openxmlformats.org/drawingml/2006/main">
            <a:off x="742950" y="36766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P(min gain)</a:t>
            </a:r>
          </a:p>
        </p:txBody>
      </p:sp>
      <p:sp>
        <p:nvSpPr>
          <p:cNvPr id="42" name="">
            <a:extLst xmlns:a="http://schemas.openxmlformats.org/drawingml/2006/main">
              <a:ext uri="{FF2B5EF4-FFF2-40B4-BE49-F238E27FC236}">
                <a16:creationId xmlns:a16="http://schemas.microsoft.com/office/drawing/2014/main" id="{66B6965D-7216-4E6F-9424-412AE40D3641}"/>
              </a:ext>
            </a:extLst>
          </p:cNvPr>
          <p:cNvSpPr>
            <a:spLocks xmlns:a="http://schemas.openxmlformats.org/drawingml/2006/main" noGrp="1"/>
          </p:cNvSpPr>
          <p:nvPr/>
        </p:nvSpPr>
        <p:spPr>
          <a:xfrm xmlns:a="http://schemas.openxmlformats.org/drawingml/2006/main">
            <a:off x="2476500" y="36957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43" name="">
            <a:extLst xmlns:a="http://schemas.openxmlformats.org/drawingml/2006/main">
              <a:ext uri="{FF2B5EF4-FFF2-40B4-BE49-F238E27FC236}">
                <a16:creationId xmlns:a16="http://schemas.microsoft.com/office/drawing/2014/main" id="{B8631CDF-2307-4850-B9A9-2EFA261FE3AE}"/>
              </a:ext>
            </a:extLst>
          </p:cNvPr>
          <p:cNvSpPr>
            <a:spLocks xmlns:a="http://schemas.openxmlformats.org/drawingml/2006/main" noGrp="1"/>
          </p:cNvSpPr>
          <p:nvPr/>
        </p:nvSpPr>
        <p:spPr>
          <a:xfrm xmlns:a="http://schemas.openxmlformats.org/drawingml/2006/main">
            <a:off x="2476500" y="3695700"/>
            <a:ext cx="584054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4" name="">
            <a:extLst xmlns:a="http://schemas.openxmlformats.org/drawingml/2006/main">
              <a:ext uri="{FF2B5EF4-FFF2-40B4-BE49-F238E27FC236}">
                <a16:creationId xmlns:a16="http://schemas.microsoft.com/office/drawing/2014/main" id="{E5772DAD-EF02-48AA-B4F7-A0E869555A44}"/>
              </a:ext>
            </a:extLst>
          </p:cNvPr>
          <p:cNvSpPr>
            <a:spLocks xmlns:a="http://schemas.openxmlformats.org/drawingml/2006/main" noGrp="1"/>
          </p:cNvSpPr>
          <p:nvPr/>
        </p:nvSpPr>
        <p:spPr>
          <a:xfrm xmlns:a="http://schemas.openxmlformats.org/drawingml/2006/main">
            <a:off x="8515350" y="36671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98.9</a:t>
            </a:r>
          </a:p>
        </p:txBody>
      </p:sp>
      <p:sp>
        <p:nvSpPr>
          <p:cNvPr id="45" name="">
            <a:extLst xmlns:a="http://schemas.openxmlformats.org/drawingml/2006/main">
              <a:ext uri="{FF2B5EF4-FFF2-40B4-BE49-F238E27FC236}">
                <a16:creationId xmlns:a16="http://schemas.microsoft.com/office/drawing/2014/main" id="{63E7A45A-2774-46E9-BFC9-87A7587535A1}"/>
              </a:ext>
            </a:extLst>
          </p:cNvPr>
          <p:cNvSpPr>
            <a:spLocks xmlns:a="http://schemas.openxmlformats.org/drawingml/2006/main" noGrp="1"/>
          </p:cNvSpPr>
          <p:nvPr/>
        </p:nvSpPr>
        <p:spPr>
          <a:xfrm xmlns:a="http://schemas.openxmlformats.org/drawingml/2006/main">
            <a:off x="742950" y="39243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P(max loss)</a:t>
            </a:r>
          </a:p>
        </p:txBody>
      </p:sp>
      <p:sp>
        <p:nvSpPr>
          <p:cNvPr id="46" name="">
            <a:extLst xmlns:a="http://schemas.openxmlformats.org/drawingml/2006/main">
              <a:ext uri="{FF2B5EF4-FFF2-40B4-BE49-F238E27FC236}">
                <a16:creationId xmlns:a16="http://schemas.microsoft.com/office/drawing/2014/main" id="{3223BBF4-8A79-4177-90E1-28B1E8977BA5}"/>
              </a:ext>
            </a:extLst>
          </p:cNvPr>
          <p:cNvSpPr>
            <a:spLocks xmlns:a="http://schemas.openxmlformats.org/drawingml/2006/main" noGrp="1"/>
          </p:cNvSpPr>
          <p:nvPr/>
        </p:nvSpPr>
        <p:spPr>
          <a:xfrm xmlns:a="http://schemas.openxmlformats.org/drawingml/2006/main">
            <a:off x="2476500" y="39433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47" name="">
            <a:extLst xmlns:a="http://schemas.openxmlformats.org/drawingml/2006/main">
              <a:ext uri="{FF2B5EF4-FFF2-40B4-BE49-F238E27FC236}">
                <a16:creationId xmlns:a16="http://schemas.microsoft.com/office/drawing/2014/main" id="{6D672016-8929-4E3B-9576-2B1F108BE547}"/>
              </a:ext>
            </a:extLst>
          </p:cNvPr>
          <p:cNvSpPr>
            <a:spLocks xmlns:a="http://schemas.openxmlformats.org/drawingml/2006/main" noGrp="1"/>
          </p:cNvSpPr>
          <p:nvPr/>
        </p:nvSpPr>
        <p:spPr>
          <a:xfrm xmlns:a="http://schemas.openxmlformats.org/drawingml/2006/main">
            <a:off x="2476500" y="39433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8" name="">
            <a:extLst xmlns:a="http://schemas.openxmlformats.org/drawingml/2006/main">
              <a:ext uri="{FF2B5EF4-FFF2-40B4-BE49-F238E27FC236}">
                <a16:creationId xmlns:a16="http://schemas.microsoft.com/office/drawing/2014/main" id="{3A40EABD-6537-4A74-9136-8708F96E8CC2}"/>
              </a:ext>
            </a:extLst>
          </p:cNvPr>
          <p:cNvSpPr>
            <a:spLocks xmlns:a="http://schemas.openxmlformats.org/drawingml/2006/main" noGrp="1"/>
          </p:cNvSpPr>
          <p:nvPr/>
        </p:nvSpPr>
        <p:spPr>
          <a:xfrm xmlns:a="http://schemas.openxmlformats.org/drawingml/2006/main">
            <a:off x="8515350" y="39147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49" name="">
            <a:extLst xmlns:a="http://schemas.openxmlformats.org/drawingml/2006/main">
              <a:ext uri="{FF2B5EF4-FFF2-40B4-BE49-F238E27FC236}">
                <a16:creationId xmlns:a16="http://schemas.microsoft.com/office/drawing/2014/main" id="{D9180AB6-260F-485E-94B2-F3DE3072070E}"/>
              </a:ext>
            </a:extLst>
          </p:cNvPr>
          <p:cNvSpPr>
            <a:spLocks xmlns:a="http://schemas.openxmlformats.org/drawingml/2006/main" noGrp="1"/>
          </p:cNvSpPr>
          <p:nvPr/>
        </p:nvSpPr>
        <p:spPr>
          <a:xfrm xmlns:a="http://schemas.openxmlformats.org/drawingml/2006/main">
            <a:off x="742950" y="41719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P(min loss)</a:t>
            </a:r>
          </a:p>
        </p:txBody>
      </p:sp>
      <p:sp>
        <p:nvSpPr>
          <p:cNvPr id="50" name="">
            <a:extLst xmlns:a="http://schemas.openxmlformats.org/drawingml/2006/main">
              <a:ext uri="{FF2B5EF4-FFF2-40B4-BE49-F238E27FC236}">
                <a16:creationId xmlns:a16="http://schemas.microsoft.com/office/drawing/2014/main" id="{F1965874-1744-41C9-A2EE-7115D39A2089}"/>
              </a:ext>
            </a:extLst>
          </p:cNvPr>
          <p:cNvSpPr>
            <a:spLocks xmlns:a="http://schemas.openxmlformats.org/drawingml/2006/main" noGrp="1"/>
          </p:cNvSpPr>
          <p:nvPr/>
        </p:nvSpPr>
        <p:spPr>
          <a:xfrm xmlns:a="http://schemas.openxmlformats.org/drawingml/2006/main">
            <a:off x="2476500" y="41910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1" name="">
            <a:extLst xmlns:a="http://schemas.openxmlformats.org/drawingml/2006/main">
              <a:ext uri="{FF2B5EF4-FFF2-40B4-BE49-F238E27FC236}">
                <a16:creationId xmlns:a16="http://schemas.microsoft.com/office/drawing/2014/main" id="{D0F09D2C-9F8F-4C77-ABF9-7550D5F4F196}"/>
              </a:ext>
            </a:extLst>
          </p:cNvPr>
          <p:cNvSpPr>
            <a:spLocks xmlns:a="http://schemas.openxmlformats.org/drawingml/2006/main" noGrp="1"/>
          </p:cNvSpPr>
          <p:nvPr/>
        </p:nvSpPr>
        <p:spPr>
          <a:xfrm xmlns:a="http://schemas.openxmlformats.org/drawingml/2006/main">
            <a:off x="2476500" y="4191000"/>
            <a:ext cx="586416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52" name="">
            <a:extLst xmlns:a="http://schemas.openxmlformats.org/drawingml/2006/main">
              <a:ext uri="{FF2B5EF4-FFF2-40B4-BE49-F238E27FC236}">
                <a16:creationId xmlns:a16="http://schemas.microsoft.com/office/drawing/2014/main" id="{3E748CCA-F4F3-4C11-B6C8-BAB5165F90DB}"/>
              </a:ext>
            </a:extLst>
          </p:cNvPr>
          <p:cNvSpPr>
            <a:spLocks xmlns:a="http://schemas.openxmlformats.org/drawingml/2006/main" noGrp="1"/>
          </p:cNvSpPr>
          <p:nvPr/>
        </p:nvSpPr>
        <p:spPr>
          <a:xfrm xmlns:a="http://schemas.openxmlformats.org/drawingml/2006/main">
            <a:off x="8515350" y="41624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99.3</a:t>
            </a:r>
          </a:p>
        </p:txBody>
      </p:sp>
      <p:sp>
        <p:nvSpPr>
          <p:cNvPr id="53" name="">
            <a:extLst xmlns:a="http://schemas.openxmlformats.org/drawingml/2006/main">
              <a:ext uri="{FF2B5EF4-FFF2-40B4-BE49-F238E27FC236}">
                <a16:creationId xmlns:a16="http://schemas.microsoft.com/office/drawing/2014/main" id="{E27603F0-7138-4651-ACD8-91680F7C714D}"/>
              </a:ext>
            </a:extLst>
          </p:cNvPr>
          <p:cNvSpPr>
            <a:spLocks xmlns:a="http://schemas.openxmlformats.org/drawingml/2006/main" noGrp="1"/>
          </p:cNvSpPr>
          <p:nvPr/>
        </p:nvSpPr>
        <p:spPr>
          <a:xfrm xmlns:a="http://schemas.openxmlformats.org/drawingml/2006/main">
            <a:off x="742950" y="44196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P(top-2)</a:t>
            </a:r>
          </a:p>
        </p:txBody>
      </p:sp>
      <p:sp>
        <p:nvSpPr>
          <p:cNvPr id="54" name="">
            <a:extLst xmlns:a="http://schemas.openxmlformats.org/drawingml/2006/main">
              <a:ext uri="{FF2B5EF4-FFF2-40B4-BE49-F238E27FC236}">
                <a16:creationId xmlns:a16="http://schemas.microsoft.com/office/drawing/2014/main" id="{0D0A07A6-E28D-4406-803E-72B0B8C1079E}"/>
              </a:ext>
            </a:extLst>
          </p:cNvPr>
          <p:cNvSpPr>
            <a:spLocks xmlns:a="http://schemas.openxmlformats.org/drawingml/2006/main" noGrp="1"/>
          </p:cNvSpPr>
          <p:nvPr/>
        </p:nvSpPr>
        <p:spPr>
          <a:xfrm xmlns:a="http://schemas.openxmlformats.org/drawingml/2006/main">
            <a:off x="2476500" y="44386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8EF93E4A-DC0B-4747-B549-7322B8BB2B5E}"/>
              </a:ext>
            </a:extLst>
          </p:cNvPr>
          <p:cNvSpPr>
            <a:spLocks xmlns:a="http://schemas.openxmlformats.org/drawingml/2006/main" noGrp="1"/>
          </p:cNvSpPr>
          <p:nvPr/>
        </p:nvSpPr>
        <p:spPr>
          <a:xfrm xmlns:a="http://schemas.openxmlformats.org/drawingml/2006/main">
            <a:off x="2476500" y="44386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06A816A6-58BB-4713-BECE-533B1EDAE720}"/>
              </a:ext>
            </a:extLst>
          </p:cNvPr>
          <p:cNvSpPr>
            <a:spLocks xmlns:a="http://schemas.openxmlformats.org/drawingml/2006/main" noGrp="1"/>
          </p:cNvSpPr>
          <p:nvPr/>
        </p:nvSpPr>
        <p:spPr>
          <a:xfrm xmlns:a="http://schemas.openxmlformats.org/drawingml/2006/main">
            <a:off x="8515350" y="44100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57" name="">
            <a:extLst xmlns:a="http://schemas.openxmlformats.org/drawingml/2006/main">
              <a:ext uri="{FF2B5EF4-FFF2-40B4-BE49-F238E27FC236}">
                <a16:creationId xmlns:a16="http://schemas.microsoft.com/office/drawing/2014/main" id="{92D9A11F-4131-4D8B-9A9F-56E3E16A799C}"/>
              </a:ext>
            </a:extLst>
          </p:cNvPr>
          <p:cNvSpPr>
            <a:spLocks xmlns:a="http://schemas.openxmlformats.org/drawingml/2006/main" noGrp="1"/>
          </p:cNvSpPr>
          <p:nvPr/>
        </p:nvSpPr>
        <p:spPr>
          <a:xfrm xmlns:a="http://schemas.openxmlformats.org/drawingml/2006/main">
            <a:off x="742950" y="466725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expected value</a:t>
            </a:r>
          </a:p>
        </p:txBody>
      </p:sp>
      <p:sp>
        <p:nvSpPr>
          <p:cNvPr id="58" name="">
            <a:extLst xmlns:a="http://schemas.openxmlformats.org/drawingml/2006/main">
              <a:ext uri="{FF2B5EF4-FFF2-40B4-BE49-F238E27FC236}">
                <a16:creationId xmlns:a16="http://schemas.microsoft.com/office/drawing/2014/main" id="{6F476D95-0B09-4CB5-BB03-812F4A65BE42}"/>
              </a:ext>
            </a:extLst>
          </p:cNvPr>
          <p:cNvSpPr>
            <a:spLocks xmlns:a="http://schemas.openxmlformats.org/drawingml/2006/main" noGrp="1"/>
          </p:cNvSpPr>
          <p:nvPr/>
        </p:nvSpPr>
        <p:spPr>
          <a:xfrm xmlns:a="http://schemas.openxmlformats.org/drawingml/2006/main">
            <a:off x="2476500" y="46863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9" name="">
            <a:extLst xmlns:a="http://schemas.openxmlformats.org/drawingml/2006/main">
              <a:ext uri="{FF2B5EF4-FFF2-40B4-BE49-F238E27FC236}">
                <a16:creationId xmlns:a16="http://schemas.microsoft.com/office/drawing/2014/main" id="{E242ABBA-67B6-4D87-A75B-0E635E4749DD}"/>
              </a:ext>
            </a:extLst>
          </p:cNvPr>
          <p:cNvSpPr>
            <a:spLocks xmlns:a="http://schemas.openxmlformats.org/drawingml/2006/main" noGrp="1"/>
          </p:cNvSpPr>
          <p:nvPr/>
        </p:nvSpPr>
        <p:spPr>
          <a:xfrm xmlns:a="http://schemas.openxmlformats.org/drawingml/2006/main">
            <a:off x="2476500" y="4686300"/>
            <a:ext cx="5409438"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60" name="">
            <a:extLst xmlns:a="http://schemas.openxmlformats.org/drawingml/2006/main">
              <a:ext uri="{FF2B5EF4-FFF2-40B4-BE49-F238E27FC236}">
                <a16:creationId xmlns:a16="http://schemas.microsoft.com/office/drawing/2014/main" id="{323FA61E-3C54-40DE-95B3-FD3DB145FA9B}"/>
              </a:ext>
            </a:extLst>
          </p:cNvPr>
          <p:cNvSpPr>
            <a:spLocks xmlns:a="http://schemas.openxmlformats.org/drawingml/2006/main" noGrp="1"/>
          </p:cNvSpPr>
          <p:nvPr/>
        </p:nvSpPr>
        <p:spPr>
          <a:xfrm xmlns:a="http://schemas.openxmlformats.org/drawingml/2006/main">
            <a:off x="8515350" y="465772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91.6</a:t>
            </a:r>
          </a:p>
        </p:txBody>
      </p:sp>
      <p:sp>
        <p:nvSpPr>
          <p:cNvPr id="61" name="">
            <a:extLst xmlns:a="http://schemas.openxmlformats.org/drawingml/2006/main">
              <a:ext uri="{FF2B5EF4-FFF2-40B4-BE49-F238E27FC236}">
                <a16:creationId xmlns:a16="http://schemas.microsoft.com/office/drawing/2014/main" id="{EA788AAE-4604-4D14-A465-C1361AEEBCB0}"/>
              </a:ext>
            </a:extLst>
          </p:cNvPr>
          <p:cNvSpPr>
            <a:spLocks xmlns:a="http://schemas.openxmlformats.org/drawingml/2006/main" noGrp="1"/>
          </p:cNvSpPr>
          <p:nvPr/>
        </p:nvSpPr>
        <p:spPr>
          <a:xfrm xmlns:a="http://schemas.openxmlformats.org/drawingml/2006/main">
            <a:off x="742950" y="49149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entropy</a:t>
            </a:r>
          </a:p>
        </p:txBody>
      </p:sp>
      <p:sp>
        <p:nvSpPr>
          <p:cNvPr id="62" name="">
            <a:extLst xmlns:a="http://schemas.openxmlformats.org/drawingml/2006/main">
              <a:ext uri="{FF2B5EF4-FFF2-40B4-BE49-F238E27FC236}">
                <a16:creationId xmlns:a16="http://schemas.microsoft.com/office/drawing/2014/main" id="{6836DABC-BA48-418B-9CA5-BE83113D3269}"/>
              </a:ext>
            </a:extLst>
          </p:cNvPr>
          <p:cNvSpPr>
            <a:spLocks xmlns:a="http://schemas.openxmlformats.org/drawingml/2006/main" noGrp="1"/>
          </p:cNvSpPr>
          <p:nvPr/>
        </p:nvSpPr>
        <p:spPr>
          <a:xfrm xmlns:a="http://schemas.openxmlformats.org/drawingml/2006/main">
            <a:off x="2476500" y="49339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63" name="">
            <a:extLst xmlns:a="http://schemas.openxmlformats.org/drawingml/2006/main">
              <a:ext uri="{FF2B5EF4-FFF2-40B4-BE49-F238E27FC236}">
                <a16:creationId xmlns:a16="http://schemas.microsoft.com/office/drawing/2014/main" id="{C8B54E83-A9E9-45DE-AF5D-432AD5F9C3EC}"/>
              </a:ext>
            </a:extLst>
          </p:cNvPr>
          <p:cNvSpPr>
            <a:spLocks xmlns:a="http://schemas.openxmlformats.org/drawingml/2006/main" noGrp="1"/>
          </p:cNvSpPr>
          <p:nvPr/>
        </p:nvSpPr>
        <p:spPr>
          <a:xfrm xmlns:a="http://schemas.openxmlformats.org/drawingml/2006/main">
            <a:off x="2476500" y="49339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64" name="">
            <a:extLst xmlns:a="http://schemas.openxmlformats.org/drawingml/2006/main">
              <a:ext uri="{FF2B5EF4-FFF2-40B4-BE49-F238E27FC236}">
                <a16:creationId xmlns:a16="http://schemas.microsoft.com/office/drawing/2014/main" id="{6147265A-45D6-47F2-B4CF-2A013D39C26A}"/>
              </a:ext>
            </a:extLst>
          </p:cNvPr>
          <p:cNvSpPr>
            <a:spLocks xmlns:a="http://schemas.openxmlformats.org/drawingml/2006/main" noGrp="1"/>
          </p:cNvSpPr>
          <p:nvPr/>
        </p:nvSpPr>
        <p:spPr>
          <a:xfrm xmlns:a="http://schemas.openxmlformats.org/drawingml/2006/main">
            <a:off x="8515350" y="4905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00" b="1" i="0">
                <a:solidFill>
                  <a:srgbClr val="111827"/>
                </a:solidFill>
                <a:latin typeface="Arial"/>
                <a:ea typeface="Arial"/>
                <a:cs typeface="Arial"/>
              </a:defRPr>
            </a:pPr>
            <a:r>
              <a:rPr sz="900" b="1" i="0">
                <a:solidFill>
                  <a:srgbClr val="111827"/>
                </a:solidFill>
                <a:latin typeface="Arial"/>
                <a:ea typeface="Arial"/>
                <a:cs typeface="Arial"/>
              </a:rPr>
              <a:t>99.4</a:t>
            </a:r>
          </a:p>
        </p:txBody>
      </p:sp>
      <p:sp>
        <p:nvSpPr>
          <p:cNvPr id="65" name="">
            <a:extLst xmlns:a="http://schemas.openxmlformats.org/drawingml/2006/main">
              <a:ext uri="{FF2B5EF4-FFF2-40B4-BE49-F238E27FC236}">
                <a16:creationId xmlns:a16="http://schemas.microsoft.com/office/drawing/2014/main" id="{00D42BDF-1063-4F06-8CC3-757D903E9E34}"/>
              </a:ext>
            </a:extLst>
          </p:cNvPr>
          <p:cNvSpPr>
            <a:spLocks xmlns:a="http://schemas.openxmlformats.org/drawingml/2006/main" noGrp="1"/>
          </p:cNvSpPr>
          <p:nvPr/>
        </p:nvSpPr>
        <p:spPr>
          <a:xfrm xmlns:a="http://schemas.openxmlformats.org/drawingml/2006/main">
            <a:off x="9544050" y="26479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89"/>
          </a:bodyPr>
          <a:lstStyle xmlns:a="http://schemas.openxmlformats.org/drawingml/2006/main"/>
          <a:p xmlns:a="http://schemas.openxmlformats.org/drawingml/2006/main">
            <a:pPr algn="ctr">
              <a:lnSpc>
                <a:spcPct val="108000"/>
              </a:lnSpc>
              <a:buNone/>
              <a:defRPr sz="3450" b="1" i="0">
                <a:solidFill>
                  <a:srgbClr val="234E70"/>
                </a:solidFill>
                <a:latin typeface="Arial"/>
                <a:ea typeface="Arial"/>
                <a:cs typeface="Arial"/>
              </a:defRPr>
            </a:pPr>
            <a:r>
              <a:rPr sz="3450" b="1" i="0">
                <a:solidFill>
                  <a:srgbClr val="234E70"/>
                </a:solidFill>
                <a:latin typeface="Arial"/>
                <a:ea typeface="Arial"/>
                <a:cs typeface="Arial"/>
              </a:rPr>
              <a:t>0.949</a:t>
            </a:r>
          </a:p>
        </p:txBody>
      </p:sp>
      <p:sp>
        <p:nvSpPr>
          <p:cNvPr id="66" name="">
            <a:extLst xmlns:a="http://schemas.openxmlformats.org/drawingml/2006/main">
              <a:ext uri="{FF2B5EF4-FFF2-40B4-BE49-F238E27FC236}">
                <a16:creationId xmlns:a16="http://schemas.microsoft.com/office/drawing/2014/main" id="{CDF1E14E-B8D5-43A3-8C38-CFC136880E09}"/>
              </a:ext>
            </a:extLst>
          </p:cNvPr>
          <p:cNvSpPr>
            <a:spLocks xmlns:a="http://schemas.openxmlformats.org/drawingml/2006/main" noGrp="1"/>
          </p:cNvSpPr>
          <p:nvPr/>
        </p:nvSpPr>
        <p:spPr>
          <a:xfrm xmlns:a="http://schemas.openxmlformats.org/drawingml/2006/main">
            <a:off x="9544050" y="3276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mean test R2</a:t>
            </a:r>
          </a:p>
        </p:txBody>
      </p:sp>
      <p:sp>
        <p:nvSpPr>
          <p:cNvPr id="67" name="">
            <a:extLst xmlns:a="http://schemas.openxmlformats.org/drawingml/2006/main">
              <a:ext uri="{FF2B5EF4-FFF2-40B4-BE49-F238E27FC236}">
                <a16:creationId xmlns:a16="http://schemas.microsoft.com/office/drawing/2014/main" id="{A92FDB55-BF83-460A-A6BF-7B552670188A}"/>
              </a:ext>
            </a:extLst>
          </p:cNvPr>
          <p:cNvSpPr>
            <a:spLocks xmlns:a="http://schemas.openxmlformats.org/drawingml/2006/main" noGrp="1"/>
          </p:cNvSpPr>
          <p:nvPr/>
        </p:nvSpPr>
        <p:spPr>
          <a:xfrm xmlns:a="http://schemas.openxmlformats.org/drawingml/2006/main">
            <a:off x="9391650" y="4095750"/>
            <a:ext cx="192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26"/>
          </a:bodyPr>
          <a:lstStyle xmlns:a="http://schemas.openxmlformats.org/drawingml/2006/main"/>
          <a:p xmlns:a="http://schemas.openxmlformats.org/drawingml/2006/main">
            <a:pPr algn="ctr">
              <a:lnSpc>
                <a:spcPct val="114000"/>
              </a:lnSpc>
              <a:buNone/>
              <a:defRPr sz="1575" b="0" i="0">
                <a:solidFill>
                  <a:srgbClr val="283643"/>
                </a:solidFill>
                <a:latin typeface="Arial"/>
                <a:ea typeface="Arial"/>
                <a:cs typeface="Arial"/>
              </a:defRPr>
            </a:pPr>
            <a:r>
              <a:rPr sz="1575" b="0" i="0">
                <a:solidFill>
                  <a:srgbClr val="283643"/>
                </a:solidFill>
                <a:latin typeface="Arial"/>
                <a:ea typeface="Arial"/>
                <a:cs typeface="Arial"/>
              </a:rPr>
              <a:t>11,656 test options</a:t>
            </a:r>
          </a:p>
          <a:p xmlns:a="http://schemas.openxmlformats.org/drawingml/2006/main">
            <a:pPr algn="ctr">
              <a:lnSpc>
                <a:spcPct val="114000"/>
              </a:lnSpc>
              <a:buNone/>
              <a:defRPr sz="1575" b="0" i="0">
                <a:solidFill>
                  <a:srgbClr val="283643"/>
                </a:solidFill>
                <a:latin typeface="Arial"/>
                <a:ea typeface="Arial"/>
                <a:cs typeface="Arial"/>
              </a:defRPr>
            </a:pPr>
            <a:r>
              <a:rPr sz="1575" b="0" i="0">
                <a:solidFill>
                  <a:srgbClr val="283643"/>
                </a:solidFill>
                <a:latin typeface="Arial"/>
                <a:ea typeface="Arial"/>
                <a:cs typeface="Arial"/>
              </a:rPr>
              <a:t>held out by problem ID</a:t>
            </a:r>
          </a:p>
        </p:txBody>
      </p:sp>
      <p:sp>
        <p:nvSpPr>
          <p:cNvPr id="68" name="">
            <a:extLst xmlns:a="http://schemas.openxmlformats.org/drawingml/2006/main">
              <a:ext uri="{FF2B5EF4-FFF2-40B4-BE49-F238E27FC236}">
                <a16:creationId xmlns:a16="http://schemas.microsoft.com/office/drawing/2014/main" id="{79B0D9DD-3F3E-4DBE-8878-DF75C65004AA}"/>
              </a:ext>
            </a:extLst>
          </p:cNvPr>
          <p:cNvSpPr>
            <a:spLocks xmlns:a="http://schemas.openxmlformats.org/drawingml/2006/main" noGrp="1"/>
          </p:cNvSpPr>
          <p:nvPr/>
        </p:nvSpPr>
        <p:spPr>
          <a:xfrm xmlns:a="http://schemas.openxmlformats.org/drawingml/2006/main">
            <a:off x="800100" y="57150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6CA4BABF-C9A7-4D8A-9295-1AE7A01F13AC}"/>
              </a:ext>
            </a:extLst>
          </p:cNvPr>
          <p:cNvSpPr>
            <a:spLocks xmlns:a="http://schemas.openxmlformats.org/drawingml/2006/main" noGrp="1"/>
          </p:cNvSpPr>
          <p:nvPr/>
        </p:nvSpPr>
        <p:spPr>
          <a:xfrm xmlns:a="http://schemas.openxmlformats.org/drawingml/2006/main">
            <a:off x="1028700" y="56959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Strong held-out performance validates the mapping task - not its out-of-domain interpretation of reasoning.</a:t>
            </a:r>
          </a:p>
        </p:txBody>
      </p:sp>
    </p:spTree>
    <p:extLst>
      <p:ext uri="{BB962C8B-B14F-4D97-AF65-F5344CB8AC3E}">
        <p14:creationId xmlns:p14="http://schemas.microsoft.com/office/powerpoint/2010/main" val="101923268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28507BD-6DBF-4901-834F-7FC2860CBE9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map reveals partial persona signatures</a:t>
            </a:r>
          </a:p>
        </p:txBody>
      </p:sp>
      <p:sp>
        <p:nvSpPr>
          <p:cNvPr id="2" name="">
            <a:extLst xmlns:a="http://schemas.openxmlformats.org/drawingml/2006/main">
              <a:ext uri="{FF2B5EF4-FFF2-40B4-BE49-F238E27FC236}">
                <a16:creationId xmlns:a16="http://schemas.microsoft.com/office/drawing/2014/main" id="{2933A470-8C8F-4307-8507-D4F33520D24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interpretation</a:t>
            </a:r>
          </a:p>
        </p:txBody>
      </p:sp>
      <p:sp>
        <p:nvSpPr>
          <p:cNvPr id="3" name="">
            <a:extLst xmlns:a="http://schemas.openxmlformats.org/drawingml/2006/main">
              <a:ext uri="{FF2B5EF4-FFF2-40B4-BE49-F238E27FC236}">
                <a16:creationId xmlns:a16="http://schemas.microsoft.com/office/drawing/2014/main" id="{86B4A618-CA68-460C-A99F-3DE1D0C8CB1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4A66BA2-CA73-48FC-B518-DE87C97F07D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53</a:t>
            </a:r>
          </a:p>
        </p:txBody>
      </p:sp>
      <p:sp>
        <p:nvSpPr>
          <p:cNvPr id="5" name="">
            <a:extLst xmlns:a="http://schemas.openxmlformats.org/drawingml/2006/main">
              <a:ext uri="{FF2B5EF4-FFF2-40B4-BE49-F238E27FC236}">
                <a16:creationId xmlns:a16="http://schemas.microsoft.com/office/drawing/2014/main" id="{91B0886E-5D6B-4167-8EB9-FCE09DAB196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E62661-7DC1-4954-8B3E-28D0C728074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9844D41-766C-4663-9DE7-C262D389A66E}"/>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1425C9-5D2A-4DCA-AE75-14FD7AED265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88A0B0C-5681-4AA6-9113-DB1B30DDC436}"/>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FE7064-7503-4201-AA74-7BA16113A7D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BA4BBF9-EE6F-42E0-9C7B-3E51ACFAD54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93D5FC0-B464-4603-A60E-9B4EEB5439E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94A35BA-070F-406A-8C7D-381DDBBD9B8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71D00F-0D4E-4948-B9FE-25F29D5573C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BE43173-23C2-4132-91A8-413567D993C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Endpoint change relative to other personas on the same question</a:t>
            </a:r>
          </a:p>
        </p:txBody>
      </p:sp>
      <p:graphicFrame>
        <p:nvGraphicFramePr>
          <p:cNvPr id="36" name=""/>
          <p:cNvGraphicFramePr/>
          <p:nvPr/>
        </p:nvGraphicFramePr>
        <p:xfrm>
          <a:off xmlns:a="http://schemas.openxmlformats.org/drawingml/2006/main" x="647700" y="2114550"/>
          <a:ext xmlns:a="http://schemas.openxmlformats.org/drawingml/2006/main" cx="10896600" cy="2914650"/>
        </p:xfrm>
        <a:graphic xmlns:a="http://schemas.openxmlformats.org/drawingml/2006/main">
          <a:graphicData uri="http://schemas.openxmlformats.org/drawingml/2006/table">
            <a:tbl>
              <a:tblPr/>
              <a:tblGrid>
                <a:gridCol w="2000250"/>
                <a:gridCol w="733425"/>
                <a:gridCol w="733425"/>
                <a:gridCol w="733425"/>
                <a:gridCol w="733425"/>
                <a:gridCol w="733425"/>
                <a:gridCol w="733425"/>
                <a:gridCol w="733425"/>
                <a:gridCol w="733425"/>
                <a:gridCol w="733425"/>
                <a:gridCol w="733425"/>
                <a:gridCol w="733425"/>
                <a:gridCol w="733425"/>
              </a:tblGrid>
              <a:tr h="485775">
                <a:tc>
                  <a:txBody>
                    <a:bodyPr anchor="ctr"/>
                    <a:lstStyle/>
                    <a:p>
                      <a:pPr algn="ctr"/>
                      <a:r>
                        <a:rPr sz="1125" b="1">
                          <a:solidFill>
                            <a:srgbClr val="111827"/>
                          </a:solidFill>
                          <a:latin typeface="Arial"/>
                          <a:ea typeface="Arial"/>
                          <a:cs typeface="Arial"/>
                        </a:rPr>
                        <a:t>persona</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max</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min</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max</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min</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top-2</a:t>
                      </a:r>
                    </a:p>
                    <a:p>
                      <a:pPr algn="ctr"/>
                      <a:r>
                        <a:rPr sz="975" b="1">
                          <a:solidFill>
                            <a:srgbClr val="111827"/>
                          </a:solidFill>
                          <a:latin typeface="Arial"/>
                          <a:ea typeface="Arial"/>
                          <a:cs typeface="Arial"/>
                        </a:rPr>
                        <a:t>gains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P(max</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P(min</a:t>
                      </a:r>
                    </a:p>
                    <a:p>
                      <a:pPr algn="ctr"/>
                      <a:r>
                        <a:rPr sz="975" b="1">
                          <a:solidFill>
                            <a:srgbClr val="111827"/>
                          </a:solidFill>
                          <a:latin typeface="Arial"/>
                          <a:ea typeface="Arial"/>
                          <a:cs typeface="Arial"/>
                        </a:rPr>
                        <a:t>gain)</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P(max</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P(min</a:t>
                      </a:r>
                    </a:p>
                    <a:p>
                      <a:pPr algn="ctr"/>
                      <a:r>
                        <a:rPr sz="975" b="1">
                          <a:solidFill>
                            <a:srgbClr val="111827"/>
                          </a:solidFill>
                          <a:latin typeface="Arial"/>
                          <a:ea typeface="Arial"/>
                          <a:cs typeface="Arial"/>
                        </a:rPr>
                        <a:t>loss)</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P(top-2)</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expected</a:t>
                      </a:r>
                    </a:p>
                    <a:p>
                      <a:pPr algn="ctr"/>
                      <a:r>
                        <a:rPr sz="975" b="1">
                          <a:solidFill>
                            <a:srgbClr val="111827"/>
                          </a:solidFill>
                          <a:latin typeface="Arial"/>
                          <a:ea typeface="Arial"/>
                          <a:cs typeface="Arial"/>
                        </a:rPr>
                        <a:t>value</a:t>
                      </a:r>
                    </a:p>
                  </a:txBody>
                  <a:tcPr marL="91440" marR="91440" marT="45720" marB="45720">
                    <a:solidFill>
                      <a:srgbClr val="F3F4F6"/>
                    </a:solidFill>
                  </a:tcPr>
                </a:tc>
                <a:tc>
                  <a:txBody>
                    <a:bodyPr anchor="ctr"/>
                    <a:lstStyle/>
                    <a:p>
                      <a:pPr algn="ctr"/>
                      <a:r>
                        <a:rPr sz="975" b="1">
                          <a:solidFill>
                            <a:srgbClr val="111827"/>
                          </a:solidFill>
                          <a:latin typeface="Arial"/>
                          <a:ea typeface="Arial"/>
                          <a:cs typeface="Arial"/>
                        </a:rPr>
                        <a:t>entropy</a:t>
                      </a:r>
                    </a:p>
                  </a:txBody>
                  <a:tcPr marL="91440" marR="91440" marT="45720" marB="45720">
                    <a:solidFill>
                      <a:srgbClr val="F3F4F6"/>
                    </a:solidFill>
                  </a:tcPr>
                </a:tc>
              </a:tr>
              <a:tr h="485775">
                <a:tc>
                  <a:txBody>
                    <a:bodyPr anchor="ctr"/>
                    <a:lstStyle/>
                    <a:p>
                      <a:pPr algn="l"/>
                      <a:r>
                        <a:rPr sz="1275" b="1">
                          <a:solidFill>
                            <a:srgbClr val="111827"/>
                          </a:solidFill>
                          <a:latin typeface="Arial"/>
                          <a:ea typeface="Arial"/>
                          <a:cs typeface="Arial"/>
                        </a:rPr>
                        <a:t>Outcome-focused</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1">
                          <a:solidFill>
                            <a:srgbClr val="111827"/>
                          </a:solidFill>
                          <a:latin typeface="Arial"/>
                          <a:ea typeface="Arial"/>
                          <a:cs typeface="Arial"/>
                        </a:rPr>
                        <a:t>0.05</a:t>
                      </a:r>
                    </a:p>
                  </a:txBody>
                  <a:tcPr marL="91440" marR="91440" marT="45720" marB="45720">
                    <a:solidFill>
                      <a:srgbClr val="D88C84"/>
                    </a:solidFill>
                  </a:tcPr>
                </a:tc>
                <a:tc>
                  <a:txBody>
                    <a:bodyPr anchor="ctr"/>
                    <a:lstStyle/>
                    <a:p>
                      <a:pPr algn="ctr"/>
                      <a:r>
                        <a:rPr sz="1050" b="1">
                          <a:solidFill>
                            <a:srgbClr val="111827"/>
                          </a:solidFill>
                          <a:latin typeface="Arial"/>
                          <a:ea typeface="Arial"/>
                          <a:cs typeface="Arial"/>
                        </a:rPr>
                        <a:t>0.08</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1">
                          <a:solidFill>
                            <a:srgbClr val="111827"/>
                          </a:solidFill>
                          <a:latin typeface="Arial"/>
                          <a:ea typeface="Arial"/>
                          <a:cs typeface="Arial"/>
                        </a:rPr>
                        <a:t>-0.09</a:t>
                      </a:r>
                    </a:p>
                  </a:txBody>
                  <a:tcPr marL="91440" marR="91440" marT="45720" marB="45720">
                    <a:solidFill>
                      <a:srgbClr val="8FAACA"/>
                    </a:solidFill>
                  </a:tcPr>
                </a:tc>
              </a:tr>
              <a:tr h="485775">
                <a:tc>
                  <a:txBody>
                    <a:bodyPr anchor="ctr"/>
                    <a:lstStyle/>
                    <a:p>
                      <a:pPr algn="l"/>
                      <a:r>
                        <a:rPr sz="1275" b="1">
                          <a:solidFill>
                            <a:srgbClr val="111827"/>
                          </a:solidFill>
                          <a:latin typeface="Arial"/>
                          <a:ea typeface="Arial"/>
                          <a:cs typeface="Arial"/>
                        </a:rPr>
                        <a:t>Probability-weighted</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-0.05</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8FAACA"/>
                    </a:solidFill>
                  </a:tcPr>
                </a:tc>
                <a:tc>
                  <a:txBody>
                    <a:bodyPr anchor="ctr"/>
                    <a:lstStyle/>
                    <a:p>
                      <a:pPr algn="ctr"/>
                      <a:r>
                        <a:rPr sz="1050" b="1">
                          <a:solidFill>
                            <a:srgbClr val="111827"/>
                          </a:solidFill>
                          <a:latin typeface="Arial"/>
                          <a:ea typeface="Arial"/>
                          <a:cs typeface="Arial"/>
                        </a:rPr>
                        <a:t>-0.11</a:t>
                      </a:r>
                    </a:p>
                  </a:txBody>
                  <a:tcPr marL="91440" marR="91440" marT="45720" marB="45720">
                    <a:solidFill>
                      <a:srgbClr val="3E6FA6"/>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r>
              <a:tr h="485775">
                <a:tc>
                  <a:txBody>
                    <a:bodyPr anchor="ctr"/>
                    <a:lstStyle/>
                    <a:p>
                      <a:pPr algn="l"/>
                      <a:r>
                        <a:rPr sz="1275" b="1">
                          <a:solidFill>
                            <a:srgbClr val="111827"/>
                          </a:solidFill>
                          <a:latin typeface="Arial"/>
                          <a:ea typeface="Arial"/>
                          <a:cs typeface="Arial"/>
                        </a:rPr>
                        <a:t>Rational</a:t>
                      </a:r>
                    </a:p>
                  </a:txBody>
                  <a:tcPr marL="91440" marR="91440" marT="45720" marB="45720">
                    <a:solidFill>
                      <a:srgbClr val="FFFFFF"/>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-0.05</a:t>
                      </a:r>
                    </a:p>
                  </a:txBody>
                  <a:tcPr marL="91440" marR="91440" marT="45720" marB="45720">
                    <a:solidFill>
                      <a:srgbClr val="8FAACA"/>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0.00</a:t>
                      </a:r>
                    </a:p>
                  </a:txBody>
                  <a:tcPr marL="91440" marR="91440" marT="45720" marB="45720">
                    <a:solidFill>
                      <a:srgbClr val="F7F5F5"/>
                    </a:solidFill>
                  </a:tcPr>
                </a:tc>
              </a:tr>
              <a:tr h="485775">
                <a:tc>
                  <a:txBody>
                    <a:bodyPr anchor="ctr"/>
                    <a:lstStyle/>
                    <a:p>
                      <a:pPr algn="l"/>
                      <a:r>
                        <a:rPr sz="1275" b="1">
                          <a:solidFill>
                            <a:srgbClr val="111827"/>
                          </a:solidFill>
                          <a:latin typeface="Arial"/>
                          <a:ea typeface="Arial"/>
                          <a:cs typeface="Arial"/>
                        </a:rPr>
                        <a:t>Risk-averse</a:t>
                      </a:r>
                    </a:p>
                  </a:txBody>
                  <a:tcPr marL="91440" marR="91440" marT="45720" marB="45720">
                    <a:solidFill>
                      <a:srgbClr val="FFFFFF"/>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-0.05</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0.07</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r>
              <a:tr h="485775">
                <a:tc>
                  <a:txBody>
                    <a:bodyPr anchor="ctr"/>
                    <a:lstStyle/>
                    <a:p>
                      <a:pPr algn="l"/>
                      <a:r>
                        <a:rPr sz="1275" b="1">
                          <a:solidFill>
                            <a:srgbClr val="111827"/>
                          </a:solidFill>
                          <a:latin typeface="Arial"/>
                          <a:ea typeface="Arial"/>
                          <a:cs typeface="Arial"/>
                        </a:rPr>
                        <a:t>Risk-seeking</a:t>
                      </a:r>
                    </a:p>
                  </a:txBody>
                  <a:tcPr marL="91440" marR="91440" marT="45720" marB="45720">
                    <a:solidFill>
                      <a:srgbClr val="FFFFFF"/>
                    </a:solidFill>
                  </a:tcPr>
                </a:tc>
                <a:tc>
                  <a:txBody>
                    <a:bodyPr anchor="ctr"/>
                    <a:lstStyle/>
                    <a:p>
                      <a:pPr algn="ctr"/>
                      <a:r>
                        <a:rPr sz="1050" b="1">
                          <a:solidFill>
                            <a:srgbClr val="111827"/>
                          </a:solidFill>
                          <a:latin typeface="Arial"/>
                          <a:ea typeface="Arial"/>
                          <a:cs typeface="Arial"/>
                        </a:rPr>
                        <a:t>0.15</a:t>
                      </a:r>
                    </a:p>
                  </a:txBody>
                  <a:tcPr marL="91440" marR="91440" marT="45720" marB="45720">
                    <a:solidFill>
                      <a:srgbClr val="B84A45"/>
                    </a:solidFill>
                  </a:tcPr>
                </a:tc>
                <a:tc>
                  <a:txBody>
                    <a:bodyPr anchor="ctr"/>
                    <a:lstStyle/>
                    <a:p>
                      <a:pPr algn="ctr"/>
                      <a:r>
                        <a:rPr sz="1050" b="1">
                          <a:solidFill>
                            <a:srgbClr val="111827"/>
                          </a:solidFill>
                          <a:latin typeface="Arial"/>
                          <a:ea typeface="Arial"/>
                          <a:cs typeface="Arial"/>
                        </a:rPr>
                        <a:t>0.13</a:t>
                      </a:r>
                    </a:p>
                  </a:txBody>
                  <a:tcPr marL="91440" marR="91440" marT="45720" marB="45720">
                    <a:solidFill>
                      <a:srgbClr val="B84A45"/>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F7F5F5"/>
                    </a:solidFill>
                  </a:tcPr>
                </a:tc>
                <a:tc>
                  <a:txBody>
                    <a:bodyPr anchor="ctr"/>
                    <a:lstStyle/>
                    <a:p>
                      <a:pPr algn="ctr"/>
                      <a:r>
                        <a:rPr sz="1050" b="1">
                          <a:solidFill>
                            <a:srgbClr val="111827"/>
                          </a:solidFill>
                          <a:latin typeface="Arial"/>
                          <a:ea typeface="Arial"/>
                          <a:cs typeface="Arial"/>
                        </a:rPr>
                        <a:t>0.06</a:t>
                      </a:r>
                    </a:p>
                  </a:txBody>
                  <a:tcPr marL="91440" marR="91440" marT="45720" marB="45720">
                    <a:solidFill>
                      <a:srgbClr val="D88C84"/>
                    </a:solidFill>
                  </a:tcPr>
                </a:tc>
                <a:tc>
                  <a:txBody>
                    <a:bodyPr anchor="ctr"/>
                    <a:lstStyle/>
                    <a:p>
                      <a:pPr algn="ctr"/>
                      <a:r>
                        <a:rPr sz="1050" b="0">
                          <a:solidFill>
                            <a:srgbClr val="111827"/>
                          </a:solidFill>
                          <a:latin typeface="Arial"/>
                          <a:ea typeface="Arial"/>
                          <a:cs typeface="Arial"/>
                        </a:rPr>
                        <a:t>0.01</a:t>
                      </a:r>
                    </a:p>
                  </a:txBody>
                  <a:tcPr marL="91440" marR="91440" marT="45720" marB="45720">
                    <a:solidFill>
                      <a:srgbClr val="F7F5F5"/>
                    </a:solidFill>
                  </a:tcPr>
                </a:tc>
                <a:tc>
                  <a:txBody>
                    <a:bodyPr anchor="ctr"/>
                    <a:lstStyle/>
                    <a:p>
                      <a:pPr algn="ctr"/>
                      <a:r>
                        <a:rPr sz="1050" b="0">
                          <a:solidFill>
                            <a:srgbClr val="111827"/>
                          </a:solidFill>
                          <a:latin typeface="Arial"/>
                          <a:ea typeface="Arial"/>
                          <a:cs typeface="Arial"/>
                        </a:rPr>
                        <a:t>0.04</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-0.02</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D6E0EC"/>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0">
                          <a:solidFill>
                            <a:srgbClr val="111827"/>
                          </a:solidFill>
                          <a:latin typeface="Arial"/>
                          <a:ea typeface="Arial"/>
                          <a:cs typeface="Arial"/>
                        </a:rPr>
                        <a:t>0.03</a:t>
                      </a:r>
                    </a:p>
                  </a:txBody>
                  <a:tcPr marL="91440" marR="91440" marT="45720" marB="45720">
                    <a:solidFill>
                      <a:srgbClr val="F1D5D1"/>
                    </a:solidFill>
                  </a:tcPr>
                </a:tc>
                <a:tc>
                  <a:txBody>
                    <a:bodyPr anchor="ctr"/>
                    <a:lstStyle/>
                    <a:p>
                      <a:pPr algn="ctr"/>
                      <a:r>
                        <a:rPr sz="1050" b="1">
                          <a:solidFill>
                            <a:srgbClr val="111827"/>
                          </a:solidFill>
                          <a:latin typeface="Arial"/>
                          <a:ea typeface="Arial"/>
                          <a:cs typeface="Arial"/>
                        </a:rPr>
                        <a:t>0.10</a:t>
                      </a:r>
                    </a:p>
                  </a:txBody>
                  <a:tcPr marL="91440" marR="91440" marT="45720" marB="45720">
                    <a:solidFill>
                      <a:srgbClr val="B84A45"/>
                    </a:solidFill>
                  </a:tcPr>
                </a:tc>
              </a:tr>
            </a:tbl>
          </a:graphicData>
        </a:graphic>
      </p:graphicFrame>
      <p:sp>
        <p:nvSpPr>
          <p:cNvPr id="17" name="">
            <a:extLst xmlns:a="http://schemas.openxmlformats.org/drawingml/2006/main">
              <a:ext uri="{FF2B5EF4-FFF2-40B4-BE49-F238E27FC236}">
                <a16:creationId xmlns:a16="http://schemas.microsoft.com/office/drawing/2014/main" id="{F328401A-F50C-43F6-B0AF-A4DAA688B180}"/>
              </a:ext>
            </a:extLst>
          </p:cNvPr>
          <p:cNvSpPr>
            <a:spLocks xmlns:a="http://schemas.openxmlformats.org/drawingml/2006/main" noGrp="1"/>
          </p:cNvSpPr>
          <p:nvPr/>
        </p:nvSpPr>
        <p:spPr>
          <a:xfrm xmlns:a="http://schemas.openxmlformats.org/drawingml/2006/main">
            <a:off x="2381250" y="5219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0" i="0">
                <a:solidFill>
                  <a:srgbClr val="234E70"/>
                </a:solidFill>
                <a:latin typeface="Arial"/>
                <a:ea typeface="Arial"/>
                <a:cs typeface="Arial"/>
              </a:defRPr>
            </a:pPr>
            <a:r>
              <a:rPr sz="1275" b="0" i="0">
                <a:solidFill>
                  <a:srgbClr val="234E70"/>
                </a:solidFill>
                <a:latin typeface="Arial"/>
                <a:ea typeface="Arial"/>
                <a:cs typeface="Arial"/>
              </a:rPr>
              <a:t>blue = lower than other personas</a:t>
            </a:r>
          </a:p>
        </p:txBody>
      </p:sp>
      <p:sp>
        <p:nvSpPr>
          <p:cNvPr id="18" name="">
            <a:extLst xmlns:a="http://schemas.openxmlformats.org/drawingml/2006/main">
              <a:ext uri="{FF2B5EF4-FFF2-40B4-BE49-F238E27FC236}">
                <a16:creationId xmlns:a16="http://schemas.microsoft.com/office/drawing/2014/main" id="{1269FBFC-842C-4941-B1DE-6354012E0FA1}"/>
              </a:ext>
            </a:extLst>
          </p:cNvPr>
          <p:cNvSpPr>
            <a:spLocks xmlns:a="http://schemas.openxmlformats.org/drawingml/2006/main" noGrp="1"/>
          </p:cNvSpPr>
          <p:nvPr/>
        </p:nvSpPr>
        <p:spPr>
          <a:xfrm xmlns:a="http://schemas.openxmlformats.org/drawingml/2006/main">
            <a:off x="6762750" y="5219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0" i="0">
                <a:solidFill>
                  <a:srgbClr val="8A3B35"/>
                </a:solidFill>
                <a:latin typeface="Arial"/>
                <a:ea typeface="Arial"/>
                <a:cs typeface="Arial"/>
              </a:defRPr>
            </a:pPr>
            <a:r>
              <a:rPr sz="1275" b="0" i="0">
                <a:solidFill>
                  <a:srgbClr val="8A3B35"/>
                </a:solidFill>
                <a:latin typeface="Arial"/>
                <a:ea typeface="Arial"/>
                <a:cs typeface="Arial"/>
              </a:rPr>
              <a:t>red = higher than other personas</a:t>
            </a:r>
          </a:p>
        </p:txBody>
      </p:sp>
      <p:sp>
        <p:nvSpPr>
          <p:cNvPr id="19" name="">
            <a:extLst xmlns:a="http://schemas.openxmlformats.org/drawingml/2006/main">
              <a:ext uri="{FF2B5EF4-FFF2-40B4-BE49-F238E27FC236}">
                <a16:creationId xmlns:a16="http://schemas.microsoft.com/office/drawing/2014/main" id="{A2AEDD4B-9BC9-468E-AC1C-E23BF74D721A}"/>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CB91D0A-F3C7-40E7-B6BE-3CA3F849F2CF}"/>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Risk-seeking shows the clearest gain-oriented signature; other labels are only partly recovered.</a:t>
            </a:r>
          </a:p>
        </p:txBody>
      </p:sp>
    </p:spTree>
    <p:extLst>
      <p:ext uri="{BB962C8B-B14F-4D97-AF65-F5344CB8AC3E}">
        <p14:creationId xmlns:p14="http://schemas.microsoft.com/office/powerpoint/2010/main" val="1653977111"/>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D500DE6-C510-40DD-A3ED-4F8B62A60E7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Does the 12D interpretation retain behavioral information?</a:t>
            </a:r>
          </a:p>
        </p:txBody>
      </p:sp>
      <p:sp>
        <p:nvSpPr>
          <p:cNvPr id="2" name="">
            <a:extLst xmlns:a="http://schemas.openxmlformats.org/drawingml/2006/main">
              <a:ext uri="{FF2B5EF4-FFF2-40B4-BE49-F238E27FC236}">
                <a16:creationId xmlns:a16="http://schemas.microsoft.com/office/drawing/2014/main" id="{9D812848-D9C3-4DC7-9042-7E083B77D73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downstream test</a:t>
            </a:r>
          </a:p>
        </p:txBody>
      </p:sp>
      <p:sp>
        <p:nvSpPr>
          <p:cNvPr id="3" name="">
            <a:extLst xmlns:a="http://schemas.openxmlformats.org/drawingml/2006/main">
              <a:ext uri="{FF2B5EF4-FFF2-40B4-BE49-F238E27FC236}">
                <a16:creationId xmlns:a16="http://schemas.microsoft.com/office/drawing/2014/main" id="{B61E34DF-F809-4908-ADA8-9A673214F6A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B9A45E4-A12F-423F-886F-7837FD1E465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54</a:t>
            </a:r>
          </a:p>
        </p:txBody>
      </p:sp>
      <p:sp>
        <p:nvSpPr>
          <p:cNvPr id="5" name="">
            <a:extLst xmlns:a="http://schemas.openxmlformats.org/drawingml/2006/main">
              <a:ext uri="{FF2B5EF4-FFF2-40B4-BE49-F238E27FC236}">
                <a16:creationId xmlns:a16="http://schemas.microsoft.com/office/drawing/2014/main" id="{84EFF66B-3527-488C-943F-BE3B7D19295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7EE9D4F-24B1-454F-85F9-650172B66A9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5F0D7C6-877E-42AA-A720-F8F8387382E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26AC9BA-BD25-40F2-9073-50543B1203B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DAE3BB4-AB60-4B26-AC26-BAFDF1002319}"/>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550125-0AE6-4812-BEEB-3649964594C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8D82385-96A9-4CC3-9AC8-8C9255E6EBB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5CE7CF9-BDB3-46CA-A14A-76EE1037DC5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B4D363D-FA40-487E-86E6-E7F1A25A30E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8D81309-0E34-436D-BE3B-AD44538F754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304616C-3F4B-4E19-B011-713EDCF036A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Held-out questions / explicit choice statement masked</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c9dafcb9cc547cf"/>
          <a:stretch xmlns:a="http://schemas.openxmlformats.org/drawingml/2006/main"/>
        </p:blipFill>
        <p:spPr>
          <a:xfrm xmlns:a="http://schemas.openxmlformats.org/drawingml/2006/main">
            <a:off x="781050" y="2305050"/>
            <a:ext cx="8191500" cy="29337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31F19D7A-0C1B-417B-A1CF-363B0B0ABF8B}"/>
              </a:ext>
            </a:extLst>
          </p:cNvPr>
          <p:cNvSpPr>
            <a:spLocks xmlns:a="http://schemas.openxmlformats.org/drawingml/2006/main" noGrp="1"/>
          </p:cNvSpPr>
          <p:nvPr/>
        </p:nvSpPr>
        <p:spPr>
          <a:xfrm xmlns:a="http://schemas.openxmlformats.org/drawingml/2006/main">
            <a:off x="800100" y="194310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04"/>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AUC</a:t>
            </a:r>
          </a:p>
        </p:txBody>
      </p:sp>
      <p:sp>
        <p:nvSpPr>
          <p:cNvPr id="18" name="">
            <a:extLst xmlns:a="http://schemas.openxmlformats.org/drawingml/2006/main">
              <a:ext uri="{FF2B5EF4-FFF2-40B4-BE49-F238E27FC236}">
                <a16:creationId xmlns:a16="http://schemas.microsoft.com/office/drawing/2014/main" id="{AA90451E-BB8E-49CE-829C-55F34BE9AEEC}"/>
              </a:ext>
            </a:extLst>
          </p:cNvPr>
          <p:cNvSpPr>
            <a:spLocks xmlns:a="http://schemas.openxmlformats.org/drawingml/2006/main" noGrp="1"/>
          </p:cNvSpPr>
          <p:nvPr/>
        </p:nvSpPr>
        <p:spPr>
          <a:xfrm xmlns:a="http://schemas.openxmlformats.org/drawingml/2006/main">
            <a:off x="9525000" y="27813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899"/>
          </a:bodyPr>
          <a:lstStyle xmlns:a="http://schemas.openxmlformats.org/drawingml/2006/main"/>
          <a:p xmlns:a="http://schemas.openxmlformats.org/drawingml/2006/main">
            <a:pPr algn="l">
              <a:lnSpc>
                <a:spcPct val="108000"/>
              </a:lnSpc>
              <a:buNone/>
              <a:defRPr sz="3225" b="1" i="0">
                <a:solidFill>
                  <a:srgbClr val="234E70"/>
                </a:solidFill>
                <a:latin typeface="Arial"/>
                <a:ea typeface="Arial"/>
                <a:cs typeface="Arial"/>
              </a:defRPr>
            </a:pPr>
            <a:r>
              <a:rPr sz="3225" b="1" i="0">
                <a:solidFill>
                  <a:srgbClr val="234E70"/>
                </a:solidFill>
                <a:latin typeface="Arial"/>
                <a:ea typeface="Arial"/>
                <a:cs typeface="Arial"/>
              </a:rPr>
              <a:t>0.742</a:t>
            </a:r>
          </a:p>
        </p:txBody>
      </p:sp>
      <p:sp>
        <p:nvSpPr>
          <p:cNvPr id="19" name="">
            <a:extLst xmlns:a="http://schemas.openxmlformats.org/drawingml/2006/main">
              <a:ext uri="{FF2B5EF4-FFF2-40B4-BE49-F238E27FC236}">
                <a16:creationId xmlns:a16="http://schemas.microsoft.com/office/drawing/2014/main" id="{98E1BAC0-45EB-4001-AD7A-4EA6D438B21F}"/>
              </a:ext>
            </a:extLst>
          </p:cNvPr>
          <p:cNvSpPr>
            <a:spLocks xmlns:a="http://schemas.openxmlformats.org/drawingml/2006/main" noGrp="1"/>
          </p:cNvSpPr>
          <p:nvPr/>
        </p:nvSpPr>
        <p:spPr>
          <a:xfrm xmlns:a="http://schemas.openxmlformats.org/drawingml/2006/main">
            <a:off x="9525000" y="34099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12D state at the</a:t>
            </a:r>
          </a:p>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end of reasoning</a:t>
            </a:r>
          </a:p>
        </p:txBody>
      </p:sp>
      <p:sp>
        <p:nvSpPr>
          <p:cNvPr id="20" name="">
            <a:extLst xmlns:a="http://schemas.openxmlformats.org/drawingml/2006/main">
              <a:ext uri="{FF2B5EF4-FFF2-40B4-BE49-F238E27FC236}">
                <a16:creationId xmlns:a16="http://schemas.microsoft.com/office/drawing/2014/main" id="{1E714778-0202-434D-A26E-D2B105B9BFB0}"/>
              </a:ext>
            </a:extLst>
          </p:cNvPr>
          <p:cNvSpPr>
            <a:spLocks xmlns:a="http://schemas.openxmlformats.org/drawingml/2006/main" noGrp="1"/>
          </p:cNvSpPr>
          <p:nvPr/>
        </p:nvSpPr>
        <p:spPr>
          <a:xfrm xmlns:a="http://schemas.openxmlformats.org/drawingml/2006/main">
            <a:off x="9334500" y="43624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246"/>
          </a:bodyPr>
          <a:lstStyle xmlns:a="http://schemas.openxmlformats.org/drawingml/2006/main"/>
          <a:p xmlns:a="http://schemas.openxmlformats.org/drawingml/2006/main">
            <a:pPr algn="l">
              <a:lnSpc>
                <a:spcPct val="112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 scalar A-to-B option axis remains near chance.</a:t>
            </a:r>
          </a:p>
        </p:txBody>
      </p:sp>
      <p:sp>
        <p:nvSpPr>
          <p:cNvPr id="21" name="">
            <a:extLst xmlns:a="http://schemas.openxmlformats.org/drawingml/2006/main">
              <a:ext uri="{FF2B5EF4-FFF2-40B4-BE49-F238E27FC236}">
                <a16:creationId xmlns:a16="http://schemas.microsoft.com/office/drawing/2014/main" id="{132B370F-5F4D-466A-9821-F5920C767BC0}"/>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893E1297-D87A-4138-A44C-43AE956EA14E}"/>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The interpretable projection retains cross-question choice signal; unlike the raw-state probe, this tests information preserved after mapping.</a:t>
            </a:r>
          </a:p>
        </p:txBody>
      </p:sp>
    </p:spTree>
    <p:extLst>
      <p:ext uri="{BB962C8B-B14F-4D97-AF65-F5344CB8AC3E}">
        <p14:creationId xmlns:p14="http://schemas.microsoft.com/office/powerpoint/2010/main" val="168253937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6D10F1C-5DA7-4ED2-B87C-5C0FE15F1B1A}"/>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2</a:t>
            </a:r>
          </a:p>
        </p:txBody>
      </p:sp>
      <p:sp>
        <p:nvSpPr>
          <p:cNvPr id="2" name="">
            <a:extLst xmlns:a="http://schemas.openxmlformats.org/drawingml/2006/main">
              <a:ext uri="{FF2B5EF4-FFF2-40B4-BE49-F238E27FC236}">
                <a16:creationId xmlns:a16="http://schemas.microsoft.com/office/drawing/2014/main" id="{15E9F220-16E6-4D82-A876-0A08617334B4}"/>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What you should now be able to do</a:t>
            </a:r>
          </a:p>
        </p:txBody>
      </p:sp>
      <p:sp>
        <p:nvSpPr>
          <p:cNvPr id="3" name="">
            <a:extLst xmlns:a="http://schemas.openxmlformats.org/drawingml/2006/main">
              <a:ext uri="{FF2B5EF4-FFF2-40B4-BE49-F238E27FC236}">
                <a16:creationId xmlns:a16="http://schemas.microsoft.com/office/drawing/2014/main" id="{5C0917F1-DA27-4B4C-AEAC-86E2F7AE2578}"/>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5DEA17A-C3B0-4314-9310-A87A21AE47A4}"/>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93FFBDF9-0CEB-46FD-9337-E9333BA84725}"/>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63" b="1" i="0">
                <a:solidFill>
                  <a:srgbClr val="111827"/>
                </a:solidFill>
                <a:latin typeface="Consolas"/>
                <a:ea typeface="Consolas"/>
                <a:cs typeface="Consolas"/>
              </a:defRPr>
            </a:pPr>
            <a:r>
              <a:rPr sz="1163" b="1" i="0">
                <a:solidFill>
                  <a:srgbClr val="111827"/>
                </a:solidFill>
                <a:latin typeface="Consolas"/>
                <a:ea typeface="Consolas"/>
                <a:cs typeface="Consolas"/>
              </a:rPr>
              <a:t>notebooks/02_representation_from_</a:t>
            </a:r>
          </a:p>
          <a:p xmlns:a="http://schemas.openxmlformats.org/drawingml/2006/main">
            <a:pPr algn="l">
              <a:lnSpc>
                <a:spcPct val="105000"/>
              </a:lnSpc>
              <a:buNone/>
              <a:defRPr sz="1163" b="1" i="0">
                <a:solidFill>
                  <a:srgbClr val="111827"/>
                </a:solidFill>
                <a:latin typeface="Consolas"/>
                <a:ea typeface="Consolas"/>
                <a:cs typeface="Consolas"/>
              </a:defRPr>
            </a:pPr>
            <a:r>
              <a:rPr sz="1163" b="1" i="0">
                <a:solidFill>
                  <a:srgbClr val="111827"/>
                </a:solidFill>
                <a:latin typeface="Consolas"/>
                <a:ea typeface="Consolas"/>
                <a:cs typeface="Consolas"/>
              </a:rPr>
              <a:t>hidden_states_to_reasoning_trajectories.ipynb</a:t>
            </a:r>
          </a:p>
        </p:txBody>
      </p:sp>
      <p:sp>
        <p:nvSpPr>
          <p:cNvPr id="6" name="">
            <a:extLst xmlns:a="http://schemas.openxmlformats.org/drawingml/2006/main">
              <a:ext uri="{FF2B5EF4-FFF2-40B4-BE49-F238E27FC236}">
                <a16:creationId xmlns:a16="http://schemas.microsoft.com/office/drawing/2014/main" id="{71DF85C6-67AA-4683-BC5A-527E734C518C}"/>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DC462036-D489-4D9A-B6C5-899820D4812A}"/>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Use Notebook 2 to reproduce the same four questions</a:t>
            </a:r>
          </a:p>
        </p:txBody>
      </p:sp>
      <p:sp>
        <p:nvSpPr>
          <p:cNvPr id="8" name="">
            <a:extLst xmlns:a="http://schemas.openxmlformats.org/drawingml/2006/main">
              <a:ext uri="{FF2B5EF4-FFF2-40B4-BE49-F238E27FC236}">
                <a16:creationId xmlns:a16="http://schemas.microsoft.com/office/drawing/2014/main" id="{1CA1905B-8584-4466-912F-2DE18873D8A8}"/>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CC23F2-7D69-4EFD-947B-D1B5933BECDE}"/>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D597519F-DFC8-4010-81F5-E6ADEF8A1826}"/>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F0090A7B-0B17-4CE1-9CE3-65496F057752}"/>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759"/>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Test whether choice information is decodable</a:t>
            </a:r>
          </a:p>
        </p:txBody>
      </p:sp>
      <p:sp>
        <p:nvSpPr>
          <p:cNvPr id="12" name="">
            <a:extLst xmlns:a="http://schemas.openxmlformats.org/drawingml/2006/main">
              <a:ext uri="{FF2B5EF4-FFF2-40B4-BE49-F238E27FC236}">
                <a16:creationId xmlns:a16="http://schemas.microsoft.com/office/drawing/2014/main" id="{B30882C1-D5C2-4429-8D1D-6D919BED3EF6}"/>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35329F41-0D76-4CBE-B562-9E44FF484AA6}"/>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Trace how states evolve through reasoning</a:t>
            </a:r>
          </a:p>
        </p:txBody>
      </p:sp>
      <p:sp>
        <p:nvSpPr>
          <p:cNvPr id="14" name="">
            <a:extLst xmlns:a="http://schemas.openxmlformats.org/drawingml/2006/main">
              <a:ext uri="{FF2B5EF4-FFF2-40B4-BE49-F238E27FC236}">
                <a16:creationId xmlns:a16="http://schemas.microsoft.com/office/drawing/2014/main" id="{10580C21-21EE-4BD1-BAF2-E7C95B53719A}"/>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5A828319-1ED5-4C3A-825E-80021200B662}"/>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Map state movement into decision variables</a:t>
            </a:r>
          </a:p>
        </p:txBody>
      </p:sp>
      <p:sp>
        <p:nvSpPr>
          <p:cNvPr id="16" name="">
            <a:extLst xmlns:a="http://schemas.openxmlformats.org/drawingml/2006/main">
              <a:ext uri="{FF2B5EF4-FFF2-40B4-BE49-F238E27FC236}">
                <a16:creationId xmlns:a16="http://schemas.microsoft.com/office/drawing/2014/main" id="{B367B179-18F3-4AF8-9420-63B38DA29EF8}"/>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E52D15C9-DD14-46B0-B2C4-300E88F68611}"/>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Validate the mapped state against behavior</a:t>
            </a:r>
          </a:p>
        </p:txBody>
      </p:sp>
      <p:sp>
        <p:nvSpPr>
          <p:cNvPr id="18" name="">
            <a:extLst xmlns:a="http://schemas.openxmlformats.org/drawingml/2006/main">
              <a:ext uri="{FF2B5EF4-FFF2-40B4-BE49-F238E27FC236}">
                <a16:creationId xmlns:a16="http://schemas.microsoft.com/office/drawing/2014/main" id="{86702128-4B0C-48A1-B285-9694FA1125A5}"/>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6C6CA14C-3E67-4503-9C4C-FC5165299478}"/>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Stop before calling a predictive representation a causal mechanism</a:t>
            </a:r>
          </a:p>
        </p:txBody>
      </p:sp>
      <p:sp>
        <p:nvSpPr>
          <p:cNvPr id="20" name="">
            <a:extLst xmlns:a="http://schemas.openxmlformats.org/drawingml/2006/main">
              <a:ext uri="{FF2B5EF4-FFF2-40B4-BE49-F238E27FC236}">
                <a16:creationId xmlns:a16="http://schemas.microsoft.com/office/drawing/2014/main" id="{3F3488C5-198D-4714-BF13-B04A4EE61392}"/>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41EFF86-8E90-49D3-956B-296D0D03EC87}"/>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Next: turn representational hypotheses into discriminative explanations</a:t>
            </a:r>
          </a:p>
        </p:txBody>
      </p:sp>
      <p:sp>
        <p:nvSpPr>
          <p:cNvPr id="22" name="">
            <a:extLst xmlns:a="http://schemas.openxmlformats.org/drawingml/2006/main">
              <a:ext uri="{FF2B5EF4-FFF2-40B4-BE49-F238E27FC236}">
                <a16:creationId xmlns:a16="http://schemas.microsoft.com/office/drawing/2014/main" id="{6FA619C4-6023-44DF-BE48-B9033F68350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9E6C18B-85B7-458C-AEEA-F2DBE6D5322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6836ACAF-8BD4-43F8-A54E-31BF352A137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59AFCCA-FF4C-4C8B-A916-D72F83AFA7E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3334E1BB-5630-4F28-94F1-F51D3A380E46}"/>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0EA4468-08F4-4FE2-878E-C2DEFCDE765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103F0374-AE4F-47F7-B23A-8433FB17C04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A6C79EB4-C71C-4529-B609-AE9C6EFA11A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C1960E10-9162-47D0-95C8-B9ECA809B82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429A212-9BC4-4335-A697-A28A7826D3D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79235413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EEA7330-7F59-43B3-9BAE-A912D2A8173C}"/>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4</a:t>
            </a:r>
          </a:p>
        </p:txBody>
      </p:sp>
      <p:sp>
        <p:nvSpPr>
          <p:cNvPr id="2" name="">
            <a:extLst xmlns:a="http://schemas.openxmlformats.org/drawingml/2006/main">
              <a:ext uri="{FF2B5EF4-FFF2-40B4-BE49-F238E27FC236}">
                <a16:creationId xmlns:a16="http://schemas.microsoft.com/office/drawing/2014/main" id="{2017AB7B-679C-432A-847A-830A14FBFD05}"/>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Turn verbal explanations into testable process evidence</a:t>
            </a:r>
          </a:p>
        </p:txBody>
      </p:sp>
      <p:sp>
        <p:nvSpPr>
          <p:cNvPr id="3" name="">
            <a:extLst xmlns:a="http://schemas.openxmlformats.org/drawingml/2006/main">
              <a:ext uri="{FF2B5EF4-FFF2-40B4-BE49-F238E27FC236}">
                <a16:creationId xmlns:a16="http://schemas.microsoft.com/office/drawing/2014/main" id="{43B8C19F-A69F-410F-A62C-3866D52BCFF7}"/>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243837B-72BC-4CA6-9755-8C88EFD148E5}"/>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Define an annotation codebook, validate it against held-out evidence, and only then decide whether it should constrain a model search.</a:t>
            </a:r>
          </a:p>
        </p:txBody>
      </p:sp>
      <p:sp>
        <p:nvSpPr>
          <p:cNvPr id="5" name="">
            <a:extLst xmlns:a="http://schemas.openxmlformats.org/drawingml/2006/main">
              <a:ext uri="{FF2B5EF4-FFF2-40B4-BE49-F238E27FC236}">
                <a16:creationId xmlns:a16="http://schemas.microsoft.com/office/drawing/2014/main" id="{FCB907A3-885A-4765-940C-86CC47863DE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A1B6345-19A5-4026-B10E-FF4E940E746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F23BC91-9210-4DA9-85BA-88D7B85569CE}"/>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2F0028-44D9-4C19-9872-339CFD50094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F56B047-D772-4008-AE29-B239C99AA95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0FAA08-2EFF-4420-8641-24E7AA1691C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8ED56BC-79AD-4893-B102-34ACB4E3D386}"/>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C1F1A0A-E257-4E0A-A46F-E3A501CCE29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802B2B3-B254-458F-9EE1-2CAE2BC662B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7F695E8-5FE9-4ECF-90D5-15AE3C51E44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864658929"/>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39FD1AC-335F-479B-91F8-13718ADB0A2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 explanation is another observation channel</a:t>
            </a:r>
          </a:p>
        </p:txBody>
      </p:sp>
      <p:sp>
        <p:nvSpPr>
          <p:cNvPr id="2" name="">
            <a:extLst xmlns:a="http://schemas.openxmlformats.org/drawingml/2006/main">
              <a:ext uri="{FF2B5EF4-FFF2-40B4-BE49-F238E27FC236}">
                <a16:creationId xmlns:a16="http://schemas.microsoft.com/office/drawing/2014/main" id="{D71165B6-692E-4F32-AF3B-1028179EE5A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evidence</a:t>
            </a:r>
          </a:p>
        </p:txBody>
      </p:sp>
      <p:sp>
        <p:nvSpPr>
          <p:cNvPr id="3" name="">
            <a:extLst xmlns:a="http://schemas.openxmlformats.org/drawingml/2006/main">
              <a:ext uri="{FF2B5EF4-FFF2-40B4-BE49-F238E27FC236}">
                <a16:creationId xmlns:a16="http://schemas.microsoft.com/office/drawing/2014/main" id="{03DC2144-96FD-40C2-ACC1-F3A6FCE884B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673322-0DE5-4A67-84BE-1DF3735155D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57</a:t>
            </a:r>
          </a:p>
        </p:txBody>
      </p:sp>
      <p:sp>
        <p:nvSpPr>
          <p:cNvPr id="5" name="">
            <a:extLst xmlns:a="http://schemas.openxmlformats.org/drawingml/2006/main">
              <a:ext uri="{FF2B5EF4-FFF2-40B4-BE49-F238E27FC236}">
                <a16:creationId xmlns:a16="http://schemas.microsoft.com/office/drawing/2014/main" id="{E9100ABF-9284-4742-B212-F9330D8243E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561AEAF-C04A-4A32-8090-137E5DC07AA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FABFC15-451A-4D3F-BA25-C6F59AF86B5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DF45406-EF8E-4253-BDD1-AAEC6776D39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0DC3B4E-09C6-4DF8-ACAE-72032384698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BE7C06F-F88A-4764-992A-0E183F2CE70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527BA02-1541-43B7-9020-D3181324A06E}"/>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62332AB-D5A4-4AA2-BD8B-123702DDC0C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7B85136-7CB4-476E-AAFE-0EF60A77447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961468C-759E-4CB2-8975-2C6B2D914B5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D8394FC1-FD0C-4D3F-85F9-7FDD55DE01D7}"/>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What the text can provide</a:t>
            </a:r>
          </a:p>
        </p:txBody>
      </p:sp>
      <p:sp>
        <p:nvSpPr>
          <p:cNvPr id="16" name="">
            <a:extLst xmlns:a="http://schemas.openxmlformats.org/drawingml/2006/main">
              <a:ext uri="{FF2B5EF4-FFF2-40B4-BE49-F238E27FC236}">
                <a16:creationId xmlns:a16="http://schemas.microsoft.com/office/drawing/2014/main" id="{24EC000E-7205-4175-A2CF-BCB826DFAC57}"/>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A3B35"/>
                </a:solidFill>
                <a:latin typeface="Arial"/>
                <a:ea typeface="Arial"/>
                <a:cs typeface="Arial"/>
              </a:defRPr>
            </a:pPr>
            <a:r>
              <a:rPr sz="2025" b="1" i="0">
                <a:solidFill>
                  <a:srgbClr val="8A3B35"/>
                </a:solidFill>
                <a:latin typeface="Arial"/>
                <a:ea typeface="Arial"/>
                <a:cs typeface="Arial"/>
              </a:rPr>
              <a:t>What it cannot provide</a:t>
            </a:r>
          </a:p>
        </p:txBody>
      </p:sp>
      <p:sp>
        <p:nvSpPr>
          <p:cNvPr id="17" name="">
            <a:extLst xmlns:a="http://schemas.openxmlformats.org/drawingml/2006/main">
              <a:ext uri="{FF2B5EF4-FFF2-40B4-BE49-F238E27FC236}">
                <a16:creationId xmlns:a16="http://schemas.microsoft.com/office/drawing/2014/main" id="{58525E5E-07DA-4E4F-B922-8B2BC934BE35}"/>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Attended attributes and comparisons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Candidate computations and conflicts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Hypotheses for new diagnostic trials</a:t>
            </a:r>
          </a:p>
        </p:txBody>
      </p:sp>
      <p:sp>
        <p:nvSpPr>
          <p:cNvPr id="18" name="">
            <a:extLst xmlns:a="http://schemas.openxmlformats.org/drawingml/2006/main">
              <a:ext uri="{FF2B5EF4-FFF2-40B4-BE49-F238E27FC236}">
                <a16:creationId xmlns:a16="http://schemas.microsoft.com/office/drawing/2014/main" id="{4ADAB52A-AEE1-4BD4-9D4E-6465C0E55A2B}"/>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Direct access to a true latent state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Proof that the stated reason caused the choice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 substitute for held-out behavioral tests</a:t>
            </a:r>
          </a:p>
        </p:txBody>
      </p:sp>
      <p:sp>
        <p:nvSpPr>
          <p:cNvPr id="19" name="">
            <a:extLst xmlns:a="http://schemas.openxmlformats.org/drawingml/2006/main">
              <a:ext uri="{FF2B5EF4-FFF2-40B4-BE49-F238E27FC236}">
                <a16:creationId xmlns:a16="http://schemas.microsoft.com/office/drawing/2014/main" id="{4F089A15-17E8-4A9A-ACFD-17E8CB452B2A}"/>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6BDB52A-1CF6-4A99-81AE-F1E78DB4D25F}"/>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Treat explanations as process data to be coded and tested, not as verdicts about mechanism.</a:t>
            </a:r>
          </a:p>
        </p:txBody>
      </p:sp>
    </p:spTree>
    <p:extLst>
      <p:ext uri="{BB962C8B-B14F-4D97-AF65-F5344CB8AC3E}">
        <p14:creationId xmlns:p14="http://schemas.microsoft.com/office/powerpoint/2010/main" val="1248496813"/>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8839E6D-68EA-4566-8550-5030E716255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Annotate one reasoning trace sentence by sentence</a:t>
            </a:r>
          </a:p>
        </p:txBody>
      </p:sp>
      <p:sp>
        <p:nvSpPr>
          <p:cNvPr id="2" name="">
            <a:extLst xmlns:a="http://schemas.openxmlformats.org/drawingml/2006/main">
              <a:ext uri="{FF2B5EF4-FFF2-40B4-BE49-F238E27FC236}">
                <a16:creationId xmlns:a16="http://schemas.microsoft.com/office/drawing/2014/main" id="{4CCA9B5C-4D6E-48F6-8C8F-7482352CABD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annotation</a:t>
            </a:r>
          </a:p>
        </p:txBody>
      </p:sp>
      <p:sp>
        <p:nvSpPr>
          <p:cNvPr id="3" name="">
            <a:extLst xmlns:a="http://schemas.openxmlformats.org/drawingml/2006/main">
              <a:ext uri="{FF2B5EF4-FFF2-40B4-BE49-F238E27FC236}">
                <a16:creationId xmlns:a16="http://schemas.microsoft.com/office/drawing/2014/main" id="{21399E84-C740-4D63-99FC-DF9F0CCF0B9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1259605-15F3-40CA-8251-78D6195C285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58</a:t>
            </a:r>
          </a:p>
        </p:txBody>
      </p:sp>
      <p:sp>
        <p:nvSpPr>
          <p:cNvPr id="5" name="">
            <a:extLst xmlns:a="http://schemas.openxmlformats.org/drawingml/2006/main">
              <a:ext uri="{FF2B5EF4-FFF2-40B4-BE49-F238E27FC236}">
                <a16:creationId xmlns:a16="http://schemas.microsoft.com/office/drawing/2014/main" id="{874BF6C4-E0A7-4FDB-B493-82DAD203D7E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FB68486-7C7C-45B6-BF68-9BD63AAC5F0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1E8BEC0-2DEA-4C99-BF43-DE003FE784C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E25342B-1678-450E-AC8B-4430C6F8966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4F8A39E-6028-4256-A22F-718DB1F8348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356214-4E2F-4F40-B873-AFE87825300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BF8A258-D951-4709-AA17-1B36BBBDBA64}"/>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979865-EC0A-4CE7-93AB-628E93469D7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65E7A89-6E19-4B2D-B300-7D0F7F0646F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D4D089A-52EF-4144-832C-8D7D1B7E729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C029B33-9984-44B4-A269-AA72BD1D5BF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Synthetic GPT-4 trace; action claim masked</a:t>
            </a:r>
          </a:p>
        </p:txBody>
      </p:sp>
      <p:sp>
        <p:nvSpPr>
          <p:cNvPr id="16" name="">
            <a:extLst xmlns:a="http://schemas.openxmlformats.org/drawingml/2006/main">
              <a:ext uri="{FF2B5EF4-FFF2-40B4-BE49-F238E27FC236}">
                <a16:creationId xmlns:a16="http://schemas.microsoft.com/office/drawing/2014/main" id="{98A2A96D-8199-4769-8601-DFC431D16B72}"/>
              </a:ext>
            </a:extLst>
          </p:cNvPr>
          <p:cNvSpPr>
            <a:spLocks xmlns:a="http://schemas.openxmlformats.org/drawingml/2006/main" noGrp="1"/>
          </p:cNvSpPr>
          <p:nvPr/>
        </p:nvSpPr>
        <p:spPr>
          <a:xfrm xmlns:a="http://schemas.openxmlformats.org/drawingml/2006/main">
            <a:off x="800100" y="21526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008D89D2-9722-4F3C-9C67-E35F03C5F5B2}"/>
              </a:ext>
            </a:extLst>
          </p:cNvPr>
          <p:cNvSpPr>
            <a:spLocks xmlns:a="http://schemas.openxmlformats.org/drawingml/2006/main" noGrp="1"/>
          </p:cNvSpPr>
          <p:nvPr/>
        </p:nvSpPr>
        <p:spPr>
          <a:xfrm xmlns:a="http://schemas.openxmlformats.org/drawingml/2006/main">
            <a:off x="1428750" y="21336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11827"/>
                </a:solidFill>
                <a:latin typeface="Arial"/>
                <a:ea typeface="Arial"/>
                <a:cs typeface="Arial"/>
              </a:defRPr>
            </a:pPr>
            <a:r>
              <a:rPr sz="1725" b="0" i="0">
                <a:solidFill>
                  <a:srgbClr val="111827"/>
                </a:solidFill>
                <a:latin typeface="Arial"/>
                <a:ea typeface="Arial"/>
                <a:cs typeface="Arial"/>
              </a:rPr>
              <a:t>I'll calculate the expected value of each option.</a:t>
            </a:r>
          </a:p>
        </p:txBody>
      </p:sp>
      <p:sp>
        <p:nvSpPr>
          <p:cNvPr id="18" name="">
            <a:extLst xmlns:a="http://schemas.openxmlformats.org/drawingml/2006/main">
              <a:ext uri="{FF2B5EF4-FFF2-40B4-BE49-F238E27FC236}">
                <a16:creationId xmlns:a16="http://schemas.microsoft.com/office/drawing/2014/main" id="{228C64BD-6C9A-48F6-8A77-5333D9A4F8D0}"/>
              </a:ext>
            </a:extLst>
          </p:cNvPr>
          <p:cNvSpPr>
            <a:spLocks xmlns:a="http://schemas.openxmlformats.org/drawingml/2006/main" noGrp="1"/>
          </p:cNvSpPr>
          <p:nvPr/>
        </p:nvSpPr>
        <p:spPr>
          <a:xfrm xmlns:a="http://schemas.openxmlformats.org/drawingml/2006/main">
            <a:off x="7677150" y="21336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expected value · compute</a:t>
            </a:r>
          </a:p>
        </p:txBody>
      </p:sp>
      <p:sp>
        <p:nvSpPr>
          <p:cNvPr id="19" name="">
            <a:extLst xmlns:a="http://schemas.openxmlformats.org/drawingml/2006/main">
              <a:ext uri="{FF2B5EF4-FFF2-40B4-BE49-F238E27FC236}">
                <a16:creationId xmlns:a16="http://schemas.microsoft.com/office/drawing/2014/main" id="{A1EED5D7-3CBA-4353-A9A9-F889EF89312D}"/>
              </a:ext>
            </a:extLst>
          </p:cNvPr>
          <p:cNvSpPr>
            <a:spLocks xmlns:a="http://schemas.openxmlformats.org/drawingml/2006/main" noGrp="1"/>
          </p:cNvSpPr>
          <p:nvPr/>
        </p:nvSpPr>
        <p:spPr>
          <a:xfrm xmlns:a="http://schemas.openxmlformats.org/drawingml/2006/main">
            <a:off x="1428750" y="27432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BA89099-CB3D-40C4-8D99-966C11609BFC}"/>
              </a:ext>
            </a:extLst>
          </p:cNvPr>
          <p:cNvSpPr>
            <a:spLocks xmlns:a="http://schemas.openxmlformats.org/drawingml/2006/main" noGrp="1"/>
          </p:cNvSpPr>
          <p:nvPr/>
        </p:nvSpPr>
        <p:spPr>
          <a:xfrm xmlns:a="http://schemas.openxmlformats.org/drawingml/2006/main">
            <a:off x="800100" y="31432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5A4B6E"/>
                </a:solidFill>
                <a:latin typeface="Arial"/>
                <a:ea typeface="Arial"/>
                <a:cs typeface="Arial"/>
              </a:defRPr>
            </a:pPr>
            <a:r>
              <a:rPr sz="1800" b="1" i="0">
                <a:solidFill>
                  <a:srgbClr val="5A4B6E"/>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8B9E436B-DCBC-4050-9D82-FCC50666614A}"/>
              </a:ext>
            </a:extLst>
          </p:cNvPr>
          <p:cNvSpPr>
            <a:spLocks xmlns:a="http://schemas.openxmlformats.org/drawingml/2006/main" noGrp="1"/>
          </p:cNvSpPr>
          <p:nvPr/>
        </p:nvSpPr>
        <p:spPr>
          <a:xfrm xmlns:a="http://schemas.openxmlformats.org/drawingml/2006/main">
            <a:off x="1428750" y="31242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11827"/>
                </a:solidFill>
                <a:latin typeface="Arial"/>
                <a:ea typeface="Arial"/>
                <a:cs typeface="Arial"/>
              </a:defRPr>
            </a:pPr>
            <a:r>
              <a:rPr sz="1725" b="0" i="0">
                <a:solidFill>
                  <a:srgbClr val="111827"/>
                </a:solidFill>
                <a:latin typeface="Arial"/>
                <a:ea typeface="Arial"/>
                <a:cs typeface="Arial"/>
              </a:rPr>
              <a:t>A averages $250; B gives $240 for sure.</a:t>
            </a:r>
          </a:p>
        </p:txBody>
      </p:sp>
      <p:sp>
        <p:nvSpPr>
          <p:cNvPr id="22" name="">
            <a:extLst xmlns:a="http://schemas.openxmlformats.org/drawingml/2006/main">
              <a:ext uri="{FF2B5EF4-FFF2-40B4-BE49-F238E27FC236}">
                <a16:creationId xmlns:a16="http://schemas.microsoft.com/office/drawing/2014/main" id="{15403101-2632-4DCA-8124-5844948DDDFF}"/>
              </a:ext>
            </a:extLst>
          </p:cNvPr>
          <p:cNvSpPr>
            <a:spLocks xmlns:a="http://schemas.openxmlformats.org/drawingml/2006/main" noGrp="1"/>
          </p:cNvSpPr>
          <p:nvPr/>
        </p:nvSpPr>
        <p:spPr>
          <a:xfrm xmlns:a="http://schemas.openxmlformats.org/drawingml/2006/main">
            <a:off x="7677150" y="31242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EV + certainty · compare</a:t>
            </a:r>
          </a:p>
        </p:txBody>
      </p:sp>
      <p:sp>
        <p:nvSpPr>
          <p:cNvPr id="23" name="">
            <a:extLst xmlns:a="http://schemas.openxmlformats.org/drawingml/2006/main">
              <a:ext uri="{FF2B5EF4-FFF2-40B4-BE49-F238E27FC236}">
                <a16:creationId xmlns:a16="http://schemas.microsoft.com/office/drawing/2014/main" id="{5EC1083D-D2E1-4545-9851-28264B2241F9}"/>
              </a:ext>
            </a:extLst>
          </p:cNvPr>
          <p:cNvSpPr>
            <a:spLocks xmlns:a="http://schemas.openxmlformats.org/drawingml/2006/main" noGrp="1"/>
          </p:cNvSpPr>
          <p:nvPr/>
        </p:nvSpPr>
        <p:spPr>
          <a:xfrm xmlns:a="http://schemas.openxmlformats.org/drawingml/2006/main">
            <a:off x="1428750" y="37338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E14F182-BF8D-4815-A3DC-98031B8F2A98}"/>
              </a:ext>
            </a:extLst>
          </p:cNvPr>
          <p:cNvSpPr>
            <a:spLocks xmlns:a="http://schemas.openxmlformats.org/drawingml/2006/main" noGrp="1"/>
          </p:cNvSpPr>
          <p:nvPr/>
        </p:nvSpPr>
        <p:spPr>
          <a:xfrm xmlns:a="http://schemas.openxmlformats.org/drawingml/2006/main">
            <a:off x="800100" y="41338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8A3B35"/>
                </a:solidFill>
                <a:latin typeface="Arial"/>
                <a:ea typeface="Arial"/>
                <a:cs typeface="Arial"/>
              </a:defRPr>
            </a:pPr>
            <a:r>
              <a:rPr sz="1800" b="1" i="0">
                <a:solidFill>
                  <a:srgbClr val="8A3B35"/>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06A24A10-64EE-4454-BA6D-EC107ECB2F4C}"/>
              </a:ext>
            </a:extLst>
          </p:cNvPr>
          <p:cNvSpPr>
            <a:spLocks xmlns:a="http://schemas.openxmlformats.org/drawingml/2006/main" noGrp="1"/>
          </p:cNvSpPr>
          <p:nvPr/>
        </p:nvSpPr>
        <p:spPr>
          <a:xfrm xmlns:a="http://schemas.openxmlformats.org/drawingml/2006/main">
            <a:off x="1428750" y="41148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111827"/>
                </a:solidFill>
                <a:latin typeface="Arial"/>
                <a:ea typeface="Arial"/>
                <a:cs typeface="Arial"/>
              </a:defRPr>
            </a:pPr>
            <a:r>
              <a:rPr sz="1725" b="0" i="0">
                <a:solidFill>
                  <a:srgbClr val="111827"/>
                </a:solidFill>
                <a:latin typeface="Arial"/>
                <a:ea typeface="Arial"/>
                <a:cs typeface="Arial"/>
              </a:rPr>
              <a:t>I would choose Option A.</a:t>
            </a:r>
          </a:p>
        </p:txBody>
      </p:sp>
      <p:sp>
        <p:nvSpPr>
          <p:cNvPr id="26" name="">
            <a:extLst xmlns:a="http://schemas.openxmlformats.org/drawingml/2006/main">
              <a:ext uri="{FF2B5EF4-FFF2-40B4-BE49-F238E27FC236}">
                <a16:creationId xmlns:a16="http://schemas.microsoft.com/office/drawing/2014/main" id="{7EC4A382-154F-409E-A243-5A34F52AEA09}"/>
              </a:ext>
            </a:extLst>
          </p:cNvPr>
          <p:cNvSpPr>
            <a:spLocks xmlns:a="http://schemas.openxmlformats.org/drawingml/2006/main" noGrp="1"/>
          </p:cNvSpPr>
          <p:nvPr/>
        </p:nvSpPr>
        <p:spPr>
          <a:xfrm xmlns:a="http://schemas.openxmlformats.org/drawingml/2006/main">
            <a:off x="7677150" y="41148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explicit action claim · exclude</a:t>
            </a:r>
          </a:p>
        </p:txBody>
      </p:sp>
      <p:sp>
        <p:nvSpPr>
          <p:cNvPr id="27" name="">
            <a:extLst xmlns:a="http://schemas.openxmlformats.org/drawingml/2006/main">
              <a:ext uri="{FF2B5EF4-FFF2-40B4-BE49-F238E27FC236}">
                <a16:creationId xmlns:a16="http://schemas.microsoft.com/office/drawing/2014/main" id="{1D507043-8B6F-43C1-93C5-E46DBE08BF28}"/>
              </a:ext>
            </a:extLst>
          </p:cNvPr>
          <p:cNvSpPr>
            <a:spLocks xmlns:a="http://schemas.openxmlformats.org/drawingml/2006/main" noGrp="1"/>
          </p:cNvSpPr>
          <p:nvPr/>
        </p:nvSpPr>
        <p:spPr>
          <a:xfrm xmlns:a="http://schemas.openxmlformats.org/drawingml/2006/main">
            <a:off x="1428750" y="47244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3ED28F9-94C8-4CAD-9D18-6072E2EE3B5C}"/>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6A5EA4B-145F-49BD-A0B3-F19AA320E756}"/>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unit, codebook, and leakage rule must be fixed before scaling annotation.</a:t>
            </a:r>
          </a:p>
        </p:txBody>
      </p:sp>
    </p:spTree>
    <p:extLst>
      <p:ext uri="{BB962C8B-B14F-4D97-AF65-F5344CB8AC3E}">
        <p14:creationId xmlns:p14="http://schemas.microsoft.com/office/powerpoint/2010/main" val="419803073"/>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EC3678E4-ED11-48A8-8C08-C5ACA805ADD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codebook separates information, operations, and evidential role</a:t>
            </a:r>
          </a:p>
        </p:txBody>
      </p:sp>
      <p:sp>
        <p:nvSpPr>
          <p:cNvPr id="2" name="">
            <a:extLst xmlns:a="http://schemas.openxmlformats.org/drawingml/2006/main">
              <a:ext uri="{FF2B5EF4-FFF2-40B4-BE49-F238E27FC236}">
                <a16:creationId xmlns:a16="http://schemas.microsoft.com/office/drawing/2014/main" id="{3013E9A4-ADFE-420E-ADA4-1592A33B800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annotation</a:t>
            </a:r>
          </a:p>
        </p:txBody>
      </p:sp>
      <p:sp>
        <p:nvSpPr>
          <p:cNvPr id="3" name="">
            <a:extLst xmlns:a="http://schemas.openxmlformats.org/drawingml/2006/main">
              <a:ext uri="{FF2B5EF4-FFF2-40B4-BE49-F238E27FC236}">
                <a16:creationId xmlns:a16="http://schemas.microsoft.com/office/drawing/2014/main" id="{49E00488-0D7F-4E8A-946F-3F4ED155678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2F7DEF3-4F30-45CB-BFF0-3026B71DC7E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59</a:t>
            </a:r>
          </a:p>
        </p:txBody>
      </p:sp>
      <p:sp>
        <p:nvSpPr>
          <p:cNvPr id="5" name="">
            <a:extLst xmlns:a="http://schemas.openxmlformats.org/drawingml/2006/main">
              <a:ext uri="{FF2B5EF4-FFF2-40B4-BE49-F238E27FC236}">
                <a16:creationId xmlns:a16="http://schemas.microsoft.com/office/drawing/2014/main" id="{274CB3BB-A9D5-4C88-8DC1-FFA83D98A84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6D3EED2-A949-450B-8039-9172FB607B8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268E3C2-EC11-41D6-AC52-A506905C458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373D01-EE66-4ABD-93A5-201D500CA60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7D2CF71-9C80-4AEE-8450-20CE8ABD0FC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82F51FD-3839-4D7C-99F6-B4F67D5D4D5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B901CE0-BBD0-45FA-A5BA-1416ED2BC435}"/>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7C6FB6B-C996-449E-AACA-74ECFB312FB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5BFDEE5-0F54-4BEC-A50F-15A6D74A795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71552FB-5F6C-4ED3-810E-D7BF88332AE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8DE5C46-A68B-48DB-8C64-A1EA34057FBD}"/>
              </a:ext>
            </a:extLst>
          </p:cNvPr>
          <p:cNvSpPr>
            <a:spLocks xmlns:a="http://schemas.openxmlformats.org/drawingml/2006/main" noGrp="1"/>
          </p:cNvSpPr>
          <p:nvPr/>
        </p:nvSpPr>
        <p:spPr>
          <a:xfrm xmlns:a="http://schemas.openxmlformats.org/drawingml/2006/main">
            <a:off x="800100" y="21907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Information</a:t>
            </a:r>
          </a:p>
        </p:txBody>
      </p:sp>
      <p:sp>
        <p:nvSpPr>
          <p:cNvPr id="16" name="">
            <a:extLst xmlns:a="http://schemas.openxmlformats.org/drawingml/2006/main">
              <a:ext uri="{FF2B5EF4-FFF2-40B4-BE49-F238E27FC236}">
                <a16:creationId xmlns:a16="http://schemas.microsoft.com/office/drawing/2014/main" id="{A8888795-4191-48D7-8CC8-46081BC6348D}"/>
              </a:ext>
            </a:extLst>
          </p:cNvPr>
          <p:cNvSpPr>
            <a:spLocks xmlns:a="http://schemas.openxmlformats.org/drawingml/2006/main" noGrp="1"/>
          </p:cNvSpPr>
          <p:nvPr/>
        </p:nvSpPr>
        <p:spPr>
          <a:xfrm xmlns:a="http://schemas.openxmlformats.org/drawingml/2006/main">
            <a:off x="4038600" y="21907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Expected value, probability, downside, upside, certainty, and risk</a:t>
            </a:r>
          </a:p>
        </p:txBody>
      </p:sp>
      <p:sp>
        <p:nvSpPr>
          <p:cNvPr id="17" name="">
            <a:extLst xmlns:a="http://schemas.openxmlformats.org/drawingml/2006/main">
              <a:ext uri="{FF2B5EF4-FFF2-40B4-BE49-F238E27FC236}">
                <a16:creationId xmlns:a16="http://schemas.microsoft.com/office/drawing/2014/main" id="{64EB9E5D-EEA3-4752-B33A-5140B383E04F}"/>
              </a:ext>
            </a:extLst>
          </p:cNvPr>
          <p:cNvSpPr>
            <a:spLocks xmlns:a="http://schemas.openxmlformats.org/drawingml/2006/main" noGrp="1"/>
          </p:cNvSpPr>
          <p:nvPr/>
        </p:nvSpPr>
        <p:spPr>
          <a:xfrm xmlns:a="http://schemas.openxmlformats.org/drawingml/2006/main">
            <a:off x="800100" y="29337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0BEDE03-01B0-4922-951E-2030ADB90048}"/>
              </a:ext>
            </a:extLst>
          </p:cNvPr>
          <p:cNvSpPr>
            <a:spLocks xmlns:a="http://schemas.openxmlformats.org/drawingml/2006/main" noGrp="1"/>
          </p:cNvSpPr>
          <p:nvPr/>
        </p:nvSpPr>
        <p:spPr>
          <a:xfrm xmlns:a="http://schemas.openxmlformats.org/drawingml/2006/main">
            <a:off x="800100" y="31051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Operation</a:t>
            </a:r>
          </a:p>
        </p:txBody>
      </p:sp>
      <p:sp>
        <p:nvSpPr>
          <p:cNvPr id="19" name="">
            <a:extLst xmlns:a="http://schemas.openxmlformats.org/drawingml/2006/main">
              <a:ext uri="{FF2B5EF4-FFF2-40B4-BE49-F238E27FC236}">
                <a16:creationId xmlns:a16="http://schemas.microsoft.com/office/drawing/2014/main" id="{B9A6F49E-5D5D-4A98-8C57-51C71D678E3F}"/>
              </a:ext>
            </a:extLst>
          </p:cNvPr>
          <p:cNvSpPr>
            <a:spLocks xmlns:a="http://schemas.openxmlformats.org/drawingml/2006/main" noGrp="1"/>
          </p:cNvSpPr>
          <p:nvPr/>
        </p:nvSpPr>
        <p:spPr>
          <a:xfrm xmlns:a="http://schemas.openxmlformats.org/drawingml/2006/main">
            <a:off x="4038600" y="31051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Describe, compute, compare, threshold, or consider a counterfactual</a:t>
            </a:r>
          </a:p>
        </p:txBody>
      </p:sp>
      <p:sp>
        <p:nvSpPr>
          <p:cNvPr id="20" name="">
            <a:extLst xmlns:a="http://schemas.openxmlformats.org/drawingml/2006/main">
              <a:ext uri="{FF2B5EF4-FFF2-40B4-BE49-F238E27FC236}">
                <a16:creationId xmlns:a16="http://schemas.microsoft.com/office/drawing/2014/main" id="{5285066E-EFDA-4EE2-8454-4B939CCCBC59}"/>
              </a:ext>
            </a:extLst>
          </p:cNvPr>
          <p:cNvSpPr>
            <a:spLocks xmlns:a="http://schemas.openxmlformats.org/drawingml/2006/main" noGrp="1"/>
          </p:cNvSpPr>
          <p:nvPr/>
        </p:nvSpPr>
        <p:spPr>
          <a:xfrm xmlns:a="http://schemas.openxmlformats.org/drawingml/2006/main">
            <a:off x="800100" y="3848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FAD4D36-98CE-4170-86D9-EE999187F909}"/>
              </a:ext>
            </a:extLst>
          </p:cNvPr>
          <p:cNvSpPr>
            <a:spLocks xmlns:a="http://schemas.openxmlformats.org/drawingml/2006/main" noGrp="1"/>
          </p:cNvSpPr>
          <p:nvPr/>
        </p:nvSpPr>
        <p:spPr>
          <a:xfrm xmlns:a="http://schemas.openxmlformats.org/drawingml/2006/main">
            <a:off x="800100" y="40195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Role</a:t>
            </a:r>
          </a:p>
        </p:txBody>
      </p:sp>
      <p:sp>
        <p:nvSpPr>
          <p:cNvPr id="22" name="">
            <a:extLst xmlns:a="http://schemas.openxmlformats.org/drawingml/2006/main">
              <a:ext uri="{FF2B5EF4-FFF2-40B4-BE49-F238E27FC236}">
                <a16:creationId xmlns:a16="http://schemas.microsoft.com/office/drawing/2014/main" id="{DF950243-A9EF-49AB-ABAD-D99A29A4C73D}"/>
              </a:ext>
            </a:extLst>
          </p:cNvPr>
          <p:cNvSpPr>
            <a:spLocks xmlns:a="http://schemas.openxmlformats.org/drawingml/2006/main" noGrp="1"/>
          </p:cNvSpPr>
          <p:nvPr/>
        </p:nvSpPr>
        <p:spPr>
          <a:xfrm xmlns:a="http://schemas.openxmlformats.org/drawingml/2006/main">
            <a:off x="4038600" y="40195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Supports A, supports B, neither, or an explicit preference claim</a:t>
            </a:r>
          </a:p>
        </p:txBody>
      </p:sp>
      <p:sp>
        <p:nvSpPr>
          <p:cNvPr id="23" name="">
            <a:extLst xmlns:a="http://schemas.openxmlformats.org/drawingml/2006/main">
              <a:ext uri="{FF2B5EF4-FFF2-40B4-BE49-F238E27FC236}">
                <a16:creationId xmlns:a16="http://schemas.microsoft.com/office/drawing/2014/main" id="{2D79E246-B243-45A5-8E8A-317C5268F86F}"/>
              </a:ext>
            </a:extLst>
          </p:cNvPr>
          <p:cNvSpPr>
            <a:spLocks xmlns:a="http://schemas.openxmlformats.org/drawingml/2006/main" noGrp="1"/>
          </p:cNvSpPr>
          <p:nvPr/>
        </p:nvSpPr>
        <p:spPr>
          <a:xfrm xmlns:a="http://schemas.openxmlformats.org/drawingml/2006/main">
            <a:off x="800100" y="47625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1C6AFF1-8385-4DD5-A8C0-A6EFB2C8B95B}"/>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1C01F69-36E1-44BC-89B0-C410224A4FD2}"/>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restricted codebook makes human and language-model annotations comparable and auditable.</a:t>
            </a:r>
          </a:p>
        </p:txBody>
      </p:sp>
    </p:spTree>
    <p:extLst>
      <p:ext uri="{BB962C8B-B14F-4D97-AF65-F5344CB8AC3E}">
        <p14:creationId xmlns:p14="http://schemas.microsoft.com/office/powerpoint/2010/main" val="169205975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33F85A7-4AD1-4CEF-8212-1507DEFCF33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codebook detects a controlled reasoning manipulation</a:t>
            </a:r>
          </a:p>
        </p:txBody>
      </p:sp>
      <p:sp>
        <p:nvSpPr>
          <p:cNvPr id="2" name="">
            <a:extLst xmlns:a="http://schemas.openxmlformats.org/drawingml/2006/main">
              <a:ext uri="{FF2B5EF4-FFF2-40B4-BE49-F238E27FC236}">
                <a16:creationId xmlns:a16="http://schemas.microsoft.com/office/drawing/2014/main" id="{613C4079-CEC3-4477-837B-CFEC8D55E5E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validation</a:t>
            </a:r>
          </a:p>
        </p:txBody>
      </p:sp>
      <p:sp>
        <p:nvSpPr>
          <p:cNvPr id="3" name="">
            <a:extLst xmlns:a="http://schemas.openxmlformats.org/drawingml/2006/main">
              <a:ext uri="{FF2B5EF4-FFF2-40B4-BE49-F238E27FC236}">
                <a16:creationId xmlns:a16="http://schemas.microsoft.com/office/drawing/2014/main" id="{C4827D85-069E-4008-8F44-5A3E20B5CD8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CDA4403-EF65-4BB7-9912-6B36D87BFD6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60</a:t>
            </a:r>
          </a:p>
        </p:txBody>
      </p:sp>
      <p:sp>
        <p:nvSpPr>
          <p:cNvPr id="5" name="">
            <a:extLst xmlns:a="http://schemas.openxmlformats.org/drawingml/2006/main">
              <a:ext uri="{FF2B5EF4-FFF2-40B4-BE49-F238E27FC236}">
                <a16:creationId xmlns:a16="http://schemas.microsoft.com/office/drawing/2014/main" id="{EF9158EE-C657-4EDA-9D66-67F65AE4761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B88A6D-F3CF-49F2-971C-A65395DA195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E6F9883-4EC0-40CC-BFA8-9E988CBD370F}"/>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A0868E-ECD4-449A-9FB6-23644FB4494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186F321-F1D4-4B06-BE79-CCB649C3FFD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A54E9B2-2386-489F-B232-B16CEF6E23E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7044352-5B69-45AB-94CD-E1D56AD9673E}"/>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8CF1E6D-04F5-49F8-8714-8EEC6537438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26854E5-3D53-468B-8D9C-39237D6C6AC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70F7074-2FF1-4631-A058-5EB780A9777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2FB11B00-8488-4392-AB88-14C0DFCE677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transparent lexical baseline; five personas; grouped by question</a:t>
            </a:r>
          </a:p>
        </p:txBody>
      </p:sp>
      <p:sp>
        <p:nvSpPr>
          <p:cNvPr id="16" name="">
            <a:extLst xmlns:a="http://schemas.openxmlformats.org/drawingml/2006/main">
              <a:ext uri="{FF2B5EF4-FFF2-40B4-BE49-F238E27FC236}">
                <a16:creationId xmlns:a16="http://schemas.microsoft.com/office/drawing/2014/main" id="{7F43AD4D-C487-4460-BFBB-0A0CB2984AF7}"/>
              </a:ext>
            </a:extLst>
          </p:cNvPr>
          <p:cNvSpPr>
            <a:spLocks xmlns:a="http://schemas.openxmlformats.org/drawingml/2006/main" noGrp="1"/>
          </p:cNvSpPr>
          <p:nvPr/>
        </p:nvSpPr>
        <p:spPr>
          <a:xfrm xmlns:a="http://schemas.openxmlformats.org/drawingml/2006/main">
            <a:off x="1104900" y="2266950"/>
            <a:ext cx="342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4350" b="1" i="0">
                <a:solidFill>
                  <a:srgbClr val="234E70"/>
                </a:solidFill>
                <a:latin typeface="Arial"/>
                <a:ea typeface="Arial"/>
                <a:cs typeface="Arial"/>
              </a:defRPr>
            </a:pPr>
            <a:r>
              <a:rPr sz="4350" b="1" i="0">
                <a:solidFill>
                  <a:srgbClr val="234E70"/>
                </a:solidFill>
                <a:latin typeface="Arial"/>
                <a:ea typeface="Arial"/>
                <a:cs typeface="Arial"/>
              </a:rPr>
              <a:t>0.519</a:t>
            </a:r>
          </a:p>
        </p:txBody>
      </p:sp>
      <p:sp>
        <p:nvSpPr>
          <p:cNvPr id="17" name="">
            <a:extLst xmlns:a="http://schemas.openxmlformats.org/drawingml/2006/main">
              <a:ext uri="{FF2B5EF4-FFF2-40B4-BE49-F238E27FC236}">
                <a16:creationId xmlns:a16="http://schemas.microsoft.com/office/drawing/2014/main" id="{53BC11CF-AF77-47DD-BCAC-B9D32C9BA3A2}"/>
              </a:ext>
            </a:extLst>
          </p:cNvPr>
          <p:cNvSpPr>
            <a:spLocks xmlns:a="http://schemas.openxmlformats.org/drawingml/2006/main" noGrp="1"/>
          </p:cNvSpPr>
          <p:nvPr/>
        </p:nvSpPr>
        <p:spPr>
          <a:xfrm xmlns:a="http://schemas.openxmlformats.org/drawingml/2006/main">
            <a:off x="1104900" y="32194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held-question persona</a:t>
            </a:r>
          </a:p>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balanced accuracy</a:t>
            </a:r>
          </a:p>
        </p:txBody>
      </p:sp>
      <p:sp>
        <p:nvSpPr>
          <p:cNvPr id="18" name="">
            <a:extLst xmlns:a="http://schemas.openxmlformats.org/drawingml/2006/main">
              <a:ext uri="{FF2B5EF4-FFF2-40B4-BE49-F238E27FC236}">
                <a16:creationId xmlns:a16="http://schemas.microsoft.com/office/drawing/2014/main" id="{43D02C23-CD75-4186-A016-3B88088EEAE3}"/>
              </a:ext>
            </a:extLst>
          </p:cNvPr>
          <p:cNvSpPr>
            <a:spLocks xmlns:a="http://schemas.openxmlformats.org/drawingml/2006/main" noGrp="1"/>
          </p:cNvSpPr>
          <p:nvPr/>
        </p:nvSpPr>
        <p:spPr>
          <a:xfrm xmlns:a="http://schemas.openxmlformats.org/drawingml/2006/main">
            <a:off x="6572250" y="2266950"/>
            <a:ext cx="3429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4350" b="1" i="0">
                <a:solidFill>
                  <a:srgbClr val="667085"/>
                </a:solidFill>
                <a:latin typeface="Arial"/>
                <a:ea typeface="Arial"/>
                <a:cs typeface="Arial"/>
              </a:defRPr>
            </a:pPr>
            <a:r>
              <a:rPr sz="4350" b="1" i="0">
                <a:solidFill>
                  <a:srgbClr val="667085"/>
                </a:solidFill>
                <a:latin typeface="Arial"/>
                <a:ea typeface="Arial"/>
                <a:cs typeface="Arial"/>
              </a:rPr>
              <a:t>0.200</a:t>
            </a:r>
          </a:p>
        </p:txBody>
      </p:sp>
      <p:sp>
        <p:nvSpPr>
          <p:cNvPr id="19" name="">
            <a:extLst xmlns:a="http://schemas.openxmlformats.org/drawingml/2006/main">
              <a:ext uri="{FF2B5EF4-FFF2-40B4-BE49-F238E27FC236}">
                <a16:creationId xmlns:a16="http://schemas.microsoft.com/office/drawing/2014/main" id="{FFAB851E-5575-4C30-9D89-CEED593C791C}"/>
              </a:ext>
            </a:extLst>
          </p:cNvPr>
          <p:cNvSpPr>
            <a:spLocks xmlns:a="http://schemas.openxmlformats.org/drawingml/2006/main" noGrp="1"/>
          </p:cNvSpPr>
          <p:nvPr/>
        </p:nvSpPr>
        <p:spPr>
          <a:xfrm xmlns:a="http://schemas.openxmlformats.org/drawingml/2006/main">
            <a:off x="6572250" y="32194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five-class</a:t>
            </a:r>
          </a:p>
          <a:p xmlns:a="http://schemas.openxmlformats.org/drawingml/2006/main">
            <a:pPr algn="ctr">
              <a:lnSpc>
                <a:spcPct val="112000"/>
              </a:lnSpc>
              <a:buNone/>
              <a:defRPr sz="1725" b="0" i="0">
                <a:solidFill>
                  <a:srgbClr val="283643"/>
                </a:solidFill>
                <a:latin typeface="Arial"/>
                <a:ea typeface="Arial"/>
                <a:cs typeface="Arial"/>
              </a:defRPr>
            </a:pPr>
            <a:r>
              <a:rPr sz="1725" b="0" i="0">
                <a:solidFill>
                  <a:srgbClr val="283643"/>
                </a:solidFill>
                <a:latin typeface="Arial"/>
                <a:ea typeface="Arial"/>
                <a:cs typeface="Arial"/>
              </a:rPr>
              <a:t>chance reference</a:t>
            </a:r>
          </a:p>
        </p:txBody>
      </p:sp>
      <p:sp>
        <p:nvSpPr>
          <p:cNvPr id="20" name="">
            <a:extLst xmlns:a="http://schemas.openxmlformats.org/drawingml/2006/main">
              <a:ext uri="{FF2B5EF4-FFF2-40B4-BE49-F238E27FC236}">
                <a16:creationId xmlns:a16="http://schemas.microsoft.com/office/drawing/2014/main" id="{889308DB-42B3-4AA4-B401-5109103D8D95}"/>
              </a:ext>
            </a:extLst>
          </p:cNvPr>
          <p:cNvSpPr>
            <a:spLocks xmlns:a="http://schemas.openxmlformats.org/drawingml/2006/main" noGrp="1"/>
          </p:cNvSpPr>
          <p:nvPr/>
        </p:nvSpPr>
        <p:spPr>
          <a:xfrm xmlns:a="http://schemas.openxmlformats.org/drawingml/2006/main">
            <a:off x="5257800" y="2266950"/>
            <a:ext cx="14288" cy="1714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C3A22CA-AFCA-4C33-A300-0A883E36287B}"/>
              </a:ext>
            </a:extLst>
          </p:cNvPr>
          <p:cNvSpPr>
            <a:spLocks xmlns:a="http://schemas.openxmlformats.org/drawingml/2006/main" noGrp="1"/>
          </p:cNvSpPr>
          <p:nvPr/>
        </p:nvSpPr>
        <p:spPr>
          <a:xfrm xmlns:a="http://schemas.openxmlformats.org/drawingml/2006/main">
            <a:off x="1657350" y="4457700"/>
            <a:ext cx="8877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Controls: explicit preference claims removed · folds hold out entire questions</a:t>
            </a:r>
          </a:p>
        </p:txBody>
      </p:sp>
      <p:sp>
        <p:nvSpPr>
          <p:cNvPr id="22" name="">
            <a:extLst xmlns:a="http://schemas.openxmlformats.org/drawingml/2006/main">
              <a:ext uri="{FF2B5EF4-FFF2-40B4-BE49-F238E27FC236}">
                <a16:creationId xmlns:a16="http://schemas.microsoft.com/office/drawing/2014/main" id="{C32AFFEE-F7B1-4DF2-81A5-253356E49727}"/>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D334575-018E-4915-AE3A-3FAA3A07CDD4}"/>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supports sensitivity to the synthetic persona manipulation—not validity for human mechanisms.</a:t>
            </a:r>
          </a:p>
        </p:txBody>
      </p:sp>
    </p:spTree>
    <p:extLst>
      <p:ext uri="{BB962C8B-B14F-4D97-AF65-F5344CB8AC3E}">
        <p14:creationId xmlns:p14="http://schemas.microsoft.com/office/powerpoint/2010/main" val="915394198"/>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4D0A70D-CFA9-4D6F-B3C4-42A8DCA0D7DE}"/>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Continuous states and discrete annotations test each other</a:t>
            </a:r>
          </a:p>
        </p:txBody>
      </p:sp>
      <p:sp>
        <p:nvSpPr>
          <p:cNvPr id="2" name="">
            <a:extLst xmlns:a="http://schemas.openxmlformats.org/drawingml/2006/main">
              <a:ext uri="{FF2B5EF4-FFF2-40B4-BE49-F238E27FC236}">
                <a16:creationId xmlns:a16="http://schemas.microsoft.com/office/drawing/2014/main" id="{92616FFC-7487-4C6C-9BD3-B6ED6409EA1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Explanation</a:t>
            </a:r>
          </a:p>
        </p:txBody>
      </p:sp>
      <p:sp>
        <p:nvSpPr>
          <p:cNvPr id="3" name="">
            <a:extLst xmlns:a="http://schemas.openxmlformats.org/drawingml/2006/main">
              <a:ext uri="{FF2B5EF4-FFF2-40B4-BE49-F238E27FC236}">
                <a16:creationId xmlns:a16="http://schemas.microsoft.com/office/drawing/2014/main" id="{050EE5D5-A7F7-4F7D-9403-DE64DA7768C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22D866-E90D-42BD-AB9A-BC3BF8EB2BB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61</a:t>
            </a:r>
          </a:p>
        </p:txBody>
      </p:sp>
      <p:sp>
        <p:nvSpPr>
          <p:cNvPr id="5" name="">
            <a:extLst xmlns:a="http://schemas.openxmlformats.org/drawingml/2006/main">
              <a:ext uri="{FF2B5EF4-FFF2-40B4-BE49-F238E27FC236}">
                <a16:creationId xmlns:a16="http://schemas.microsoft.com/office/drawing/2014/main" id="{9CA4C41F-394B-47C8-8895-265F9A0603E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40D867-1D83-4ED2-A0FD-1FD127FF9A3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F1D6BE6-B7CA-47DA-83FE-629F52FE848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6C8F786-934F-4B48-8F10-0104A2C0937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2F69C9F-4A47-475C-A988-88247017576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09F8D7F-017C-4F6B-B5FF-F0C2A0A5714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C8E7E23-17A4-4F40-B3A2-262B7D315F45}"/>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BCAD860-D1FD-4510-9582-F8055C95EB5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553CC6E-5B29-489C-95AE-F2F36F55536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EC3B4B-E8F3-4EE1-B343-BA5666865FA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6C9DA23-E7D0-4FCF-8FE1-B9D0CB41FFE8}"/>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Arial"/>
                <a:ea typeface="Arial"/>
                <a:cs typeface="Arial"/>
              </a:defRPr>
            </a:pPr>
            <a:r>
              <a:rPr sz="2025" b="1" i="0">
                <a:solidFill>
                  <a:srgbClr val="5A4B6E"/>
                </a:solidFill>
                <a:latin typeface="Arial"/>
                <a:ea typeface="Arial"/>
                <a:cs typeface="Arial"/>
              </a:rPr>
              <a:t>Hidden-state readout</a:t>
            </a:r>
          </a:p>
        </p:txBody>
      </p:sp>
      <p:sp>
        <p:nvSpPr>
          <p:cNvPr id="16" name="">
            <a:extLst xmlns:a="http://schemas.openxmlformats.org/drawingml/2006/main">
              <a:ext uri="{FF2B5EF4-FFF2-40B4-BE49-F238E27FC236}">
                <a16:creationId xmlns:a16="http://schemas.microsoft.com/office/drawing/2014/main" id="{4FA6AAFC-7321-4120-A58E-2015544F6211}"/>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Text annotation</a:t>
            </a:r>
          </a:p>
        </p:txBody>
      </p:sp>
      <p:sp>
        <p:nvSpPr>
          <p:cNvPr id="17" name="">
            <a:extLst xmlns:a="http://schemas.openxmlformats.org/drawingml/2006/main">
              <a:ext uri="{FF2B5EF4-FFF2-40B4-BE49-F238E27FC236}">
                <a16:creationId xmlns:a16="http://schemas.microsoft.com/office/drawing/2014/main" id="{C5F58D24-CBA1-411A-8BBE-842EFC04F4C7}"/>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Continuous trajectory in a learned 12D space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Sensitive to information not explicitly verbalized</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Interpretation depends on the trained readout</a:t>
            </a:r>
          </a:p>
        </p:txBody>
      </p:sp>
      <p:sp>
        <p:nvSpPr>
          <p:cNvPr id="18" name="">
            <a:extLst xmlns:a="http://schemas.openxmlformats.org/drawingml/2006/main">
              <a:ext uri="{FF2B5EF4-FFF2-40B4-BE49-F238E27FC236}">
                <a16:creationId xmlns:a16="http://schemas.microsoft.com/office/drawing/2014/main" id="{E4967A47-3FDF-47BB-9993-B7F67ECDCC55}"/>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Discrete claims about attended variables and operations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Auditable against the original sentence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Incomplete and vulnerable to rationalization</a:t>
            </a:r>
          </a:p>
        </p:txBody>
      </p:sp>
      <p:sp>
        <p:nvSpPr>
          <p:cNvPr id="19" name="">
            <a:extLst xmlns:a="http://schemas.openxmlformats.org/drawingml/2006/main">
              <a:ext uri="{FF2B5EF4-FFF2-40B4-BE49-F238E27FC236}">
                <a16:creationId xmlns:a16="http://schemas.microsoft.com/office/drawing/2014/main" id="{7B0BB894-BDF2-4D6A-BDA4-C738A4D450DE}"/>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77571FB-EBBC-4BDF-A120-2323F390080E}"/>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Convergence strengthens a hypothesis; disagreement identifies the next control.</a:t>
            </a:r>
          </a:p>
        </p:txBody>
      </p:sp>
    </p:spTree>
    <p:extLst>
      <p:ext uri="{BB962C8B-B14F-4D97-AF65-F5344CB8AC3E}">
        <p14:creationId xmlns:p14="http://schemas.microsoft.com/office/powerpoint/2010/main" val="90074849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5987D65-06CB-4400-8EA8-15FA5834724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Annotations can nominate computational ingredients</a:t>
            </a:r>
          </a:p>
        </p:txBody>
      </p:sp>
      <p:sp>
        <p:nvSpPr>
          <p:cNvPr id="2" name="">
            <a:extLst xmlns:a="http://schemas.openxmlformats.org/drawingml/2006/main">
              <a:ext uri="{FF2B5EF4-FFF2-40B4-BE49-F238E27FC236}">
                <a16:creationId xmlns:a16="http://schemas.microsoft.com/office/drawing/2014/main" id="{FD86080F-07ED-4299-99F9-60FEDD898C8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optional bridge</a:t>
            </a:r>
          </a:p>
        </p:txBody>
      </p:sp>
      <p:sp>
        <p:nvSpPr>
          <p:cNvPr id="3" name="">
            <a:extLst xmlns:a="http://schemas.openxmlformats.org/drawingml/2006/main">
              <a:ext uri="{FF2B5EF4-FFF2-40B4-BE49-F238E27FC236}">
                <a16:creationId xmlns:a16="http://schemas.microsoft.com/office/drawing/2014/main" id="{DCAAA96F-5EE5-44BD-B5EB-403F9DC6974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25C4F39-0D7C-4A42-BEBF-1892917C6BA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62</a:t>
            </a:r>
          </a:p>
        </p:txBody>
      </p:sp>
      <p:sp>
        <p:nvSpPr>
          <p:cNvPr id="5" name="">
            <a:extLst xmlns:a="http://schemas.openxmlformats.org/drawingml/2006/main">
              <a:ext uri="{FF2B5EF4-FFF2-40B4-BE49-F238E27FC236}">
                <a16:creationId xmlns:a16="http://schemas.microsoft.com/office/drawing/2014/main" id="{43409119-7DAE-4BD5-B80E-9CE0DA0E42A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5302747-B647-486D-8534-BEE08BCF159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6D681C4-1051-4171-90AA-5F117BC2289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D1ABB78-7138-4834-93A7-89D855530E6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BDD78A1-6B74-4F96-8E0D-5BD6F9D9309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0A1AD3-CDFB-433D-97CB-86CEBA00685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51FEE3B-05DC-446F-B6B1-E766D35E05D5}"/>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9926641-EC1D-4DFB-BF5A-2C4F7555DF4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F5A94F9-D77D-4D2B-80C5-18BA2F9A6C8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F0904B9-8BEA-4071-BFD7-CCC4C32571F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18B6504-4488-47E8-AF64-FEA0C41FE60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Restricted candidate specification</a:t>
            </a:r>
          </a:p>
        </p:txBody>
      </p:sp>
      <p:sp>
        <p:nvSpPr>
          <p:cNvPr id="16" name="">
            <a:extLst xmlns:a="http://schemas.openxmlformats.org/drawingml/2006/main">
              <a:ext uri="{FF2B5EF4-FFF2-40B4-BE49-F238E27FC236}">
                <a16:creationId xmlns:a16="http://schemas.microsoft.com/office/drawing/2014/main" id="{9680137E-6B9B-47C1-82B0-4B5C7CF2B692}"/>
              </a:ext>
            </a:extLst>
          </p:cNvPr>
          <p:cNvSpPr>
            <a:spLocks xmlns:a="http://schemas.openxmlformats.org/drawingml/2006/main" noGrp="1"/>
          </p:cNvSpPr>
          <p:nvPr/>
        </p:nvSpPr>
        <p:spPr>
          <a:xfrm xmlns:a="http://schemas.openxmlformats.org/drawingml/2006/main">
            <a:off x="800100" y="20955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Observed annotations</a:t>
            </a:r>
          </a:p>
        </p:txBody>
      </p:sp>
      <p:sp>
        <p:nvSpPr>
          <p:cNvPr id="17" name="">
            <a:extLst xmlns:a="http://schemas.openxmlformats.org/drawingml/2006/main">
              <a:ext uri="{FF2B5EF4-FFF2-40B4-BE49-F238E27FC236}">
                <a16:creationId xmlns:a16="http://schemas.microsoft.com/office/drawing/2014/main" id="{4D39C28A-A1E3-43E3-8B61-6CB597065A9A}"/>
              </a:ext>
            </a:extLst>
          </p:cNvPr>
          <p:cNvSpPr>
            <a:spLocks xmlns:a="http://schemas.openxmlformats.org/drawingml/2006/main" noGrp="1"/>
          </p:cNvSpPr>
          <p:nvPr/>
        </p:nvSpPr>
        <p:spPr>
          <a:xfrm xmlns:a="http://schemas.openxmlformats.org/drawingml/2006/main">
            <a:off x="952500" y="27051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expected value</a:t>
            </a:r>
          </a:p>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downside / minimum outcome</a:t>
            </a:r>
          </a:p>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certainty threshold</a:t>
            </a:r>
          </a:p>
        </p:txBody>
      </p:sp>
      <p:sp>
        <p:nvSpPr>
          <p:cNvPr id="18" name="">
            <a:extLst xmlns:a="http://schemas.openxmlformats.org/drawingml/2006/main">
              <a:ext uri="{FF2B5EF4-FFF2-40B4-BE49-F238E27FC236}">
                <a16:creationId xmlns:a16="http://schemas.microsoft.com/office/drawing/2014/main" id="{B42CF8DB-3657-47C2-8421-F52A08A063AB}"/>
              </a:ext>
            </a:extLst>
          </p:cNvPr>
          <p:cNvSpPr>
            <a:spLocks xmlns:a="http://schemas.openxmlformats.org/drawingml/2006/main" noGrp="1"/>
          </p:cNvSpPr>
          <p:nvPr/>
        </p:nvSpPr>
        <p:spPr>
          <a:xfrm xmlns:a="http://schemas.openxmlformats.org/drawingml/2006/main">
            <a:off x="4705350" y="3362325"/>
            <a:ext cx="5905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46B19CC-7721-45C7-9D61-CE0969F0E1B1}"/>
              </a:ext>
            </a:extLst>
          </p:cNvPr>
          <p:cNvSpPr>
            <a:spLocks xmlns:a="http://schemas.openxmlformats.org/drawingml/2006/main" noGrp="1"/>
          </p:cNvSpPr>
          <p:nvPr/>
        </p:nvSpPr>
        <p:spPr>
          <a:xfrm xmlns:a="http://schemas.openxmlformats.org/drawingml/2006/main">
            <a:off x="5772150" y="20955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Approved specification</a:t>
            </a:r>
          </a:p>
        </p:txBody>
      </p:sp>
      <p:sp>
        <p:nvSpPr>
          <p:cNvPr id="20" name="">
            <a:extLst xmlns:a="http://schemas.openxmlformats.org/drawingml/2006/main">
              <a:ext uri="{FF2B5EF4-FFF2-40B4-BE49-F238E27FC236}">
                <a16:creationId xmlns:a16="http://schemas.microsoft.com/office/drawing/2014/main" id="{E181D01B-D41F-4987-AE29-C95F2B13DA07}"/>
              </a:ext>
            </a:extLst>
          </p:cNvPr>
          <p:cNvSpPr>
            <a:spLocks xmlns:a="http://schemas.openxmlformats.org/drawingml/2006/main" noGrp="1"/>
          </p:cNvSpPr>
          <p:nvPr/>
        </p:nvSpPr>
        <p:spPr>
          <a:xfrm xmlns:a="http://schemas.openxmlformats.org/drawingml/2006/main">
            <a:off x="5772150" y="2667000"/>
            <a:ext cx="5143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"rule": "downside_threshold_then_EV",</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"features": ["worst_diff", "ev_diff"],</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"parameters": ["threshold", "sensitivity"]</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a:t>
            </a:r>
          </a:p>
        </p:txBody>
      </p:sp>
      <p:sp>
        <p:nvSpPr>
          <p:cNvPr id="21" name="">
            <a:extLst xmlns:a="http://schemas.openxmlformats.org/drawingml/2006/main">
              <a:ext uri="{FF2B5EF4-FFF2-40B4-BE49-F238E27FC236}">
                <a16:creationId xmlns:a16="http://schemas.microsoft.com/office/drawing/2014/main" id="{F0155A45-323D-4687-BDC8-9BCD11F2BD4C}"/>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AF5EB7D-DC47-41CD-BA51-7E81B1FC2F14}"/>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optional constraint did not win: balanced accuracy 0.555 versus 0.609 for EV-only.</a:t>
            </a:r>
          </a:p>
        </p:txBody>
      </p:sp>
    </p:spTree>
    <p:extLst>
      <p:ext uri="{BB962C8B-B14F-4D97-AF65-F5344CB8AC3E}">
        <p14:creationId xmlns:p14="http://schemas.microsoft.com/office/powerpoint/2010/main" val="101867916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FCC22C38-4F61-423D-A0C2-4349B9C8BCA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Process annotations predict choice, but simple fusion does not help</a:t>
            </a:r>
          </a:p>
        </p:txBody>
      </p:sp>
      <p:sp>
        <p:nvSpPr>
          <p:cNvPr id="2" name="">
            <a:extLst xmlns:a="http://schemas.openxmlformats.org/drawingml/2006/main">
              <a:ext uri="{FF2B5EF4-FFF2-40B4-BE49-F238E27FC236}">
                <a16:creationId xmlns:a16="http://schemas.microsoft.com/office/drawing/2014/main" id="{8C2B8081-D168-4C73-A5D4-2A5809D59D9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evaluation</a:t>
            </a:r>
          </a:p>
        </p:txBody>
      </p:sp>
      <p:sp>
        <p:nvSpPr>
          <p:cNvPr id="3" name="">
            <a:extLst xmlns:a="http://schemas.openxmlformats.org/drawingml/2006/main">
              <a:ext uri="{FF2B5EF4-FFF2-40B4-BE49-F238E27FC236}">
                <a16:creationId xmlns:a16="http://schemas.microsoft.com/office/drawing/2014/main" id="{426AFEF9-3A29-4DE9-8D19-43CEE99CE12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8126FF-2D47-4939-886F-CCB2F370867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63</a:t>
            </a:r>
          </a:p>
        </p:txBody>
      </p:sp>
      <p:sp>
        <p:nvSpPr>
          <p:cNvPr id="5" name="">
            <a:extLst xmlns:a="http://schemas.openxmlformats.org/drawingml/2006/main">
              <a:ext uri="{FF2B5EF4-FFF2-40B4-BE49-F238E27FC236}">
                <a16:creationId xmlns:a16="http://schemas.microsoft.com/office/drawing/2014/main" id="{4415C071-BE18-4C4F-9D34-45D387472D0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8AB280E-0050-48D0-A43C-8EDFC6CFB5E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4B7F4F6-C6D2-4F05-9B6C-502983EAF07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DA40C0-1880-4486-A426-880401C05AD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F65F3DC-ED34-4314-920C-757A88644F58}"/>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8D1C65E-E5B6-42A8-B36A-B6698C082C5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7101A95-D7BD-42FC-AB2E-74FCA8F14D45}"/>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7E4690E-7532-4461-AED9-78EA726326C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EE57733-827D-4031-9DE1-D91E9B14F70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021C1CE-2F98-4E0D-8784-B8AB0B244C0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029E830-9A8E-4ABB-AA27-2F1D3CE4818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transparent lexical baseline; API annotation not used</a:t>
            </a:r>
          </a:p>
        </p:txBody>
      </p:sp>
      <p:sp>
        <p:nvSpPr>
          <p:cNvPr id="16" name="">
            <a:extLst xmlns:a="http://schemas.openxmlformats.org/drawingml/2006/main">
              <a:ext uri="{FF2B5EF4-FFF2-40B4-BE49-F238E27FC236}">
                <a16:creationId xmlns:a16="http://schemas.microsoft.com/office/drawing/2014/main" id="{DCC89B66-39DF-477D-AD64-B241C8ED8392}"/>
              </a:ext>
            </a:extLst>
          </p:cNvPr>
          <p:cNvSpPr>
            <a:spLocks xmlns:a="http://schemas.openxmlformats.org/drawingml/2006/main" noGrp="1"/>
          </p:cNvSpPr>
          <p:nvPr/>
        </p:nvSpPr>
        <p:spPr>
          <a:xfrm xmlns:a="http://schemas.openxmlformats.org/drawingml/2006/main">
            <a:off x="800100" y="20764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Input to the readout</a:t>
            </a:r>
          </a:p>
        </p:txBody>
      </p:sp>
      <p:sp>
        <p:nvSpPr>
          <p:cNvPr id="17" name="">
            <a:extLst xmlns:a="http://schemas.openxmlformats.org/drawingml/2006/main">
              <a:ext uri="{FF2B5EF4-FFF2-40B4-BE49-F238E27FC236}">
                <a16:creationId xmlns:a16="http://schemas.microsoft.com/office/drawing/2014/main" id="{DB5A45A6-04EF-42BE-BD36-6B9F3BA48F5B}"/>
              </a:ext>
            </a:extLst>
          </p:cNvPr>
          <p:cNvSpPr>
            <a:spLocks xmlns:a="http://schemas.openxmlformats.org/drawingml/2006/main" noGrp="1"/>
          </p:cNvSpPr>
          <p:nvPr/>
        </p:nvSpPr>
        <p:spPr>
          <a:xfrm xmlns:a="http://schemas.openxmlformats.org/drawingml/2006/main">
            <a:off x="6419850" y="2076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Balanced accuracy</a:t>
            </a:r>
          </a:p>
        </p:txBody>
      </p:sp>
      <p:sp>
        <p:nvSpPr>
          <p:cNvPr id="18" name="">
            <a:extLst xmlns:a="http://schemas.openxmlformats.org/drawingml/2006/main">
              <a:ext uri="{FF2B5EF4-FFF2-40B4-BE49-F238E27FC236}">
                <a16:creationId xmlns:a16="http://schemas.microsoft.com/office/drawing/2014/main" id="{FD461E0B-7ACE-4443-A19E-10FCDEDDF902}"/>
              </a:ext>
            </a:extLst>
          </p:cNvPr>
          <p:cNvSpPr>
            <a:spLocks xmlns:a="http://schemas.openxmlformats.org/drawingml/2006/main" noGrp="1"/>
          </p:cNvSpPr>
          <p:nvPr/>
        </p:nvSpPr>
        <p:spPr>
          <a:xfrm xmlns:a="http://schemas.openxmlformats.org/drawingml/2006/main">
            <a:off x="9105900" y="2076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Log loss</a:t>
            </a:r>
          </a:p>
        </p:txBody>
      </p:sp>
      <p:sp>
        <p:nvSpPr>
          <p:cNvPr id="19" name="">
            <a:extLst xmlns:a="http://schemas.openxmlformats.org/drawingml/2006/main">
              <a:ext uri="{FF2B5EF4-FFF2-40B4-BE49-F238E27FC236}">
                <a16:creationId xmlns:a16="http://schemas.microsoft.com/office/drawing/2014/main" id="{53A5831B-1E2F-481C-B33B-2EC8E4FD4CE2}"/>
              </a:ext>
            </a:extLst>
          </p:cNvPr>
          <p:cNvSpPr>
            <a:spLocks xmlns:a="http://schemas.openxmlformats.org/drawingml/2006/main" noGrp="1"/>
          </p:cNvSpPr>
          <p:nvPr/>
        </p:nvSpPr>
        <p:spPr>
          <a:xfrm xmlns:a="http://schemas.openxmlformats.org/drawingml/2006/main">
            <a:off x="800100" y="27241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i="0">
                <a:solidFill>
                  <a:srgbClr val="667085"/>
                </a:solidFill>
                <a:latin typeface="Arial"/>
                <a:ea typeface="Arial"/>
                <a:cs typeface="Arial"/>
              </a:defRPr>
            </a:pPr>
            <a:r>
              <a:rPr sz="1800" b="0" i="0">
                <a:solidFill>
                  <a:srgbClr val="667085"/>
                </a:solidFill>
                <a:latin typeface="Arial"/>
                <a:ea typeface="Arial"/>
                <a:cs typeface="Arial"/>
              </a:rPr>
              <a:t>Option features only</a:t>
            </a:r>
          </a:p>
        </p:txBody>
      </p:sp>
      <p:sp>
        <p:nvSpPr>
          <p:cNvPr id="20" name="">
            <a:extLst xmlns:a="http://schemas.openxmlformats.org/drawingml/2006/main">
              <a:ext uri="{FF2B5EF4-FFF2-40B4-BE49-F238E27FC236}">
                <a16:creationId xmlns:a16="http://schemas.microsoft.com/office/drawing/2014/main" id="{E176EA2D-B1B9-41B2-A15A-7F5EB15B18AE}"/>
              </a:ext>
            </a:extLst>
          </p:cNvPr>
          <p:cNvSpPr>
            <a:spLocks xmlns:a="http://schemas.openxmlformats.org/drawingml/2006/main" noGrp="1"/>
          </p:cNvSpPr>
          <p:nvPr/>
        </p:nvSpPr>
        <p:spPr>
          <a:xfrm xmlns:a="http://schemas.openxmlformats.org/drawingml/2006/main">
            <a:off x="6419850" y="270510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667085"/>
                </a:solidFill>
                <a:latin typeface="Arial"/>
                <a:ea typeface="Arial"/>
                <a:cs typeface="Arial"/>
              </a:defRPr>
            </a:pPr>
            <a:r>
              <a:rPr sz="1950" b="1" i="0">
                <a:solidFill>
                  <a:srgbClr val="667085"/>
                </a:solidFill>
                <a:latin typeface="Arial"/>
                <a:ea typeface="Arial"/>
                <a:cs typeface="Arial"/>
              </a:rPr>
              <a:t>0.529</a:t>
            </a:r>
          </a:p>
        </p:txBody>
      </p:sp>
      <p:sp>
        <p:nvSpPr>
          <p:cNvPr id="21" name="">
            <a:extLst xmlns:a="http://schemas.openxmlformats.org/drawingml/2006/main">
              <a:ext uri="{FF2B5EF4-FFF2-40B4-BE49-F238E27FC236}">
                <a16:creationId xmlns:a16="http://schemas.microsoft.com/office/drawing/2014/main" id="{F65D50B8-9110-446F-8848-6928684DC849}"/>
              </a:ext>
            </a:extLst>
          </p:cNvPr>
          <p:cNvSpPr>
            <a:spLocks xmlns:a="http://schemas.openxmlformats.org/drawingml/2006/main" noGrp="1"/>
          </p:cNvSpPr>
          <p:nvPr/>
        </p:nvSpPr>
        <p:spPr>
          <a:xfrm xmlns:a="http://schemas.openxmlformats.org/drawingml/2006/main">
            <a:off x="9105900" y="27051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667085"/>
                </a:solidFill>
                <a:latin typeface="Arial"/>
                <a:ea typeface="Arial"/>
                <a:cs typeface="Arial"/>
              </a:defRPr>
            </a:pPr>
            <a:r>
              <a:rPr sz="1950" b="1" i="0">
                <a:solidFill>
                  <a:srgbClr val="667085"/>
                </a:solidFill>
                <a:latin typeface="Arial"/>
                <a:ea typeface="Arial"/>
                <a:cs typeface="Arial"/>
              </a:rPr>
              <a:t>0.738</a:t>
            </a:r>
          </a:p>
        </p:txBody>
      </p:sp>
      <p:sp>
        <p:nvSpPr>
          <p:cNvPr id="22" name="">
            <a:extLst xmlns:a="http://schemas.openxmlformats.org/drawingml/2006/main">
              <a:ext uri="{FF2B5EF4-FFF2-40B4-BE49-F238E27FC236}">
                <a16:creationId xmlns:a16="http://schemas.microsoft.com/office/drawing/2014/main" id="{E92A0607-CFFA-401B-8944-F0D14C222133}"/>
              </a:ext>
            </a:extLst>
          </p:cNvPr>
          <p:cNvSpPr>
            <a:spLocks xmlns:a="http://schemas.openxmlformats.org/drawingml/2006/main" noGrp="1"/>
          </p:cNvSpPr>
          <p:nvPr/>
        </p:nvSpPr>
        <p:spPr>
          <a:xfrm xmlns:a="http://schemas.openxmlformats.org/drawingml/2006/main">
            <a:off x="800100" y="325755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DEECF54-E604-4BB2-9D92-D31BC9AF3093}"/>
              </a:ext>
            </a:extLst>
          </p:cNvPr>
          <p:cNvSpPr>
            <a:spLocks xmlns:a="http://schemas.openxmlformats.org/drawingml/2006/main" noGrp="1"/>
          </p:cNvSpPr>
          <p:nvPr/>
        </p:nvSpPr>
        <p:spPr>
          <a:xfrm xmlns:a="http://schemas.openxmlformats.org/drawingml/2006/main">
            <a:off x="800100" y="35433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Preference-free annotation profile</a:t>
            </a:r>
          </a:p>
        </p:txBody>
      </p:sp>
      <p:sp>
        <p:nvSpPr>
          <p:cNvPr id="24" name="">
            <a:extLst xmlns:a="http://schemas.openxmlformats.org/drawingml/2006/main">
              <a:ext uri="{FF2B5EF4-FFF2-40B4-BE49-F238E27FC236}">
                <a16:creationId xmlns:a16="http://schemas.microsoft.com/office/drawing/2014/main" id="{01AFBF87-AE86-46E6-B6CE-EE0A7FAFE614}"/>
              </a:ext>
            </a:extLst>
          </p:cNvPr>
          <p:cNvSpPr>
            <a:spLocks xmlns:a="http://schemas.openxmlformats.org/drawingml/2006/main" noGrp="1"/>
          </p:cNvSpPr>
          <p:nvPr/>
        </p:nvSpPr>
        <p:spPr>
          <a:xfrm xmlns:a="http://schemas.openxmlformats.org/drawingml/2006/main">
            <a:off x="6419850" y="35242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E70"/>
                </a:solidFill>
                <a:latin typeface="Arial"/>
                <a:ea typeface="Arial"/>
                <a:cs typeface="Arial"/>
              </a:defRPr>
            </a:pPr>
            <a:r>
              <a:rPr sz="1950" b="1" i="0">
                <a:solidFill>
                  <a:srgbClr val="234E70"/>
                </a:solidFill>
                <a:latin typeface="Arial"/>
                <a:ea typeface="Arial"/>
                <a:cs typeface="Arial"/>
              </a:rPr>
              <a:t>0.619</a:t>
            </a:r>
          </a:p>
        </p:txBody>
      </p:sp>
      <p:sp>
        <p:nvSpPr>
          <p:cNvPr id="25" name="">
            <a:extLst xmlns:a="http://schemas.openxmlformats.org/drawingml/2006/main">
              <a:ext uri="{FF2B5EF4-FFF2-40B4-BE49-F238E27FC236}">
                <a16:creationId xmlns:a16="http://schemas.microsoft.com/office/drawing/2014/main" id="{0B88927F-11B5-4AF9-852A-FD8E711A2C9B}"/>
              </a:ext>
            </a:extLst>
          </p:cNvPr>
          <p:cNvSpPr>
            <a:spLocks xmlns:a="http://schemas.openxmlformats.org/drawingml/2006/main" noGrp="1"/>
          </p:cNvSpPr>
          <p:nvPr/>
        </p:nvSpPr>
        <p:spPr>
          <a:xfrm xmlns:a="http://schemas.openxmlformats.org/drawingml/2006/main">
            <a:off x="9105900" y="35242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234E70"/>
                </a:solidFill>
                <a:latin typeface="Arial"/>
                <a:ea typeface="Arial"/>
                <a:cs typeface="Arial"/>
              </a:defRPr>
            </a:pPr>
            <a:r>
              <a:rPr sz="1950" b="1" i="0">
                <a:solidFill>
                  <a:srgbClr val="234E70"/>
                </a:solidFill>
                <a:latin typeface="Arial"/>
                <a:ea typeface="Arial"/>
                <a:cs typeface="Arial"/>
              </a:rPr>
              <a:t>0.673</a:t>
            </a:r>
          </a:p>
        </p:txBody>
      </p:sp>
      <p:sp>
        <p:nvSpPr>
          <p:cNvPr id="26" name="">
            <a:extLst xmlns:a="http://schemas.openxmlformats.org/drawingml/2006/main">
              <a:ext uri="{FF2B5EF4-FFF2-40B4-BE49-F238E27FC236}">
                <a16:creationId xmlns:a16="http://schemas.microsoft.com/office/drawing/2014/main" id="{66280E6B-2A60-4DCF-94E9-1342AD32CBFC}"/>
              </a:ext>
            </a:extLst>
          </p:cNvPr>
          <p:cNvSpPr>
            <a:spLocks xmlns:a="http://schemas.openxmlformats.org/drawingml/2006/main" noGrp="1"/>
          </p:cNvSpPr>
          <p:nvPr/>
        </p:nvSpPr>
        <p:spPr>
          <a:xfrm xmlns:a="http://schemas.openxmlformats.org/drawingml/2006/main">
            <a:off x="800100" y="407670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E0AB679-CF55-4BDC-AD61-9B954E929D7B}"/>
              </a:ext>
            </a:extLst>
          </p:cNvPr>
          <p:cNvSpPr>
            <a:spLocks xmlns:a="http://schemas.openxmlformats.org/drawingml/2006/main" noGrp="1"/>
          </p:cNvSpPr>
          <p:nvPr/>
        </p:nvSpPr>
        <p:spPr>
          <a:xfrm xmlns:a="http://schemas.openxmlformats.org/drawingml/2006/main">
            <a:off x="800100" y="43624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0" i="0">
                <a:solidFill>
                  <a:srgbClr val="5A4B6E"/>
                </a:solidFill>
                <a:latin typeface="Arial"/>
                <a:ea typeface="Arial"/>
                <a:cs typeface="Arial"/>
              </a:defRPr>
            </a:pPr>
            <a:r>
              <a:rPr sz="1800" b="0" i="0">
                <a:solidFill>
                  <a:srgbClr val="5A4B6E"/>
                </a:solidFill>
                <a:latin typeface="Arial"/>
                <a:ea typeface="Arial"/>
                <a:cs typeface="Arial"/>
              </a:rPr>
              <a:t>Options + annotation</a:t>
            </a:r>
          </a:p>
        </p:txBody>
      </p:sp>
      <p:sp>
        <p:nvSpPr>
          <p:cNvPr id="28" name="">
            <a:extLst xmlns:a="http://schemas.openxmlformats.org/drawingml/2006/main">
              <a:ext uri="{FF2B5EF4-FFF2-40B4-BE49-F238E27FC236}">
                <a16:creationId xmlns:a16="http://schemas.microsoft.com/office/drawing/2014/main" id="{D1891FC9-557C-4414-8DE9-BC8EF6B33BEB}"/>
              </a:ext>
            </a:extLst>
          </p:cNvPr>
          <p:cNvSpPr>
            <a:spLocks xmlns:a="http://schemas.openxmlformats.org/drawingml/2006/main" noGrp="1"/>
          </p:cNvSpPr>
          <p:nvPr/>
        </p:nvSpPr>
        <p:spPr>
          <a:xfrm xmlns:a="http://schemas.openxmlformats.org/drawingml/2006/main">
            <a:off x="6419850" y="434340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5A4B6E"/>
                </a:solidFill>
                <a:latin typeface="Arial"/>
                <a:ea typeface="Arial"/>
                <a:cs typeface="Arial"/>
              </a:defRPr>
            </a:pPr>
            <a:r>
              <a:rPr sz="1950" b="1" i="0">
                <a:solidFill>
                  <a:srgbClr val="5A4B6E"/>
                </a:solidFill>
                <a:latin typeface="Arial"/>
                <a:ea typeface="Arial"/>
                <a:cs typeface="Arial"/>
              </a:rPr>
              <a:t>0.587</a:t>
            </a:r>
          </a:p>
        </p:txBody>
      </p:sp>
      <p:sp>
        <p:nvSpPr>
          <p:cNvPr id="29" name="">
            <a:extLst xmlns:a="http://schemas.openxmlformats.org/drawingml/2006/main">
              <a:ext uri="{FF2B5EF4-FFF2-40B4-BE49-F238E27FC236}">
                <a16:creationId xmlns:a16="http://schemas.microsoft.com/office/drawing/2014/main" id="{827490E7-A4AF-42F2-8EC2-AE4D96897634}"/>
              </a:ext>
            </a:extLst>
          </p:cNvPr>
          <p:cNvSpPr>
            <a:spLocks xmlns:a="http://schemas.openxmlformats.org/drawingml/2006/main" noGrp="1"/>
          </p:cNvSpPr>
          <p:nvPr/>
        </p:nvSpPr>
        <p:spPr>
          <a:xfrm xmlns:a="http://schemas.openxmlformats.org/drawingml/2006/main">
            <a:off x="9105900" y="43434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950" b="1" i="0">
                <a:solidFill>
                  <a:srgbClr val="5A4B6E"/>
                </a:solidFill>
                <a:latin typeface="Arial"/>
                <a:ea typeface="Arial"/>
                <a:cs typeface="Arial"/>
              </a:defRPr>
            </a:pPr>
            <a:r>
              <a:rPr sz="1950" b="1" i="0">
                <a:solidFill>
                  <a:srgbClr val="5A4B6E"/>
                </a:solidFill>
                <a:latin typeface="Arial"/>
                <a:ea typeface="Arial"/>
                <a:cs typeface="Arial"/>
              </a:rPr>
              <a:t>0.720</a:t>
            </a:r>
          </a:p>
        </p:txBody>
      </p:sp>
      <p:sp>
        <p:nvSpPr>
          <p:cNvPr id="30" name="">
            <a:extLst xmlns:a="http://schemas.openxmlformats.org/drawingml/2006/main">
              <a:ext uri="{FF2B5EF4-FFF2-40B4-BE49-F238E27FC236}">
                <a16:creationId xmlns:a16="http://schemas.microsoft.com/office/drawing/2014/main" id="{0ACFF987-A72A-403A-8785-9F2E4D1B2A70}"/>
              </a:ext>
            </a:extLst>
          </p:cNvPr>
          <p:cNvSpPr>
            <a:spLocks xmlns:a="http://schemas.openxmlformats.org/drawingml/2006/main" noGrp="1"/>
          </p:cNvSpPr>
          <p:nvPr/>
        </p:nvSpPr>
        <p:spPr>
          <a:xfrm xmlns:a="http://schemas.openxmlformats.org/drawingml/2006/main">
            <a:off x="800100" y="489585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E7BD837-B600-4890-BD07-45CFD2AE5A6F}"/>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D812B554-250B-4000-A161-83903D336990}"/>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text contains behavioral information; concatenating two channels is not automatically better.</a:t>
            </a:r>
          </a:p>
        </p:txBody>
      </p:sp>
    </p:spTree>
    <p:extLst>
      <p:ext uri="{BB962C8B-B14F-4D97-AF65-F5344CB8AC3E}">
        <p14:creationId xmlns:p14="http://schemas.microsoft.com/office/powerpoint/2010/main" val="891004535"/>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0C764856-9480-453F-AEEF-B317F0AF124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Model discovery is a separate search problem</a:t>
            </a:r>
          </a:p>
        </p:txBody>
      </p:sp>
      <p:sp>
        <p:nvSpPr>
          <p:cNvPr id="2" name="">
            <a:extLst xmlns:a="http://schemas.openxmlformats.org/drawingml/2006/main">
              <a:ext uri="{FF2B5EF4-FFF2-40B4-BE49-F238E27FC236}">
                <a16:creationId xmlns:a16="http://schemas.microsoft.com/office/drawing/2014/main" id="{46C0E47A-8D99-4315-9502-C5131A67983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boundary</a:t>
            </a:r>
          </a:p>
        </p:txBody>
      </p:sp>
      <p:sp>
        <p:nvSpPr>
          <p:cNvPr id="3" name="">
            <a:extLst xmlns:a="http://schemas.openxmlformats.org/drawingml/2006/main">
              <a:ext uri="{FF2B5EF4-FFF2-40B4-BE49-F238E27FC236}">
                <a16:creationId xmlns:a16="http://schemas.microsoft.com/office/drawing/2014/main" id="{51ED6CC3-8E17-4282-A8AE-5D009FAD1A8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F1F4E0B-B8AC-43AE-9A19-6E05C638959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64</a:t>
            </a:r>
          </a:p>
        </p:txBody>
      </p:sp>
      <p:sp>
        <p:nvSpPr>
          <p:cNvPr id="5" name="">
            <a:extLst xmlns:a="http://schemas.openxmlformats.org/drawingml/2006/main">
              <a:ext uri="{FF2B5EF4-FFF2-40B4-BE49-F238E27FC236}">
                <a16:creationId xmlns:a16="http://schemas.microsoft.com/office/drawing/2014/main" id="{F577B99A-6C19-447F-BF03-BFE9C9F6206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DF3E0E6-3263-4022-A343-BD334C53118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8A8C7FC-ADC8-4C57-BA35-7BCC09FE8E2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E7257B-2EC4-43F4-8DDC-F385BDE994A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6F4BEE7-3BBB-45AB-8346-01D2295176E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A58E6FF-C9AC-423F-B7F3-6EA2AA4BCFD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50446D3-F793-4139-8BE8-F7CE06613D3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A8E16CF-C05D-41AE-88FC-1F31502FB40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497C519-A1AD-4950-B5F5-B9D10E43A11F}"/>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D3C1632-C9E9-4A10-A99D-FDF178C29F0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41D619D-5E91-4631-9EDB-ED83341F66B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Annotation is one optional input</a:t>
            </a:r>
          </a:p>
        </p:txBody>
      </p:sp>
      <p:sp>
        <p:nvSpPr>
          <p:cNvPr id="16" name="">
            <a:extLst xmlns:a="http://schemas.openxmlformats.org/drawingml/2006/main">
              <a:ext uri="{FF2B5EF4-FFF2-40B4-BE49-F238E27FC236}">
                <a16:creationId xmlns:a16="http://schemas.microsoft.com/office/drawing/2014/main" id="{89531EF4-782E-4644-ACC3-3674303562C8}"/>
              </a:ext>
            </a:extLst>
          </p:cNvPr>
          <p:cNvSpPr>
            <a:spLocks xmlns:a="http://schemas.openxmlformats.org/drawingml/2006/main" noGrp="1"/>
          </p:cNvSpPr>
          <p:nvPr/>
        </p:nvSpPr>
        <p:spPr>
          <a:xfrm xmlns:a="http://schemas.openxmlformats.org/drawingml/2006/main">
            <a:off x="800100" y="19621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Explanation / annotation</a:t>
            </a:r>
          </a:p>
        </p:txBody>
      </p:sp>
      <p:sp>
        <p:nvSpPr>
          <p:cNvPr id="17" name="">
            <a:extLst xmlns:a="http://schemas.openxmlformats.org/drawingml/2006/main">
              <a:ext uri="{FF2B5EF4-FFF2-40B4-BE49-F238E27FC236}">
                <a16:creationId xmlns:a16="http://schemas.microsoft.com/office/drawing/2014/main" id="{D47467D3-B2A7-452A-A3DF-63876982EEF3}"/>
              </a:ext>
            </a:extLst>
          </p:cNvPr>
          <p:cNvSpPr>
            <a:spLocks xmlns:a="http://schemas.openxmlformats.org/drawingml/2006/main" noGrp="1"/>
          </p:cNvSpPr>
          <p:nvPr/>
        </p:nvSpPr>
        <p:spPr>
          <a:xfrm xmlns:a="http://schemas.openxmlformats.org/drawingml/2006/main">
            <a:off x="800100" y="24765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Question</a:t>
            </a:r>
          </a:p>
        </p:txBody>
      </p:sp>
      <p:sp>
        <p:nvSpPr>
          <p:cNvPr id="18" name="">
            <a:extLst xmlns:a="http://schemas.openxmlformats.org/drawingml/2006/main">
              <a:ext uri="{FF2B5EF4-FFF2-40B4-BE49-F238E27FC236}">
                <a16:creationId xmlns:a16="http://schemas.microsoft.com/office/drawing/2014/main" id="{1F0C01DB-43EB-475A-B227-D97C374A0625}"/>
              </a:ext>
            </a:extLst>
          </p:cNvPr>
          <p:cNvSpPr>
            <a:spLocks xmlns:a="http://schemas.openxmlformats.org/drawingml/2006/main" noGrp="1"/>
          </p:cNvSpPr>
          <p:nvPr/>
        </p:nvSpPr>
        <p:spPr>
          <a:xfrm xmlns:a="http://schemas.openxmlformats.org/drawingml/2006/main">
            <a:off x="2076450" y="24384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What information or operation appears in a report?</a:t>
            </a:r>
          </a:p>
        </p:txBody>
      </p:sp>
      <p:sp>
        <p:nvSpPr>
          <p:cNvPr id="19" name="">
            <a:extLst xmlns:a="http://schemas.openxmlformats.org/drawingml/2006/main">
              <a:ext uri="{FF2B5EF4-FFF2-40B4-BE49-F238E27FC236}">
                <a16:creationId xmlns:a16="http://schemas.microsoft.com/office/drawing/2014/main" id="{2FB5D820-3403-40FC-8C64-494677ACED15}"/>
              </a:ext>
            </a:extLst>
          </p:cNvPr>
          <p:cNvSpPr>
            <a:spLocks xmlns:a="http://schemas.openxmlformats.org/drawingml/2006/main" noGrp="1"/>
          </p:cNvSpPr>
          <p:nvPr/>
        </p:nvSpPr>
        <p:spPr>
          <a:xfrm xmlns:a="http://schemas.openxmlformats.org/drawingml/2006/main">
            <a:off x="800100" y="32956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Output</a:t>
            </a:r>
          </a:p>
        </p:txBody>
      </p:sp>
      <p:sp>
        <p:nvSpPr>
          <p:cNvPr id="20" name="">
            <a:extLst xmlns:a="http://schemas.openxmlformats.org/drawingml/2006/main">
              <a:ext uri="{FF2B5EF4-FFF2-40B4-BE49-F238E27FC236}">
                <a16:creationId xmlns:a16="http://schemas.microsoft.com/office/drawing/2014/main" id="{5387F02F-D1EB-4FB0-A6F4-6EFE86E41C1A}"/>
              </a:ext>
            </a:extLst>
          </p:cNvPr>
          <p:cNvSpPr>
            <a:spLocks xmlns:a="http://schemas.openxmlformats.org/drawingml/2006/main" noGrp="1"/>
          </p:cNvSpPr>
          <p:nvPr/>
        </p:nvSpPr>
        <p:spPr>
          <a:xfrm xmlns:a="http://schemas.openxmlformats.org/drawingml/2006/main">
            <a:off x="2076450" y="32575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Validated observation variables</a:t>
            </a:r>
          </a:p>
        </p:txBody>
      </p:sp>
      <p:sp>
        <p:nvSpPr>
          <p:cNvPr id="21" name="">
            <a:extLst xmlns:a="http://schemas.openxmlformats.org/drawingml/2006/main">
              <a:ext uri="{FF2B5EF4-FFF2-40B4-BE49-F238E27FC236}">
                <a16:creationId xmlns:a16="http://schemas.microsoft.com/office/drawing/2014/main" id="{39A04E96-CB4B-4983-9062-C2150D8972A9}"/>
              </a:ext>
            </a:extLst>
          </p:cNvPr>
          <p:cNvSpPr>
            <a:spLocks xmlns:a="http://schemas.openxmlformats.org/drawingml/2006/main" noGrp="1"/>
          </p:cNvSpPr>
          <p:nvPr/>
        </p:nvSpPr>
        <p:spPr>
          <a:xfrm xmlns:a="http://schemas.openxmlformats.org/drawingml/2006/main">
            <a:off x="5695950" y="1962150"/>
            <a:ext cx="14288" cy="18097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19E4930-FCED-4E4C-8E62-23BEB7659BC1}"/>
              </a:ext>
            </a:extLst>
          </p:cNvPr>
          <p:cNvSpPr>
            <a:spLocks xmlns:a="http://schemas.openxmlformats.org/drawingml/2006/main" noGrp="1"/>
          </p:cNvSpPr>
          <p:nvPr/>
        </p:nvSpPr>
        <p:spPr>
          <a:xfrm xmlns:a="http://schemas.openxmlformats.org/drawingml/2006/main">
            <a:off x="6191250" y="1962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Model discovery</a:t>
            </a:r>
          </a:p>
        </p:txBody>
      </p:sp>
      <p:sp>
        <p:nvSpPr>
          <p:cNvPr id="23" name="">
            <a:extLst xmlns:a="http://schemas.openxmlformats.org/drawingml/2006/main">
              <a:ext uri="{FF2B5EF4-FFF2-40B4-BE49-F238E27FC236}">
                <a16:creationId xmlns:a16="http://schemas.microsoft.com/office/drawing/2014/main" id="{ACB243F0-F608-4FCB-A820-3A7D4D45CA23}"/>
              </a:ext>
            </a:extLst>
          </p:cNvPr>
          <p:cNvSpPr>
            <a:spLocks xmlns:a="http://schemas.openxmlformats.org/drawingml/2006/main" noGrp="1"/>
          </p:cNvSpPr>
          <p:nvPr/>
        </p:nvSpPr>
        <p:spPr>
          <a:xfrm xmlns:a="http://schemas.openxmlformats.org/drawingml/2006/main">
            <a:off x="6191250" y="24765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Question</a:t>
            </a:r>
          </a:p>
        </p:txBody>
      </p:sp>
      <p:sp>
        <p:nvSpPr>
          <p:cNvPr id="24" name="">
            <a:extLst xmlns:a="http://schemas.openxmlformats.org/drawingml/2006/main">
              <a:ext uri="{FF2B5EF4-FFF2-40B4-BE49-F238E27FC236}">
                <a16:creationId xmlns:a16="http://schemas.microsoft.com/office/drawing/2014/main" id="{E6423412-6A40-4C59-830B-7F43FE4B385F}"/>
              </a:ext>
            </a:extLst>
          </p:cNvPr>
          <p:cNvSpPr>
            <a:spLocks xmlns:a="http://schemas.openxmlformats.org/drawingml/2006/main" noGrp="1"/>
          </p:cNvSpPr>
          <p:nvPr/>
        </p:nvSpPr>
        <p:spPr>
          <a:xfrm xmlns:a="http://schemas.openxmlformats.org/drawingml/2006/main">
            <a:off x="7467600" y="2438400"/>
            <a:ext cx="335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Which executable account survives new evidence?</a:t>
            </a:r>
          </a:p>
        </p:txBody>
      </p:sp>
      <p:sp>
        <p:nvSpPr>
          <p:cNvPr id="25" name="">
            <a:extLst xmlns:a="http://schemas.openxmlformats.org/drawingml/2006/main">
              <a:ext uri="{FF2B5EF4-FFF2-40B4-BE49-F238E27FC236}">
                <a16:creationId xmlns:a16="http://schemas.microsoft.com/office/drawing/2014/main" id="{B72045D8-115C-4C4D-9BB0-F8F60DF33AC7}"/>
              </a:ext>
            </a:extLst>
          </p:cNvPr>
          <p:cNvSpPr>
            <a:spLocks xmlns:a="http://schemas.openxmlformats.org/drawingml/2006/main" noGrp="1"/>
          </p:cNvSpPr>
          <p:nvPr/>
        </p:nvSpPr>
        <p:spPr>
          <a:xfrm xmlns:a="http://schemas.openxmlformats.org/drawingml/2006/main">
            <a:off x="6191250" y="32956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Can start from</a:t>
            </a:r>
          </a:p>
        </p:txBody>
      </p:sp>
      <p:sp>
        <p:nvSpPr>
          <p:cNvPr id="26" name="">
            <a:extLst xmlns:a="http://schemas.openxmlformats.org/drawingml/2006/main">
              <a:ext uri="{FF2B5EF4-FFF2-40B4-BE49-F238E27FC236}">
                <a16:creationId xmlns:a16="http://schemas.microsoft.com/office/drawing/2014/main" id="{91527DBE-39DE-4105-B679-B6DA5DB2DF9F}"/>
              </a:ext>
            </a:extLst>
          </p:cNvPr>
          <p:cNvSpPr>
            <a:spLocks xmlns:a="http://schemas.openxmlformats.org/drawingml/2006/main" noGrp="1"/>
          </p:cNvSpPr>
          <p:nvPr/>
        </p:nvSpPr>
        <p:spPr>
          <a:xfrm xmlns:a="http://schemas.openxmlformats.org/drawingml/2006/main">
            <a:off x="7467600" y="3257550"/>
            <a:ext cx="3543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61"/>
          </a:bodyPr>
          <a:lstStyle xmlns:a="http://schemas.openxmlformats.org/drawingml/2006/main"/>
          <a:p xmlns:a="http://schemas.openxmlformats.org/drawingml/2006/main">
            <a:pPr algn="l">
              <a:lnSpc>
                <a:spcPct val="105000"/>
              </a:lnSpc>
              <a:buNone/>
              <a:defRPr sz="1575" b="0" i="0">
                <a:solidFill>
                  <a:srgbClr val="283643"/>
                </a:solidFill>
                <a:latin typeface="Arial"/>
                <a:ea typeface="Arial"/>
                <a:cs typeface="Arial"/>
              </a:defRPr>
            </a:pPr>
            <a:r>
              <a:rPr sz="1575" b="0" i="0">
                <a:solidFill>
                  <a:srgbClr val="283643"/>
                </a:solidFill>
                <a:latin typeface="Arial"/>
                <a:ea typeface="Arial"/>
                <a:cs typeface="Arial"/>
              </a:rPr>
              <a:t>Behavior · theory · process data · intervention</a:t>
            </a:r>
          </a:p>
        </p:txBody>
      </p:sp>
      <p:sp>
        <p:nvSpPr>
          <p:cNvPr id="27" name="">
            <a:extLst xmlns:a="http://schemas.openxmlformats.org/drawingml/2006/main">
              <a:ext uri="{FF2B5EF4-FFF2-40B4-BE49-F238E27FC236}">
                <a16:creationId xmlns:a16="http://schemas.microsoft.com/office/drawing/2014/main" id="{21F7ABD4-2A67-435B-B458-DF9AD0C20D1C}"/>
              </a:ext>
            </a:extLst>
          </p:cNvPr>
          <p:cNvSpPr>
            <a:spLocks xmlns:a="http://schemas.openxmlformats.org/drawingml/2006/main" noGrp="1"/>
          </p:cNvSpPr>
          <p:nvPr/>
        </p:nvSpPr>
        <p:spPr>
          <a:xfrm xmlns:a="http://schemas.openxmlformats.org/drawingml/2006/main">
            <a:off x="800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Evidence + candidate space</a:t>
            </a:r>
          </a:p>
        </p:txBody>
      </p:sp>
      <p:sp>
        <p:nvSpPr>
          <p:cNvPr id="28" name="">
            <a:extLst xmlns:a="http://schemas.openxmlformats.org/drawingml/2006/main">
              <a:ext uri="{FF2B5EF4-FFF2-40B4-BE49-F238E27FC236}">
                <a16:creationId xmlns:a16="http://schemas.microsoft.com/office/drawing/2014/main" id="{2347983B-0B0A-43E1-8972-73E0D02AEBCD}"/>
              </a:ext>
            </a:extLst>
          </p:cNvPr>
          <p:cNvSpPr>
            <a:spLocks xmlns:a="http://schemas.openxmlformats.org/drawingml/2006/main" noGrp="1"/>
          </p:cNvSpPr>
          <p:nvPr/>
        </p:nvSpPr>
        <p:spPr>
          <a:xfrm xmlns:a="http://schemas.openxmlformats.org/drawingml/2006/main">
            <a:off x="3143250" y="4548188"/>
            <a:ext cx="3048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CA4ECE7-878F-4612-BECC-5583752D4E9B}"/>
              </a:ext>
            </a:extLst>
          </p:cNvPr>
          <p:cNvSpPr>
            <a:spLocks xmlns:a="http://schemas.openxmlformats.org/drawingml/2006/main" noGrp="1"/>
          </p:cNvSpPr>
          <p:nvPr/>
        </p:nvSpPr>
        <p:spPr>
          <a:xfrm xmlns:a="http://schemas.openxmlformats.org/drawingml/2006/main">
            <a:off x="3467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Propose executable models</a:t>
            </a:r>
          </a:p>
        </p:txBody>
      </p:sp>
      <p:sp>
        <p:nvSpPr>
          <p:cNvPr id="30" name="">
            <a:extLst xmlns:a="http://schemas.openxmlformats.org/drawingml/2006/main">
              <a:ext uri="{FF2B5EF4-FFF2-40B4-BE49-F238E27FC236}">
                <a16:creationId xmlns:a16="http://schemas.microsoft.com/office/drawing/2014/main" id="{F6CAA547-0627-424F-A70F-3F0605E2FA68}"/>
              </a:ext>
            </a:extLst>
          </p:cNvPr>
          <p:cNvSpPr>
            <a:spLocks xmlns:a="http://schemas.openxmlformats.org/drawingml/2006/main" noGrp="1"/>
          </p:cNvSpPr>
          <p:nvPr/>
        </p:nvSpPr>
        <p:spPr>
          <a:xfrm xmlns:a="http://schemas.openxmlformats.org/drawingml/2006/main">
            <a:off x="5810250" y="4548188"/>
            <a:ext cx="3048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0600C0F2-56B2-44DF-A193-1F89475A5D55}"/>
              </a:ext>
            </a:extLst>
          </p:cNvPr>
          <p:cNvSpPr>
            <a:spLocks xmlns:a="http://schemas.openxmlformats.org/drawingml/2006/main" noGrp="1"/>
          </p:cNvSpPr>
          <p:nvPr/>
        </p:nvSpPr>
        <p:spPr>
          <a:xfrm xmlns:a="http://schemas.openxmlformats.org/drawingml/2006/main">
            <a:off x="6134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315F63"/>
                </a:solidFill>
                <a:latin typeface="Arial"/>
                <a:ea typeface="Arial"/>
                <a:cs typeface="Arial"/>
              </a:defRPr>
            </a:pPr>
            <a:r>
              <a:rPr sz="1500" b="1" i="0">
                <a:solidFill>
                  <a:srgbClr val="315F63"/>
                </a:solidFill>
                <a:latin typeface="Arial"/>
                <a:ea typeface="Arial"/>
                <a:cs typeface="Arial"/>
              </a:rPr>
              <a:t>Fit and evaluate</a:t>
            </a:r>
          </a:p>
        </p:txBody>
      </p:sp>
      <p:sp>
        <p:nvSpPr>
          <p:cNvPr id="32" name="">
            <a:extLst xmlns:a="http://schemas.openxmlformats.org/drawingml/2006/main">
              <a:ext uri="{FF2B5EF4-FFF2-40B4-BE49-F238E27FC236}">
                <a16:creationId xmlns:a16="http://schemas.microsoft.com/office/drawing/2014/main" id="{1D4DEA3E-B62A-4036-9DC0-9F7D2123F2C9}"/>
              </a:ext>
            </a:extLst>
          </p:cNvPr>
          <p:cNvSpPr>
            <a:spLocks xmlns:a="http://schemas.openxmlformats.org/drawingml/2006/main" noGrp="1"/>
          </p:cNvSpPr>
          <p:nvPr/>
        </p:nvSpPr>
        <p:spPr>
          <a:xfrm xmlns:a="http://schemas.openxmlformats.org/drawingml/2006/main">
            <a:off x="8477250" y="4548188"/>
            <a:ext cx="3048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A17181A-C40E-4733-A3F6-549ECC0A18EC}"/>
              </a:ext>
            </a:extLst>
          </p:cNvPr>
          <p:cNvSpPr>
            <a:spLocks xmlns:a="http://schemas.openxmlformats.org/drawingml/2006/main" noGrp="1"/>
          </p:cNvSpPr>
          <p:nvPr/>
        </p:nvSpPr>
        <p:spPr>
          <a:xfrm xmlns:a="http://schemas.openxmlformats.org/drawingml/2006/main">
            <a:off x="8801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Design diagnostic tests</a:t>
            </a:r>
          </a:p>
        </p:txBody>
      </p:sp>
      <p:sp>
        <p:nvSpPr>
          <p:cNvPr id="34" name="">
            <a:extLst xmlns:a="http://schemas.openxmlformats.org/drawingml/2006/main">
              <a:ext uri="{FF2B5EF4-FFF2-40B4-BE49-F238E27FC236}">
                <a16:creationId xmlns:a16="http://schemas.microsoft.com/office/drawing/2014/main" id="{7C56C5EF-6AB8-4C81-B6CF-31725C627490}"/>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57C0A3C-71B6-49DB-BF53-738C6A5F332E}"/>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Annotation can constrain discovery, but discovery neither requires annotation nor inherits its validity.</a:t>
            </a:r>
          </a:p>
        </p:txBody>
      </p:sp>
    </p:spTree>
    <p:extLst>
      <p:ext uri="{BB962C8B-B14F-4D97-AF65-F5344CB8AC3E}">
        <p14:creationId xmlns:p14="http://schemas.microsoft.com/office/powerpoint/2010/main" val="193707314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562F314-1C7A-4D37-A3A5-EC14A5679CA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diagnostic trial separates the surviving candidates</a:t>
            </a:r>
          </a:p>
        </p:txBody>
      </p:sp>
      <p:sp>
        <p:nvSpPr>
          <p:cNvPr id="2" name="">
            <a:extLst xmlns:a="http://schemas.openxmlformats.org/drawingml/2006/main">
              <a:ext uri="{FF2B5EF4-FFF2-40B4-BE49-F238E27FC236}">
                <a16:creationId xmlns:a16="http://schemas.microsoft.com/office/drawing/2014/main" id="{4AEA3D1D-F980-49E2-AE06-5B81853A5C0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active test</a:t>
            </a:r>
          </a:p>
        </p:txBody>
      </p:sp>
      <p:sp>
        <p:nvSpPr>
          <p:cNvPr id="3" name="">
            <a:extLst xmlns:a="http://schemas.openxmlformats.org/drawingml/2006/main">
              <a:ext uri="{FF2B5EF4-FFF2-40B4-BE49-F238E27FC236}">
                <a16:creationId xmlns:a16="http://schemas.microsoft.com/office/drawing/2014/main" id="{AAB7CF11-7200-45D5-943B-CF26A2CCF30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42A27F9-0879-4665-9C8C-046DF375E8B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65</a:t>
            </a:r>
          </a:p>
        </p:txBody>
      </p:sp>
      <p:sp>
        <p:nvSpPr>
          <p:cNvPr id="5" name="">
            <a:extLst xmlns:a="http://schemas.openxmlformats.org/drawingml/2006/main">
              <a:ext uri="{FF2B5EF4-FFF2-40B4-BE49-F238E27FC236}">
                <a16:creationId xmlns:a16="http://schemas.microsoft.com/office/drawing/2014/main" id="{A9CADE69-BA8D-4032-AEFF-3900B1677F6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5921ABB-1EFA-401E-8930-0F7E3AA721C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E3CBFE9-B892-4027-9E27-3C5D49A5FAA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73B91DB-0BB9-49A0-B185-D9798A2CF2E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AC4EE9F-2433-4B11-9CF4-C9C82BA4008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B01A7A-91B2-4BBC-9140-F7FB83A4A81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9E2E758-6B1A-483B-B0D3-626598ACC8E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1267485-3795-4E6D-8CBD-83C3A256C3B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9DF55D0-0534-4793-8BF6-DBC3A811EEA6}"/>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5209D1F-1476-42C9-A512-FF81B862126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10F8B30-8541-4262-BD18-866D93F52BD3}"/>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Toy active-design example</a:t>
            </a:r>
          </a:p>
        </p:txBody>
      </p:sp>
      <p:sp>
        <p:nvSpPr>
          <p:cNvPr id="16" name="">
            <a:extLst xmlns:a="http://schemas.openxmlformats.org/drawingml/2006/main">
              <a:ext uri="{FF2B5EF4-FFF2-40B4-BE49-F238E27FC236}">
                <a16:creationId xmlns:a16="http://schemas.microsoft.com/office/drawing/2014/main" id="{12FA9A89-0F69-4161-B7DB-AFEC93A17838}"/>
              </a:ext>
            </a:extLst>
          </p:cNvPr>
          <p:cNvSpPr>
            <a:spLocks xmlns:a="http://schemas.openxmlformats.org/drawingml/2006/main" noGrp="1"/>
          </p:cNvSpPr>
          <p:nvPr/>
        </p:nvSpPr>
        <p:spPr>
          <a:xfrm xmlns:a="http://schemas.openxmlformats.org/drawingml/2006/main">
            <a:off x="800100" y="2190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A  /  $35 for sure</a:t>
            </a:r>
          </a:p>
        </p:txBody>
      </p:sp>
      <p:sp>
        <p:nvSpPr>
          <p:cNvPr id="17" name="">
            <a:extLst xmlns:a="http://schemas.openxmlformats.org/drawingml/2006/main">
              <a:ext uri="{FF2B5EF4-FFF2-40B4-BE49-F238E27FC236}">
                <a16:creationId xmlns:a16="http://schemas.microsoft.com/office/drawing/2014/main" id="{46D7B2E1-3034-45AF-B578-C8B0B7C42B55}"/>
              </a:ext>
            </a:extLst>
          </p:cNvPr>
          <p:cNvSpPr>
            <a:spLocks xmlns:a="http://schemas.openxmlformats.org/drawingml/2006/main" noGrp="1"/>
          </p:cNvSpPr>
          <p:nvPr/>
        </p:nvSpPr>
        <p:spPr>
          <a:xfrm xmlns:a="http://schemas.openxmlformats.org/drawingml/2006/main">
            <a:off x="5219700" y="2190750"/>
            <a:ext cx="581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7591F"/>
                </a:solidFill>
                <a:latin typeface="Arial"/>
                <a:ea typeface="Arial"/>
                <a:cs typeface="Arial"/>
              </a:defRPr>
            </a:pPr>
            <a:r>
              <a:rPr sz="2025" b="1" i="0">
                <a:solidFill>
                  <a:srgbClr val="87591F"/>
                </a:solidFill>
                <a:latin typeface="Arial"/>
                <a:ea typeface="Arial"/>
                <a:cs typeface="Arial"/>
              </a:rPr>
              <a:t>B  /  90% chance of $50; otherwise $0</a:t>
            </a:r>
          </a:p>
        </p:txBody>
      </p:sp>
      <p:sp>
        <p:nvSpPr>
          <p:cNvPr id="18" name="">
            <a:extLst xmlns:a="http://schemas.openxmlformats.org/drawingml/2006/main">
              <a:ext uri="{FF2B5EF4-FFF2-40B4-BE49-F238E27FC236}">
                <a16:creationId xmlns:a16="http://schemas.microsoft.com/office/drawing/2014/main" id="{83A373D2-2D39-42D5-B063-5DA4D9B156F4}"/>
              </a:ext>
            </a:extLst>
          </p:cNvPr>
          <p:cNvSpPr>
            <a:spLocks xmlns:a="http://schemas.openxmlformats.org/drawingml/2006/main" noGrp="1"/>
          </p:cNvSpPr>
          <p:nvPr/>
        </p:nvSpPr>
        <p:spPr>
          <a:xfrm xmlns:a="http://schemas.openxmlformats.org/drawingml/2006/main">
            <a:off x="800100" y="2800350"/>
            <a:ext cx="10229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4FD2016-4901-425D-A24D-EE5090136975}"/>
              </a:ext>
            </a:extLst>
          </p:cNvPr>
          <p:cNvSpPr>
            <a:spLocks xmlns:a="http://schemas.openxmlformats.org/drawingml/2006/main" noGrp="1"/>
          </p:cNvSpPr>
          <p:nvPr/>
        </p:nvSpPr>
        <p:spPr>
          <a:xfrm xmlns:a="http://schemas.openxmlformats.org/drawingml/2006/main">
            <a:off x="800100" y="31432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Expected value</a:t>
            </a:r>
          </a:p>
        </p:txBody>
      </p:sp>
      <p:sp>
        <p:nvSpPr>
          <p:cNvPr id="20" name="">
            <a:extLst xmlns:a="http://schemas.openxmlformats.org/drawingml/2006/main">
              <a:ext uri="{FF2B5EF4-FFF2-40B4-BE49-F238E27FC236}">
                <a16:creationId xmlns:a16="http://schemas.microsoft.com/office/drawing/2014/main" id="{DD5380AE-E24A-4705-8687-84F4AA260657}"/>
              </a:ext>
            </a:extLst>
          </p:cNvPr>
          <p:cNvSpPr>
            <a:spLocks xmlns:a="http://schemas.openxmlformats.org/drawingml/2006/main" noGrp="1"/>
          </p:cNvSpPr>
          <p:nvPr/>
        </p:nvSpPr>
        <p:spPr>
          <a:xfrm xmlns:a="http://schemas.openxmlformats.org/drawingml/2006/main">
            <a:off x="3905250" y="31432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Choose B</a:t>
            </a:r>
          </a:p>
        </p:txBody>
      </p:sp>
      <p:sp>
        <p:nvSpPr>
          <p:cNvPr id="21" name="">
            <a:extLst xmlns:a="http://schemas.openxmlformats.org/drawingml/2006/main">
              <a:ext uri="{FF2B5EF4-FFF2-40B4-BE49-F238E27FC236}">
                <a16:creationId xmlns:a16="http://schemas.microsoft.com/office/drawing/2014/main" id="{22BE2B68-1369-4007-B1C7-C45B1F52A575}"/>
              </a:ext>
            </a:extLst>
          </p:cNvPr>
          <p:cNvSpPr>
            <a:spLocks xmlns:a="http://schemas.openxmlformats.org/drawingml/2006/main" noGrp="1"/>
          </p:cNvSpPr>
          <p:nvPr/>
        </p:nvSpPr>
        <p:spPr>
          <a:xfrm xmlns:a="http://schemas.openxmlformats.org/drawingml/2006/main">
            <a:off x="6667500" y="3143250"/>
            <a:ext cx="436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EV(A) = $35; EV(B) = $45</a:t>
            </a:r>
          </a:p>
        </p:txBody>
      </p:sp>
      <p:sp>
        <p:nvSpPr>
          <p:cNvPr id="22" name="">
            <a:extLst xmlns:a="http://schemas.openxmlformats.org/drawingml/2006/main">
              <a:ext uri="{FF2B5EF4-FFF2-40B4-BE49-F238E27FC236}">
                <a16:creationId xmlns:a16="http://schemas.microsoft.com/office/drawing/2014/main" id="{9D3B1899-2B74-4DFB-B1F2-74630B938D12}"/>
              </a:ext>
            </a:extLst>
          </p:cNvPr>
          <p:cNvSpPr>
            <a:spLocks xmlns:a="http://schemas.openxmlformats.org/drawingml/2006/main" noGrp="1"/>
          </p:cNvSpPr>
          <p:nvPr/>
        </p:nvSpPr>
        <p:spPr>
          <a:xfrm xmlns:a="http://schemas.openxmlformats.org/drawingml/2006/main">
            <a:off x="800100" y="38290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87591F"/>
                </a:solidFill>
                <a:latin typeface="Arial"/>
                <a:ea typeface="Arial"/>
                <a:cs typeface="Arial"/>
              </a:defRPr>
            </a:pPr>
            <a:r>
              <a:rPr sz="1725" b="1" i="0">
                <a:solidFill>
                  <a:srgbClr val="87591F"/>
                </a:solidFill>
                <a:latin typeface="Arial"/>
                <a:ea typeface="Arial"/>
                <a:cs typeface="Arial"/>
              </a:rPr>
              <a:t>Safety-first</a:t>
            </a:r>
          </a:p>
        </p:txBody>
      </p:sp>
      <p:sp>
        <p:nvSpPr>
          <p:cNvPr id="23" name="">
            <a:extLst xmlns:a="http://schemas.openxmlformats.org/drawingml/2006/main">
              <a:ext uri="{FF2B5EF4-FFF2-40B4-BE49-F238E27FC236}">
                <a16:creationId xmlns:a16="http://schemas.microsoft.com/office/drawing/2014/main" id="{885B1A83-6769-4C04-8945-5503DB1BC205}"/>
              </a:ext>
            </a:extLst>
          </p:cNvPr>
          <p:cNvSpPr>
            <a:spLocks xmlns:a="http://schemas.openxmlformats.org/drawingml/2006/main" noGrp="1"/>
          </p:cNvSpPr>
          <p:nvPr/>
        </p:nvSpPr>
        <p:spPr>
          <a:xfrm xmlns:a="http://schemas.openxmlformats.org/drawingml/2006/main">
            <a:off x="3905250" y="38290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Choose A</a:t>
            </a:r>
          </a:p>
        </p:txBody>
      </p:sp>
      <p:sp>
        <p:nvSpPr>
          <p:cNvPr id="24" name="">
            <a:extLst xmlns:a="http://schemas.openxmlformats.org/drawingml/2006/main">
              <a:ext uri="{FF2B5EF4-FFF2-40B4-BE49-F238E27FC236}">
                <a16:creationId xmlns:a16="http://schemas.microsoft.com/office/drawing/2014/main" id="{65E9402B-6D36-44C5-B39C-0427035F4796}"/>
              </a:ext>
            </a:extLst>
          </p:cNvPr>
          <p:cNvSpPr>
            <a:spLocks xmlns:a="http://schemas.openxmlformats.org/drawingml/2006/main" noGrp="1"/>
          </p:cNvSpPr>
          <p:nvPr/>
        </p:nvSpPr>
        <p:spPr>
          <a:xfrm xmlns:a="http://schemas.openxmlformats.org/drawingml/2006/main">
            <a:off x="6667500" y="3829050"/>
            <a:ext cx="436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Minimum(A) = $35; Minimum(B) = $0</a:t>
            </a:r>
          </a:p>
        </p:txBody>
      </p:sp>
      <p:sp>
        <p:nvSpPr>
          <p:cNvPr id="25" name="">
            <a:extLst xmlns:a="http://schemas.openxmlformats.org/drawingml/2006/main">
              <a:ext uri="{FF2B5EF4-FFF2-40B4-BE49-F238E27FC236}">
                <a16:creationId xmlns:a16="http://schemas.microsoft.com/office/drawing/2014/main" id="{33C987E6-0D42-414D-BAFB-DADCD6EA180E}"/>
              </a:ext>
            </a:extLst>
          </p:cNvPr>
          <p:cNvSpPr>
            <a:spLocks xmlns:a="http://schemas.openxmlformats.org/drawingml/2006/main" noGrp="1"/>
          </p:cNvSpPr>
          <p:nvPr/>
        </p:nvSpPr>
        <p:spPr>
          <a:xfrm xmlns:a="http://schemas.openxmlformats.org/drawingml/2006/main">
            <a:off x="800100" y="45148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Threshold then EV</a:t>
            </a:r>
          </a:p>
        </p:txBody>
      </p:sp>
      <p:sp>
        <p:nvSpPr>
          <p:cNvPr id="26" name="">
            <a:extLst xmlns:a="http://schemas.openxmlformats.org/drawingml/2006/main">
              <a:ext uri="{FF2B5EF4-FFF2-40B4-BE49-F238E27FC236}">
                <a16:creationId xmlns:a16="http://schemas.microsoft.com/office/drawing/2014/main" id="{C8E49806-44D2-41F1-9A38-D2FE2A84ACE5}"/>
              </a:ext>
            </a:extLst>
          </p:cNvPr>
          <p:cNvSpPr>
            <a:spLocks xmlns:a="http://schemas.openxmlformats.org/drawingml/2006/main" noGrp="1"/>
          </p:cNvSpPr>
          <p:nvPr/>
        </p:nvSpPr>
        <p:spPr>
          <a:xfrm xmlns:a="http://schemas.openxmlformats.org/drawingml/2006/main">
            <a:off x="3905250" y="4514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Depends on threshold</a:t>
            </a:r>
          </a:p>
        </p:txBody>
      </p:sp>
      <p:sp>
        <p:nvSpPr>
          <p:cNvPr id="27" name="">
            <a:extLst xmlns:a="http://schemas.openxmlformats.org/drawingml/2006/main">
              <a:ext uri="{FF2B5EF4-FFF2-40B4-BE49-F238E27FC236}">
                <a16:creationId xmlns:a16="http://schemas.microsoft.com/office/drawing/2014/main" id="{99723863-7352-4C44-A920-16C67AFF8CC0}"/>
              </a:ext>
            </a:extLst>
          </p:cNvPr>
          <p:cNvSpPr>
            <a:spLocks xmlns:a="http://schemas.openxmlformats.org/drawingml/2006/main" noGrp="1"/>
          </p:cNvSpPr>
          <p:nvPr/>
        </p:nvSpPr>
        <p:spPr>
          <a:xfrm xmlns:a="http://schemas.openxmlformats.org/drawingml/2006/main">
            <a:off x="6667500" y="4514850"/>
            <a:ext cx="436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Vary the downside while holding EV fixed</a:t>
            </a:r>
          </a:p>
        </p:txBody>
      </p:sp>
      <p:sp>
        <p:nvSpPr>
          <p:cNvPr id="28" name="">
            <a:extLst xmlns:a="http://schemas.openxmlformats.org/drawingml/2006/main">
              <a:ext uri="{FF2B5EF4-FFF2-40B4-BE49-F238E27FC236}">
                <a16:creationId xmlns:a16="http://schemas.microsoft.com/office/drawing/2014/main" id="{D7512107-A292-4A47-A400-AF0BD7BAA8BF}"/>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ED6D804-E371-4D45-8C8E-F8FDBDAF4711}"/>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Choose trials where candidate predictions diverge, then update both behavioral and process evidence.</a:t>
            </a:r>
          </a:p>
        </p:txBody>
      </p:sp>
    </p:spTree>
    <p:extLst>
      <p:ext uri="{BB962C8B-B14F-4D97-AF65-F5344CB8AC3E}">
        <p14:creationId xmlns:p14="http://schemas.microsoft.com/office/powerpoint/2010/main" val="1482560571"/>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8AAB2E1-874C-491D-A275-5533607A482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good fit is still not mechanism recovery</a:t>
            </a:r>
          </a:p>
        </p:txBody>
      </p:sp>
      <p:sp>
        <p:nvSpPr>
          <p:cNvPr id="2" name="">
            <a:extLst xmlns:a="http://schemas.openxmlformats.org/drawingml/2006/main">
              <a:ext uri="{FF2B5EF4-FFF2-40B4-BE49-F238E27FC236}">
                <a16:creationId xmlns:a16="http://schemas.microsoft.com/office/drawing/2014/main" id="{5D690083-EB62-49F1-81F0-CED7C8415A1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limit</a:t>
            </a:r>
          </a:p>
        </p:txBody>
      </p:sp>
      <p:sp>
        <p:nvSpPr>
          <p:cNvPr id="3" name="">
            <a:extLst xmlns:a="http://schemas.openxmlformats.org/drawingml/2006/main">
              <a:ext uri="{FF2B5EF4-FFF2-40B4-BE49-F238E27FC236}">
                <a16:creationId xmlns:a16="http://schemas.microsoft.com/office/drawing/2014/main" id="{FE8498E0-29E8-483A-9987-37A8CA91B9F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FEB20E0-CF82-4945-BD12-54D368A9381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66</a:t>
            </a:r>
          </a:p>
        </p:txBody>
      </p:sp>
      <p:sp>
        <p:nvSpPr>
          <p:cNvPr id="5" name="">
            <a:extLst xmlns:a="http://schemas.openxmlformats.org/drawingml/2006/main">
              <a:ext uri="{FF2B5EF4-FFF2-40B4-BE49-F238E27FC236}">
                <a16:creationId xmlns:a16="http://schemas.microsoft.com/office/drawing/2014/main" id="{0FB13A96-AACB-4513-AC67-10F277103F7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775995B-B0B7-4D45-81C9-726285CF699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2114E8C-96E7-47A8-82AB-3FFC15AF09A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DED6856-7C76-444F-BF47-F32524E66D1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4FC4CFE-9AF3-41E2-9130-AAD4D536ABB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E64F033-6364-4C6E-82D4-AA940B74ACE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E3A385D-F1C0-4649-A1E3-B656460780B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0BD885B-C9A5-4CE2-BC23-44B2ADF6E85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7387ADE-84A1-40C8-8D92-9AACFFD91B0D}"/>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B7934B8-E7F3-4BF6-A05F-A8DC0F032D9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16F43BB-DF85-4504-96EE-E01FF9FC922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illustration</a:t>
            </a:r>
          </a:p>
        </p:txBody>
      </p:sp>
      <p:sp>
        <p:nvSpPr>
          <p:cNvPr id="16" name="">
            <a:extLst xmlns:a="http://schemas.openxmlformats.org/drawingml/2006/main">
              <a:ext uri="{FF2B5EF4-FFF2-40B4-BE49-F238E27FC236}">
                <a16:creationId xmlns:a16="http://schemas.microsoft.com/office/drawing/2014/main" id="{A548F2EB-240D-48E2-951D-88DF93333D02}"/>
              </a:ext>
            </a:extLst>
          </p:cNvPr>
          <p:cNvSpPr>
            <a:spLocks xmlns:a="http://schemas.openxmlformats.org/drawingml/2006/main" noGrp="1"/>
          </p:cNvSpPr>
          <p:nvPr/>
        </p:nvSpPr>
        <p:spPr>
          <a:xfrm xmlns:a="http://schemas.openxmlformats.org/drawingml/2006/main">
            <a:off x="914400" y="2095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Observed task region</a:t>
            </a:r>
          </a:p>
        </p:txBody>
      </p:sp>
      <p:sp>
        <p:nvSpPr>
          <p:cNvPr id="17" name="">
            <a:extLst xmlns:a="http://schemas.openxmlformats.org/drawingml/2006/main">
              <a:ext uri="{FF2B5EF4-FFF2-40B4-BE49-F238E27FC236}">
                <a16:creationId xmlns:a16="http://schemas.microsoft.com/office/drawing/2014/main" id="{BDD6D453-0022-40F8-9E6E-424A376EB47E}"/>
              </a:ext>
            </a:extLst>
          </p:cNvPr>
          <p:cNvSpPr>
            <a:spLocks xmlns:a="http://schemas.openxmlformats.org/drawingml/2006/main" noGrp="1"/>
          </p:cNvSpPr>
          <p:nvPr/>
        </p:nvSpPr>
        <p:spPr>
          <a:xfrm xmlns:a="http://schemas.openxmlformats.org/drawingml/2006/main">
            <a:off x="6629400" y="2095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New diagnostic region</a:t>
            </a:r>
          </a:p>
        </p:txBody>
      </p:sp>
      <p:sp>
        <p:nvSpPr>
          <p:cNvPr id="18" name="">
            <a:extLst xmlns:a="http://schemas.openxmlformats.org/drawingml/2006/main">
              <a:ext uri="{FF2B5EF4-FFF2-40B4-BE49-F238E27FC236}">
                <a16:creationId xmlns:a16="http://schemas.microsoft.com/office/drawing/2014/main" id="{B0DD93F5-F4D0-4DC9-AFAB-3665641D203A}"/>
              </a:ext>
            </a:extLst>
          </p:cNvPr>
          <p:cNvSpPr>
            <a:spLocks xmlns:a="http://schemas.openxmlformats.org/drawingml/2006/main" noGrp="1"/>
          </p:cNvSpPr>
          <p:nvPr/>
        </p:nvSpPr>
        <p:spPr>
          <a:xfrm xmlns:a="http://schemas.openxmlformats.org/drawingml/2006/main">
            <a:off x="914400" y="2724150"/>
            <a:ext cx="4286250" cy="16192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19" name="">
            <a:extLst xmlns:a="http://schemas.openxmlformats.org/drawingml/2006/main">
              <a:ext uri="{FF2B5EF4-FFF2-40B4-BE49-F238E27FC236}">
                <a16:creationId xmlns:a16="http://schemas.microsoft.com/office/drawing/2014/main" id="{609D40F7-25CC-4F67-A14A-19B688384745}"/>
              </a:ext>
            </a:extLst>
          </p:cNvPr>
          <p:cNvSpPr>
            <a:spLocks xmlns:a="http://schemas.openxmlformats.org/drawingml/2006/main" noGrp="1"/>
          </p:cNvSpPr>
          <p:nvPr/>
        </p:nvSpPr>
        <p:spPr>
          <a:xfrm xmlns:a="http://schemas.openxmlformats.org/drawingml/2006/main">
            <a:off x="6629400" y="2724150"/>
            <a:ext cx="4286250" cy="16192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20" name="">
            <a:extLst xmlns:a="http://schemas.openxmlformats.org/drawingml/2006/main">
              <a:ext uri="{FF2B5EF4-FFF2-40B4-BE49-F238E27FC236}">
                <a16:creationId xmlns:a16="http://schemas.microsoft.com/office/drawing/2014/main" id="{862DFE4E-3CEC-4EE0-9C46-48A07F4C841D}"/>
              </a:ext>
            </a:extLst>
          </p:cNvPr>
          <p:cNvSpPr>
            <a:spLocks xmlns:a="http://schemas.openxmlformats.org/drawingml/2006/main" noGrp="1"/>
          </p:cNvSpPr>
          <p:nvPr/>
        </p:nvSpPr>
        <p:spPr>
          <a:xfrm xmlns:a="http://schemas.openxmlformats.org/drawingml/2006/main">
            <a:off x="1276350" y="3181350"/>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756"/>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Ground-truth and surrogate</a:t>
            </a:r>
          </a:p>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make nearly identical predictions</a:t>
            </a:r>
          </a:p>
        </p:txBody>
      </p:sp>
      <p:sp>
        <p:nvSpPr>
          <p:cNvPr id="21" name="">
            <a:extLst xmlns:a="http://schemas.openxmlformats.org/drawingml/2006/main">
              <a:ext uri="{FF2B5EF4-FFF2-40B4-BE49-F238E27FC236}">
                <a16:creationId xmlns:a16="http://schemas.microsoft.com/office/drawing/2014/main" id="{AE83650E-E39E-45D0-BD4E-782788D59CE9}"/>
              </a:ext>
            </a:extLst>
          </p:cNvPr>
          <p:cNvSpPr>
            <a:spLocks xmlns:a="http://schemas.openxmlformats.org/drawingml/2006/main" noGrp="1"/>
          </p:cNvSpPr>
          <p:nvPr/>
        </p:nvSpPr>
        <p:spPr>
          <a:xfrm xmlns:a="http://schemas.openxmlformats.org/drawingml/2006/main">
            <a:off x="6991350" y="3181350"/>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The same models diverge</a:t>
            </a:r>
          </a:p>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under a targeted manipulation</a:t>
            </a:r>
          </a:p>
        </p:txBody>
      </p:sp>
      <p:sp>
        <p:nvSpPr>
          <p:cNvPr id="22" name="">
            <a:extLst xmlns:a="http://schemas.openxmlformats.org/drawingml/2006/main">
              <a:ext uri="{FF2B5EF4-FFF2-40B4-BE49-F238E27FC236}">
                <a16:creationId xmlns:a16="http://schemas.microsoft.com/office/drawing/2014/main" id="{FF1F91A8-B8E1-4B14-9E91-8FFC5BAE0974}"/>
              </a:ext>
            </a:extLst>
          </p:cNvPr>
          <p:cNvSpPr>
            <a:spLocks xmlns:a="http://schemas.openxmlformats.org/drawingml/2006/main" noGrp="1"/>
          </p:cNvSpPr>
          <p:nvPr/>
        </p:nvSpPr>
        <p:spPr>
          <a:xfrm xmlns:a="http://schemas.openxmlformats.org/drawingml/2006/main">
            <a:off x="5657850" y="3429000"/>
            <a:ext cx="5143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11E2CC4-06CF-42CD-996C-296C5824D750}"/>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F5100A5-4CF0-4112-B56A-734F4673153B}"/>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32"/>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No discovery entry point guarantees mechanism recovery; intervention and transfer are still needed for a causal claim.</a:t>
            </a:r>
          </a:p>
        </p:txBody>
      </p:sp>
    </p:spTree>
    <p:extLst>
      <p:ext uri="{BB962C8B-B14F-4D97-AF65-F5344CB8AC3E}">
        <p14:creationId xmlns:p14="http://schemas.microsoft.com/office/powerpoint/2010/main" val="152117629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05EA88E-C060-449F-9DF9-B6F9EDC294F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Define the level of success before running discovery</a:t>
            </a:r>
          </a:p>
        </p:txBody>
      </p:sp>
      <p:sp>
        <p:nvSpPr>
          <p:cNvPr id="2" name="">
            <a:extLst xmlns:a="http://schemas.openxmlformats.org/drawingml/2006/main">
              <a:ext uri="{FF2B5EF4-FFF2-40B4-BE49-F238E27FC236}">
                <a16:creationId xmlns:a16="http://schemas.microsoft.com/office/drawing/2014/main" id="{7E6CA8D5-CA3A-402E-92B6-E8C105294BD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claims</a:t>
            </a:r>
          </a:p>
        </p:txBody>
      </p:sp>
      <p:sp>
        <p:nvSpPr>
          <p:cNvPr id="3" name="">
            <a:extLst xmlns:a="http://schemas.openxmlformats.org/drawingml/2006/main">
              <a:ext uri="{FF2B5EF4-FFF2-40B4-BE49-F238E27FC236}">
                <a16:creationId xmlns:a16="http://schemas.microsoft.com/office/drawing/2014/main" id="{D3D81F4A-8E3B-4438-80EE-5403678FF6C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FB3C238-792B-4DED-9CAB-7E727DC7560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67</a:t>
            </a:r>
          </a:p>
        </p:txBody>
      </p:sp>
      <p:sp>
        <p:nvSpPr>
          <p:cNvPr id="5" name="">
            <a:extLst xmlns:a="http://schemas.openxmlformats.org/drawingml/2006/main">
              <a:ext uri="{FF2B5EF4-FFF2-40B4-BE49-F238E27FC236}">
                <a16:creationId xmlns:a16="http://schemas.microsoft.com/office/drawing/2014/main" id="{F8905D31-E97B-4B38-BF61-5798E1DDDE1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ADA9ADA-66AF-4B69-8D47-E0256D65765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5280B64-7A04-4687-B1B3-3323BE9DA3F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8F98CAD-6D51-40D8-9434-AF39FF16A6F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6953074-4D6D-47EC-BE85-9090312DD74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49B1E2C-386A-45C9-B17F-1A0419FDA2E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8EB3890-7EE9-4648-8FDA-92D8AF1918A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41E76DC-BBF0-4842-886D-6A286F47447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D577083-9B23-4028-9136-BC4E0CC6CF96}"/>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C6BC497-AE12-4504-BCD6-BE1338478C4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CE38A4A-3952-4235-83FD-FF036E4A6584}"/>
              </a:ext>
            </a:extLst>
          </p:cNvPr>
          <p:cNvSpPr>
            <a:spLocks xmlns:a="http://schemas.openxmlformats.org/drawingml/2006/main" noGrp="1"/>
          </p:cNvSpPr>
          <p:nvPr/>
        </p:nvSpPr>
        <p:spPr>
          <a:xfrm xmlns:a="http://schemas.openxmlformats.org/drawingml/2006/main">
            <a:off x="800100" y="2038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Predictive success</a:t>
            </a:r>
          </a:p>
        </p:txBody>
      </p:sp>
      <p:sp>
        <p:nvSpPr>
          <p:cNvPr id="16" name="">
            <a:extLst xmlns:a="http://schemas.openxmlformats.org/drawingml/2006/main">
              <a:ext uri="{FF2B5EF4-FFF2-40B4-BE49-F238E27FC236}">
                <a16:creationId xmlns:a16="http://schemas.microsoft.com/office/drawing/2014/main" id="{C1584973-36B9-49DC-91A5-F85A05FDF551}"/>
              </a:ext>
            </a:extLst>
          </p:cNvPr>
          <p:cNvSpPr>
            <a:spLocks xmlns:a="http://schemas.openxmlformats.org/drawingml/2006/main" noGrp="1"/>
          </p:cNvSpPr>
          <p:nvPr/>
        </p:nvSpPr>
        <p:spPr>
          <a:xfrm xmlns:a="http://schemas.openxmlformats.org/drawingml/2006/main">
            <a:off x="4038600" y="2038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Held-out likelihood improves</a:t>
            </a:r>
          </a:p>
        </p:txBody>
      </p:sp>
      <p:sp>
        <p:nvSpPr>
          <p:cNvPr id="17" name="">
            <a:extLst xmlns:a="http://schemas.openxmlformats.org/drawingml/2006/main">
              <a:ext uri="{FF2B5EF4-FFF2-40B4-BE49-F238E27FC236}">
                <a16:creationId xmlns:a16="http://schemas.microsoft.com/office/drawing/2014/main" id="{39C861B4-FC42-444E-B899-EC3515615092}"/>
              </a:ext>
            </a:extLst>
          </p:cNvPr>
          <p:cNvSpPr>
            <a:spLocks xmlns:a="http://schemas.openxmlformats.org/drawingml/2006/main" noGrp="1"/>
          </p:cNvSpPr>
          <p:nvPr/>
        </p:nvSpPr>
        <p:spPr>
          <a:xfrm xmlns:a="http://schemas.openxmlformats.org/drawingml/2006/main">
            <a:off x="800100" y="2628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614F9CD-A42B-44E5-91B2-138566BFAB54}"/>
              </a:ext>
            </a:extLst>
          </p:cNvPr>
          <p:cNvSpPr>
            <a:spLocks xmlns:a="http://schemas.openxmlformats.org/drawingml/2006/main" noGrp="1"/>
          </p:cNvSpPr>
          <p:nvPr/>
        </p:nvSpPr>
        <p:spPr>
          <a:xfrm xmlns:a="http://schemas.openxmlformats.org/drawingml/2006/main">
            <a:off x="800100" y="2800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Process consistency</a:t>
            </a:r>
          </a:p>
        </p:txBody>
      </p:sp>
      <p:sp>
        <p:nvSpPr>
          <p:cNvPr id="19" name="">
            <a:extLst xmlns:a="http://schemas.openxmlformats.org/drawingml/2006/main">
              <a:ext uri="{FF2B5EF4-FFF2-40B4-BE49-F238E27FC236}">
                <a16:creationId xmlns:a16="http://schemas.microsoft.com/office/drawing/2014/main" id="{9A369956-1BD0-4C2B-9389-ACCA6528F8A0}"/>
              </a:ext>
            </a:extLst>
          </p:cNvPr>
          <p:cNvSpPr>
            <a:spLocks xmlns:a="http://schemas.openxmlformats.org/drawingml/2006/main" noGrp="1"/>
          </p:cNvSpPr>
          <p:nvPr/>
        </p:nvSpPr>
        <p:spPr>
          <a:xfrm xmlns:a="http://schemas.openxmlformats.org/drawingml/2006/main">
            <a:off x="4038600" y="2800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Model operations agree with independent process evidence</a:t>
            </a:r>
          </a:p>
        </p:txBody>
      </p:sp>
      <p:sp>
        <p:nvSpPr>
          <p:cNvPr id="20" name="">
            <a:extLst xmlns:a="http://schemas.openxmlformats.org/drawingml/2006/main">
              <a:ext uri="{FF2B5EF4-FFF2-40B4-BE49-F238E27FC236}">
                <a16:creationId xmlns:a16="http://schemas.microsoft.com/office/drawing/2014/main" id="{5B7F481E-9DB4-43D5-892C-4C72E18F3C4A}"/>
              </a:ext>
            </a:extLst>
          </p:cNvPr>
          <p:cNvSpPr>
            <a:spLocks xmlns:a="http://schemas.openxmlformats.org/drawingml/2006/main" noGrp="1"/>
          </p:cNvSpPr>
          <p:nvPr/>
        </p:nvSpPr>
        <p:spPr>
          <a:xfrm xmlns:a="http://schemas.openxmlformats.org/drawingml/2006/main">
            <a:off x="800100" y="3390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CA1E366-9BFD-4B8B-8C5C-912483CE0000}"/>
              </a:ext>
            </a:extLst>
          </p:cNvPr>
          <p:cNvSpPr>
            <a:spLocks xmlns:a="http://schemas.openxmlformats.org/drawingml/2006/main" noGrp="1"/>
          </p:cNvSpPr>
          <p:nvPr/>
        </p:nvSpPr>
        <p:spPr>
          <a:xfrm xmlns:a="http://schemas.openxmlformats.org/drawingml/2006/main">
            <a:off x="800100" y="3562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Primitive recovery</a:t>
            </a:r>
          </a:p>
        </p:txBody>
      </p:sp>
      <p:sp>
        <p:nvSpPr>
          <p:cNvPr id="22" name="">
            <a:extLst xmlns:a="http://schemas.openxmlformats.org/drawingml/2006/main">
              <a:ext uri="{FF2B5EF4-FFF2-40B4-BE49-F238E27FC236}">
                <a16:creationId xmlns:a16="http://schemas.microsoft.com/office/drawing/2014/main" id="{9F2452E6-98A4-4C4E-A163-77E06F76BC23}"/>
              </a:ext>
            </a:extLst>
          </p:cNvPr>
          <p:cNvSpPr>
            <a:spLocks xmlns:a="http://schemas.openxmlformats.org/drawingml/2006/main" noGrp="1"/>
          </p:cNvSpPr>
          <p:nvPr/>
        </p:nvSpPr>
        <p:spPr>
          <a:xfrm xmlns:a="http://schemas.openxmlformats.org/drawingml/2006/main">
            <a:off x="4038600" y="3562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The generating computational components are recovered</a:t>
            </a:r>
          </a:p>
        </p:txBody>
      </p:sp>
      <p:sp>
        <p:nvSpPr>
          <p:cNvPr id="23" name="">
            <a:extLst xmlns:a="http://schemas.openxmlformats.org/drawingml/2006/main">
              <a:ext uri="{FF2B5EF4-FFF2-40B4-BE49-F238E27FC236}">
                <a16:creationId xmlns:a16="http://schemas.microsoft.com/office/drawing/2014/main" id="{A7347876-E3A5-4F0B-9618-167A5321453C}"/>
              </a:ext>
            </a:extLst>
          </p:cNvPr>
          <p:cNvSpPr>
            <a:spLocks xmlns:a="http://schemas.openxmlformats.org/drawingml/2006/main" noGrp="1"/>
          </p:cNvSpPr>
          <p:nvPr/>
        </p:nvSpPr>
        <p:spPr>
          <a:xfrm xmlns:a="http://schemas.openxmlformats.org/drawingml/2006/main">
            <a:off x="800100" y="4152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0D2F7B2-A6D5-426D-AEB7-1E0ED94FC614}"/>
              </a:ext>
            </a:extLst>
          </p:cNvPr>
          <p:cNvSpPr>
            <a:spLocks xmlns:a="http://schemas.openxmlformats.org/drawingml/2006/main" noGrp="1"/>
          </p:cNvSpPr>
          <p:nvPr/>
        </p:nvSpPr>
        <p:spPr>
          <a:xfrm xmlns:a="http://schemas.openxmlformats.org/drawingml/2006/main">
            <a:off x="800100" y="4324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Mechanistic recovery</a:t>
            </a:r>
          </a:p>
        </p:txBody>
      </p:sp>
      <p:sp>
        <p:nvSpPr>
          <p:cNvPr id="25" name="">
            <a:extLst xmlns:a="http://schemas.openxmlformats.org/drawingml/2006/main">
              <a:ext uri="{FF2B5EF4-FFF2-40B4-BE49-F238E27FC236}">
                <a16:creationId xmlns:a16="http://schemas.microsoft.com/office/drawing/2014/main" id="{4882DBEB-C39C-4572-96E8-87AD5E1D16E7}"/>
              </a:ext>
            </a:extLst>
          </p:cNvPr>
          <p:cNvSpPr>
            <a:spLocks xmlns:a="http://schemas.openxmlformats.org/drawingml/2006/main" noGrp="1"/>
          </p:cNvSpPr>
          <p:nvPr/>
        </p:nvSpPr>
        <p:spPr>
          <a:xfrm xmlns:a="http://schemas.openxmlformats.org/drawingml/2006/main">
            <a:off x="4038600" y="4324350"/>
            <a:ext cx="695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The process survives intervention and transfer</a:t>
            </a:r>
          </a:p>
        </p:txBody>
      </p:sp>
      <p:sp>
        <p:nvSpPr>
          <p:cNvPr id="26" name="">
            <a:extLst xmlns:a="http://schemas.openxmlformats.org/drawingml/2006/main">
              <a:ext uri="{FF2B5EF4-FFF2-40B4-BE49-F238E27FC236}">
                <a16:creationId xmlns:a16="http://schemas.microsoft.com/office/drawing/2014/main" id="{961EF113-AD2D-45E5-B734-FE936CB6D39C}"/>
              </a:ext>
            </a:extLst>
          </p:cNvPr>
          <p:cNvSpPr>
            <a:spLocks xmlns:a="http://schemas.openxmlformats.org/drawingml/2006/main" noGrp="1"/>
          </p:cNvSpPr>
          <p:nvPr/>
        </p:nvSpPr>
        <p:spPr>
          <a:xfrm xmlns:a="http://schemas.openxmlformats.org/drawingml/2006/main">
            <a:off x="800100" y="4914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ABDD154-FFBE-4412-B37C-8455A7408F8A}"/>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541D3AA-2BB8-48F2-81D3-D49FD5F9B3C7}"/>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system can succeed at one level and fail at every stronger level.</a:t>
            </a:r>
          </a:p>
        </p:txBody>
      </p:sp>
    </p:spTree>
    <p:extLst>
      <p:ext uri="{BB962C8B-B14F-4D97-AF65-F5344CB8AC3E}">
        <p14:creationId xmlns:p14="http://schemas.microsoft.com/office/powerpoint/2010/main" val="1077444741"/>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54DA586-40B3-4FF2-B02B-B7159B00C36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Notebook 3 demonstrates one annotation-guided route</a:t>
            </a:r>
          </a:p>
        </p:txBody>
      </p:sp>
      <p:sp>
        <p:nvSpPr>
          <p:cNvPr id="2" name="">
            <a:extLst xmlns:a="http://schemas.openxmlformats.org/drawingml/2006/main">
              <a:ext uri="{FF2B5EF4-FFF2-40B4-BE49-F238E27FC236}">
                <a16:creationId xmlns:a16="http://schemas.microsoft.com/office/drawing/2014/main" id="{022ABAB6-04F2-4FA9-9B1B-610466FCD50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Hands-on</a:t>
            </a:r>
          </a:p>
        </p:txBody>
      </p:sp>
      <p:sp>
        <p:nvSpPr>
          <p:cNvPr id="3" name="">
            <a:extLst xmlns:a="http://schemas.openxmlformats.org/drawingml/2006/main">
              <a:ext uri="{FF2B5EF4-FFF2-40B4-BE49-F238E27FC236}">
                <a16:creationId xmlns:a16="http://schemas.microsoft.com/office/drawing/2014/main" id="{11DC15F4-073B-4652-AB56-95A6608DA1A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CE375C-DED5-4C1F-B197-D623BBAA041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68</a:t>
            </a:r>
          </a:p>
        </p:txBody>
      </p:sp>
      <p:sp>
        <p:nvSpPr>
          <p:cNvPr id="5" name="">
            <a:extLst xmlns:a="http://schemas.openxmlformats.org/drawingml/2006/main">
              <a:ext uri="{FF2B5EF4-FFF2-40B4-BE49-F238E27FC236}">
                <a16:creationId xmlns:a16="http://schemas.microsoft.com/office/drawing/2014/main" id="{6DBA657E-19A7-4059-95D4-D8A62C9985B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AE48D4D-D80C-4ED6-8BD8-F7EEB9A831A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3F832C4-05BC-4053-B138-FE28C6934A1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282536-D06B-41B8-B685-0ADEAD7A5BA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AED59D7-3ED4-4806-976F-C0C5E78344A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D4EE919-2D19-4913-9650-DB6212A5123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025FD69-7F33-47A6-87F8-B01C5DDD9BE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E174DAD-1AFA-42A0-9A06-C3E7F9784E2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04FE91E-47A5-4268-AE5E-19C26CE5BC36}"/>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5719BA9-E2B5-4BAC-B4A3-9AB446AE80B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D09C9DC-404B-47DE-BD0A-57D33B9C96EE}"/>
              </a:ext>
            </a:extLst>
          </p:cNvPr>
          <p:cNvSpPr>
            <a:spLocks xmlns:a="http://schemas.openxmlformats.org/drawingml/2006/main" noGrp="1"/>
          </p:cNvSpPr>
          <p:nvPr/>
        </p:nvSpPr>
        <p:spPr>
          <a:xfrm xmlns:a="http://schemas.openxmlformats.org/drawingml/2006/main">
            <a:off x="68580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1</a:t>
            </a:r>
          </a:p>
        </p:txBody>
      </p:sp>
      <p:sp>
        <p:nvSpPr>
          <p:cNvPr id="16" name="">
            <a:extLst xmlns:a="http://schemas.openxmlformats.org/drawingml/2006/main">
              <a:ext uri="{FF2B5EF4-FFF2-40B4-BE49-F238E27FC236}">
                <a16:creationId xmlns:a16="http://schemas.microsoft.com/office/drawing/2014/main" id="{E85FAD68-33F1-4210-AF80-0B2299B4122D}"/>
              </a:ext>
            </a:extLst>
          </p:cNvPr>
          <p:cNvSpPr>
            <a:spLocks xmlns:a="http://schemas.openxmlformats.org/drawingml/2006/main" noGrp="1"/>
          </p:cNvSpPr>
          <p:nvPr/>
        </p:nvSpPr>
        <p:spPr>
          <a:xfrm xmlns:a="http://schemas.openxmlformats.org/drawingml/2006/main">
            <a:off x="68580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Mask</a:t>
            </a:r>
          </a:p>
        </p:txBody>
      </p:sp>
      <p:sp>
        <p:nvSpPr>
          <p:cNvPr id="17" name="">
            <a:extLst xmlns:a="http://schemas.openxmlformats.org/drawingml/2006/main">
              <a:ext uri="{FF2B5EF4-FFF2-40B4-BE49-F238E27FC236}">
                <a16:creationId xmlns:a16="http://schemas.microsoft.com/office/drawing/2014/main" id="{1408331A-E9E1-4967-9D6C-95EF1DB4BD00}"/>
              </a:ext>
            </a:extLst>
          </p:cNvPr>
          <p:cNvSpPr>
            <a:spLocks xmlns:a="http://schemas.openxmlformats.org/drawingml/2006/main" noGrp="1"/>
          </p:cNvSpPr>
          <p:nvPr/>
        </p:nvSpPr>
        <p:spPr>
          <a:xfrm xmlns:a="http://schemas.openxmlformats.org/drawingml/2006/main">
            <a:off x="68580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Remove explicit preference claims</a:t>
            </a:r>
          </a:p>
        </p:txBody>
      </p:sp>
      <p:sp>
        <p:nvSpPr>
          <p:cNvPr id="18" name="">
            <a:extLst xmlns:a="http://schemas.openxmlformats.org/drawingml/2006/main">
              <a:ext uri="{FF2B5EF4-FFF2-40B4-BE49-F238E27FC236}">
                <a16:creationId xmlns:a16="http://schemas.microsoft.com/office/drawing/2014/main" id="{85FB27D6-F5BB-478F-BA75-9632A7029453}"/>
              </a:ext>
            </a:extLst>
          </p:cNvPr>
          <p:cNvSpPr>
            <a:spLocks xmlns:a="http://schemas.openxmlformats.org/drawingml/2006/main" noGrp="1"/>
          </p:cNvSpPr>
          <p:nvPr/>
        </p:nvSpPr>
        <p:spPr>
          <a:xfrm xmlns:a="http://schemas.openxmlformats.org/drawingml/2006/main">
            <a:off x="244983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0D209A2-6D7D-41A5-B9EF-6F5BB22AD4FA}"/>
              </a:ext>
            </a:extLst>
          </p:cNvPr>
          <p:cNvSpPr>
            <a:spLocks xmlns:a="http://schemas.openxmlformats.org/drawingml/2006/main" noGrp="1"/>
          </p:cNvSpPr>
          <p:nvPr/>
        </p:nvSpPr>
        <p:spPr>
          <a:xfrm xmlns:a="http://schemas.openxmlformats.org/drawingml/2006/main">
            <a:off x="298323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2</a:t>
            </a:r>
          </a:p>
        </p:txBody>
      </p:sp>
      <p:sp>
        <p:nvSpPr>
          <p:cNvPr id="20" name="">
            <a:extLst xmlns:a="http://schemas.openxmlformats.org/drawingml/2006/main">
              <a:ext uri="{FF2B5EF4-FFF2-40B4-BE49-F238E27FC236}">
                <a16:creationId xmlns:a16="http://schemas.microsoft.com/office/drawing/2014/main" id="{6A3DB0C3-C6B5-4725-BE8D-03A9B05D5EE8}"/>
              </a:ext>
            </a:extLst>
          </p:cNvPr>
          <p:cNvSpPr>
            <a:spLocks xmlns:a="http://schemas.openxmlformats.org/drawingml/2006/main" noGrp="1"/>
          </p:cNvSpPr>
          <p:nvPr/>
        </p:nvSpPr>
        <p:spPr>
          <a:xfrm xmlns:a="http://schemas.openxmlformats.org/drawingml/2006/main">
            <a:off x="298323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Annotate</a:t>
            </a:r>
          </a:p>
        </p:txBody>
      </p:sp>
      <p:sp>
        <p:nvSpPr>
          <p:cNvPr id="21" name="">
            <a:extLst xmlns:a="http://schemas.openxmlformats.org/drawingml/2006/main">
              <a:ext uri="{FF2B5EF4-FFF2-40B4-BE49-F238E27FC236}">
                <a16:creationId xmlns:a16="http://schemas.microsoft.com/office/drawing/2014/main" id="{80BFD1E8-9963-48C0-A96E-9A0104947597}"/>
              </a:ext>
            </a:extLst>
          </p:cNvPr>
          <p:cNvSpPr>
            <a:spLocks xmlns:a="http://schemas.openxmlformats.org/drawingml/2006/main" noGrp="1"/>
          </p:cNvSpPr>
          <p:nvPr/>
        </p:nvSpPr>
        <p:spPr>
          <a:xfrm xmlns:a="http://schemas.openxmlformats.org/drawingml/2006/main">
            <a:off x="298323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Code information and operations</a:t>
            </a:r>
          </a:p>
        </p:txBody>
      </p:sp>
      <p:sp>
        <p:nvSpPr>
          <p:cNvPr id="22" name="">
            <a:extLst xmlns:a="http://schemas.openxmlformats.org/drawingml/2006/main">
              <a:ext uri="{FF2B5EF4-FFF2-40B4-BE49-F238E27FC236}">
                <a16:creationId xmlns:a16="http://schemas.microsoft.com/office/drawing/2014/main" id="{7FC88A82-CF63-4DC4-9D9C-8A4E04204B4A}"/>
              </a:ext>
            </a:extLst>
          </p:cNvPr>
          <p:cNvSpPr>
            <a:spLocks xmlns:a="http://schemas.openxmlformats.org/drawingml/2006/main" noGrp="1"/>
          </p:cNvSpPr>
          <p:nvPr/>
        </p:nvSpPr>
        <p:spPr>
          <a:xfrm xmlns:a="http://schemas.openxmlformats.org/drawingml/2006/main">
            <a:off x="474726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DCEB76C-E250-4081-9A8D-3C63712875D2}"/>
              </a:ext>
            </a:extLst>
          </p:cNvPr>
          <p:cNvSpPr>
            <a:spLocks xmlns:a="http://schemas.openxmlformats.org/drawingml/2006/main" noGrp="1"/>
          </p:cNvSpPr>
          <p:nvPr/>
        </p:nvSpPr>
        <p:spPr>
          <a:xfrm xmlns:a="http://schemas.openxmlformats.org/drawingml/2006/main">
            <a:off x="528066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3</a:t>
            </a:r>
          </a:p>
        </p:txBody>
      </p:sp>
      <p:sp>
        <p:nvSpPr>
          <p:cNvPr id="24" name="">
            <a:extLst xmlns:a="http://schemas.openxmlformats.org/drawingml/2006/main">
              <a:ext uri="{FF2B5EF4-FFF2-40B4-BE49-F238E27FC236}">
                <a16:creationId xmlns:a16="http://schemas.microsoft.com/office/drawing/2014/main" id="{62FE1003-0042-4A37-BA70-E6395F282E2A}"/>
              </a:ext>
            </a:extLst>
          </p:cNvPr>
          <p:cNvSpPr>
            <a:spLocks xmlns:a="http://schemas.openxmlformats.org/drawingml/2006/main" noGrp="1"/>
          </p:cNvSpPr>
          <p:nvPr/>
        </p:nvSpPr>
        <p:spPr>
          <a:xfrm xmlns:a="http://schemas.openxmlformats.org/drawingml/2006/main">
            <a:off x="528066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Validate</a:t>
            </a:r>
          </a:p>
        </p:txBody>
      </p:sp>
      <p:sp>
        <p:nvSpPr>
          <p:cNvPr id="25" name="">
            <a:extLst xmlns:a="http://schemas.openxmlformats.org/drawingml/2006/main">
              <a:ext uri="{FF2B5EF4-FFF2-40B4-BE49-F238E27FC236}">
                <a16:creationId xmlns:a16="http://schemas.microsoft.com/office/drawing/2014/main" id="{D19893EF-B668-4D31-9474-610A639E480A}"/>
              </a:ext>
            </a:extLst>
          </p:cNvPr>
          <p:cNvSpPr>
            <a:spLocks xmlns:a="http://schemas.openxmlformats.org/drawingml/2006/main" noGrp="1"/>
          </p:cNvSpPr>
          <p:nvPr/>
        </p:nvSpPr>
        <p:spPr>
          <a:xfrm xmlns:a="http://schemas.openxmlformats.org/drawingml/2006/main">
            <a:off x="528066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Held-question construct and choice tests</a:t>
            </a:r>
          </a:p>
        </p:txBody>
      </p:sp>
      <p:sp>
        <p:nvSpPr>
          <p:cNvPr id="26" name="">
            <a:extLst xmlns:a="http://schemas.openxmlformats.org/drawingml/2006/main">
              <a:ext uri="{FF2B5EF4-FFF2-40B4-BE49-F238E27FC236}">
                <a16:creationId xmlns:a16="http://schemas.microsoft.com/office/drawing/2014/main" id="{38D51DB4-5DBB-4F2D-A224-68933930313D}"/>
              </a:ext>
            </a:extLst>
          </p:cNvPr>
          <p:cNvSpPr>
            <a:spLocks xmlns:a="http://schemas.openxmlformats.org/drawingml/2006/main" noGrp="1"/>
          </p:cNvSpPr>
          <p:nvPr/>
        </p:nvSpPr>
        <p:spPr>
          <a:xfrm xmlns:a="http://schemas.openxmlformats.org/drawingml/2006/main">
            <a:off x="704469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6D2BA6F-2660-4E46-8ADB-35A56D2D4450}"/>
              </a:ext>
            </a:extLst>
          </p:cNvPr>
          <p:cNvSpPr>
            <a:spLocks xmlns:a="http://schemas.openxmlformats.org/drawingml/2006/main" noGrp="1"/>
          </p:cNvSpPr>
          <p:nvPr/>
        </p:nvSpPr>
        <p:spPr>
          <a:xfrm xmlns:a="http://schemas.openxmlformats.org/drawingml/2006/main">
            <a:off x="757809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4</a:t>
            </a:r>
          </a:p>
        </p:txBody>
      </p:sp>
      <p:sp>
        <p:nvSpPr>
          <p:cNvPr id="28" name="">
            <a:extLst xmlns:a="http://schemas.openxmlformats.org/drawingml/2006/main">
              <a:ext uri="{FF2B5EF4-FFF2-40B4-BE49-F238E27FC236}">
                <a16:creationId xmlns:a16="http://schemas.microsoft.com/office/drawing/2014/main" id="{5F40EB70-931F-4B25-9B16-11E3E30829A7}"/>
              </a:ext>
            </a:extLst>
          </p:cNvPr>
          <p:cNvSpPr>
            <a:spLocks xmlns:a="http://schemas.openxmlformats.org/drawingml/2006/main" noGrp="1"/>
          </p:cNvSpPr>
          <p:nvPr/>
        </p:nvSpPr>
        <p:spPr>
          <a:xfrm xmlns:a="http://schemas.openxmlformats.org/drawingml/2006/main">
            <a:off x="757809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Compile</a:t>
            </a:r>
          </a:p>
        </p:txBody>
      </p:sp>
      <p:sp>
        <p:nvSpPr>
          <p:cNvPr id="29" name="">
            <a:extLst xmlns:a="http://schemas.openxmlformats.org/drawingml/2006/main">
              <a:ext uri="{FF2B5EF4-FFF2-40B4-BE49-F238E27FC236}">
                <a16:creationId xmlns:a16="http://schemas.microsoft.com/office/drawing/2014/main" id="{D45CCCC4-61AB-43A7-8FF7-09310B15F99D}"/>
              </a:ext>
            </a:extLst>
          </p:cNvPr>
          <p:cNvSpPr>
            <a:spLocks xmlns:a="http://schemas.openxmlformats.org/drawingml/2006/main" noGrp="1"/>
          </p:cNvSpPr>
          <p:nvPr/>
        </p:nvSpPr>
        <p:spPr>
          <a:xfrm xmlns:a="http://schemas.openxmlformats.org/drawingml/2006/main">
            <a:off x="757809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Build restricted candidates</a:t>
            </a:r>
          </a:p>
        </p:txBody>
      </p:sp>
      <p:sp>
        <p:nvSpPr>
          <p:cNvPr id="30" name="">
            <a:extLst xmlns:a="http://schemas.openxmlformats.org/drawingml/2006/main">
              <a:ext uri="{FF2B5EF4-FFF2-40B4-BE49-F238E27FC236}">
                <a16:creationId xmlns:a16="http://schemas.microsoft.com/office/drawing/2014/main" id="{2B3A681E-94A5-498B-84F6-88E6B48069A3}"/>
              </a:ext>
            </a:extLst>
          </p:cNvPr>
          <p:cNvSpPr>
            <a:spLocks xmlns:a="http://schemas.openxmlformats.org/drawingml/2006/main" noGrp="1"/>
          </p:cNvSpPr>
          <p:nvPr/>
        </p:nvSpPr>
        <p:spPr>
          <a:xfrm xmlns:a="http://schemas.openxmlformats.org/drawingml/2006/main">
            <a:off x="934212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3D00BFC-255A-40CD-9695-6F2CA85954DE}"/>
              </a:ext>
            </a:extLst>
          </p:cNvPr>
          <p:cNvSpPr>
            <a:spLocks xmlns:a="http://schemas.openxmlformats.org/drawingml/2006/main" noGrp="1"/>
          </p:cNvSpPr>
          <p:nvPr/>
        </p:nvSpPr>
        <p:spPr>
          <a:xfrm xmlns:a="http://schemas.openxmlformats.org/drawingml/2006/main">
            <a:off x="9875520" y="2343150"/>
            <a:ext cx="163068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5</a:t>
            </a:r>
          </a:p>
        </p:txBody>
      </p:sp>
      <p:sp>
        <p:nvSpPr>
          <p:cNvPr id="32" name="">
            <a:extLst xmlns:a="http://schemas.openxmlformats.org/drawingml/2006/main">
              <a:ext uri="{FF2B5EF4-FFF2-40B4-BE49-F238E27FC236}">
                <a16:creationId xmlns:a16="http://schemas.microsoft.com/office/drawing/2014/main" id="{A03382A2-E77C-4691-A719-29755B405B08}"/>
              </a:ext>
            </a:extLst>
          </p:cNvPr>
          <p:cNvSpPr>
            <a:spLocks xmlns:a="http://schemas.openxmlformats.org/drawingml/2006/main" noGrp="1"/>
          </p:cNvSpPr>
          <p:nvPr/>
        </p:nvSpPr>
        <p:spPr>
          <a:xfrm xmlns:a="http://schemas.openxmlformats.org/drawingml/2006/main">
            <a:off x="9875520" y="2781300"/>
            <a:ext cx="163068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Diagnose</a:t>
            </a:r>
          </a:p>
        </p:txBody>
      </p:sp>
      <p:sp>
        <p:nvSpPr>
          <p:cNvPr id="33" name="">
            <a:extLst xmlns:a="http://schemas.openxmlformats.org/drawingml/2006/main">
              <a:ext uri="{FF2B5EF4-FFF2-40B4-BE49-F238E27FC236}">
                <a16:creationId xmlns:a16="http://schemas.microsoft.com/office/drawing/2014/main" id="{10A3A683-E1E5-4FA5-B2BC-ED0E8393DE16}"/>
              </a:ext>
            </a:extLst>
          </p:cNvPr>
          <p:cNvSpPr>
            <a:spLocks xmlns:a="http://schemas.openxmlformats.org/drawingml/2006/main" noGrp="1"/>
          </p:cNvSpPr>
          <p:nvPr/>
        </p:nvSpPr>
        <p:spPr>
          <a:xfrm xmlns:a="http://schemas.openxmlformats.org/drawingml/2006/main">
            <a:off x="9875520" y="3390900"/>
            <a:ext cx="163068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350" b="0" i="0">
                <a:solidFill>
                  <a:srgbClr val="283643"/>
                </a:solidFill>
                <a:latin typeface="Arial"/>
                <a:ea typeface="Arial"/>
                <a:cs typeface="Arial"/>
              </a:defRPr>
            </a:pPr>
            <a:r>
              <a:rPr sz="1350" b="0" i="0">
                <a:solidFill>
                  <a:srgbClr val="283643"/>
                </a:solidFill>
                <a:latin typeface="Arial"/>
                <a:ea typeface="Arial"/>
                <a:cs typeface="Arial"/>
              </a:rPr>
              <a:t>Find questions where models disagree</a:t>
            </a:r>
          </a:p>
        </p:txBody>
      </p:sp>
      <p:sp>
        <p:nvSpPr>
          <p:cNvPr id="34" name="">
            <a:extLst xmlns:a="http://schemas.openxmlformats.org/drawingml/2006/main">
              <a:ext uri="{FF2B5EF4-FFF2-40B4-BE49-F238E27FC236}">
                <a16:creationId xmlns:a16="http://schemas.microsoft.com/office/drawing/2014/main" id="{ED3A0DB1-AA2F-4405-B4CB-579EAC7D4C02}"/>
              </a:ext>
            </a:extLst>
          </p:cNvPr>
          <p:cNvSpPr>
            <a:spLocks xmlns:a="http://schemas.openxmlformats.org/drawingml/2006/main" noGrp="1"/>
          </p:cNvSpPr>
          <p:nvPr/>
        </p:nvSpPr>
        <p:spPr>
          <a:xfrm xmlns:a="http://schemas.openxmlformats.org/drawingml/2006/main">
            <a:off x="800100" y="51244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C494935-E482-4F44-8E8C-35D8E1C6F0F4}"/>
              </a:ext>
            </a:extLst>
          </p:cNvPr>
          <p:cNvSpPr>
            <a:spLocks xmlns:a="http://schemas.openxmlformats.org/drawingml/2006/main" noGrp="1"/>
          </p:cNvSpPr>
          <p:nvPr/>
        </p:nvSpPr>
        <p:spPr>
          <a:xfrm xmlns:a="http://schemas.openxmlformats.org/drawingml/2006/main">
            <a:off x="1028700" y="51054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32"/>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notebook is one route: discovery can also begin from behavior, prior theory, or interventions without annotation.</a:t>
            </a:r>
          </a:p>
        </p:txBody>
      </p:sp>
    </p:spTree>
    <p:extLst>
      <p:ext uri="{BB962C8B-B14F-4D97-AF65-F5344CB8AC3E}">
        <p14:creationId xmlns:p14="http://schemas.microsoft.com/office/powerpoint/2010/main" val="742280045"/>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D935869-6FF6-4DA4-8774-6D32B780F52E}"/>
              </a:ext>
            </a:extLst>
          </p:cNvPr>
          <p:cNvSpPr>
            <a:spLocks xmlns:a="http://schemas.openxmlformats.org/drawingml/2006/main" noGrp="1"/>
          </p:cNvSpPr>
          <p:nvPr/>
        </p:nvSpPr>
        <p:spPr>
          <a:xfrm xmlns:a="http://schemas.openxmlformats.org/drawingml/2006/main">
            <a:off x="2000250" y="24384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3900" b="1" i="0">
                <a:solidFill>
                  <a:srgbClr val="111827"/>
                </a:solidFill>
                <a:latin typeface="Arial"/>
                <a:ea typeface="Arial"/>
                <a:cs typeface="Arial"/>
              </a:defRPr>
            </a:pPr>
            <a:r>
              <a:rPr sz="3900" b="1" i="0">
                <a:solidFill>
                  <a:srgbClr val="111827"/>
                </a:solidFill>
                <a:latin typeface="Arial"/>
                <a:ea typeface="Arial"/>
                <a:cs typeface="Arial"/>
              </a:rPr>
              <a:t>Break / 10 minutes</a:t>
            </a:r>
          </a:p>
        </p:txBody>
      </p:sp>
      <p:sp>
        <p:nvSpPr>
          <p:cNvPr id="2" name="">
            <a:extLst xmlns:a="http://schemas.openxmlformats.org/drawingml/2006/main">
              <a:ext uri="{FF2B5EF4-FFF2-40B4-BE49-F238E27FC236}">
                <a16:creationId xmlns:a16="http://schemas.microsoft.com/office/drawing/2014/main" id="{37D837B5-9144-415A-95A8-956FE4233E77}"/>
              </a:ext>
            </a:extLst>
          </p:cNvPr>
          <p:cNvSpPr>
            <a:spLocks xmlns:a="http://schemas.openxmlformats.org/drawingml/2006/main" noGrp="1"/>
          </p:cNvSpPr>
          <p:nvPr/>
        </p:nvSpPr>
        <p:spPr>
          <a:xfrm xmlns:a="http://schemas.openxmlformats.org/drawingml/2006/main">
            <a:off x="5429250" y="3333750"/>
            <a:ext cx="13335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80BE13-B897-4AD5-B2DC-336F666A900E}"/>
              </a:ext>
            </a:extLst>
          </p:cNvPr>
          <p:cNvSpPr>
            <a:spLocks xmlns:a="http://schemas.openxmlformats.org/drawingml/2006/main" noGrp="1"/>
          </p:cNvSpPr>
          <p:nvPr/>
        </p:nvSpPr>
        <p:spPr>
          <a:xfrm xmlns:a="http://schemas.openxmlformats.org/drawingml/2006/main">
            <a:off x="2476500" y="3771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0" i="0">
                <a:solidFill>
                  <a:srgbClr val="667085"/>
                </a:solidFill>
                <a:latin typeface="Arial"/>
                <a:ea typeface="Arial"/>
                <a:cs typeface="Arial"/>
              </a:defRPr>
            </a:pPr>
            <a:r>
              <a:rPr sz="1725" b="0" i="0">
                <a:solidFill>
                  <a:srgbClr val="667085"/>
                </a:solidFill>
                <a:latin typeface="Arial"/>
                <a:ea typeface="Arial"/>
                <a:cs typeface="Arial"/>
              </a:rPr>
              <a:t>After the break: return to the opening choice with stronger scientific claims.</a:t>
            </a:r>
          </a:p>
        </p:txBody>
      </p:sp>
      <p:sp>
        <p:nvSpPr>
          <p:cNvPr id="4" name="">
            <a:extLst xmlns:a="http://schemas.openxmlformats.org/drawingml/2006/main">
              <a:ext uri="{FF2B5EF4-FFF2-40B4-BE49-F238E27FC236}">
                <a16:creationId xmlns:a16="http://schemas.microsoft.com/office/drawing/2014/main" id="{6F62ED93-4D0E-4A76-B9B8-FFBCFA296AD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28A0C39-B35C-4E51-98E1-8F782ECA156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967ACD99-F23E-40AE-BD3D-3BEB0D4BE05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1C9C43A-A267-48B3-9012-6BEC5F0B63C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16CD9EAE-84D9-4E84-9845-7A13E3419E1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8162CD-F86E-4D85-AE47-FDE2410B029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0" name="">
            <a:extLst xmlns:a="http://schemas.openxmlformats.org/drawingml/2006/main">
              <a:ext uri="{FF2B5EF4-FFF2-40B4-BE49-F238E27FC236}">
                <a16:creationId xmlns:a16="http://schemas.microsoft.com/office/drawing/2014/main" id="{37737563-8B41-4589-9D64-864BBA68551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F0342D-25E4-43AD-9693-19E8050ADAB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01BAA25A-7252-40B4-8136-27D4775982A1}"/>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01C5D6-7FEF-413D-8803-903A6AE02B1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Tree>
    <p:extLst>
      <p:ext uri="{BB962C8B-B14F-4D97-AF65-F5344CB8AC3E}">
        <p14:creationId xmlns:p14="http://schemas.microsoft.com/office/powerpoint/2010/main" val="249176005"/>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AA3A910-5ADD-4D9A-A0EF-8A6C0DD3D5D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Return to the original choice with stronger questions</a:t>
            </a:r>
          </a:p>
        </p:txBody>
      </p:sp>
      <p:sp>
        <p:nvSpPr>
          <p:cNvPr id="2" name="">
            <a:extLst xmlns:a="http://schemas.openxmlformats.org/drawingml/2006/main">
              <a:ext uri="{FF2B5EF4-FFF2-40B4-BE49-F238E27FC236}">
                <a16:creationId xmlns:a16="http://schemas.microsoft.com/office/drawing/2014/main" id="{4817B651-9B76-4F53-B52E-82CC838D546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Final synthesis</a:t>
            </a:r>
          </a:p>
        </p:txBody>
      </p:sp>
      <p:sp>
        <p:nvSpPr>
          <p:cNvPr id="3" name="">
            <a:extLst xmlns:a="http://schemas.openxmlformats.org/drawingml/2006/main">
              <a:ext uri="{FF2B5EF4-FFF2-40B4-BE49-F238E27FC236}">
                <a16:creationId xmlns:a16="http://schemas.microsoft.com/office/drawing/2014/main" id="{504EDF53-40A4-4E72-991A-E3A5CA2771C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4944F09-FB0E-4289-9863-DB6D076EC10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70</a:t>
            </a:r>
          </a:p>
        </p:txBody>
      </p:sp>
      <p:sp>
        <p:nvSpPr>
          <p:cNvPr id="5" name="">
            <a:extLst xmlns:a="http://schemas.openxmlformats.org/drawingml/2006/main">
              <a:ext uri="{FF2B5EF4-FFF2-40B4-BE49-F238E27FC236}">
                <a16:creationId xmlns:a16="http://schemas.microsoft.com/office/drawing/2014/main" id="{CD2FDF7A-8F9D-42C1-9B4E-249E54B45CE0}"/>
              </a:ext>
            </a:extLst>
          </p:cNvPr>
          <p:cNvSpPr>
            <a:spLocks xmlns:a="http://schemas.openxmlformats.org/drawingml/2006/main" noGrp="1"/>
          </p:cNvSpPr>
          <p:nvPr/>
        </p:nvSpPr>
        <p:spPr>
          <a:xfrm xmlns:a="http://schemas.openxmlformats.org/drawingml/2006/main">
            <a:off x="8001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Prediction</a:t>
            </a:r>
          </a:p>
        </p:txBody>
      </p:sp>
      <p:sp>
        <p:nvSpPr>
          <p:cNvPr id="6" name="">
            <a:extLst xmlns:a="http://schemas.openxmlformats.org/drawingml/2006/main">
              <a:ext uri="{FF2B5EF4-FFF2-40B4-BE49-F238E27FC236}">
                <a16:creationId xmlns:a16="http://schemas.microsoft.com/office/drawing/2014/main" id="{055A4ABF-63EF-462C-9733-23D878730B4B}"/>
              </a:ext>
            </a:extLst>
          </p:cNvPr>
          <p:cNvSpPr>
            <a:spLocks xmlns:a="http://schemas.openxmlformats.org/drawingml/2006/main" noGrp="1"/>
          </p:cNvSpPr>
          <p:nvPr/>
        </p:nvSpPr>
        <p:spPr>
          <a:xfrm xmlns:a="http://schemas.openxmlformats.org/drawingml/2006/main">
            <a:off x="4095750" y="20955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Which option will P025 choose?</a:t>
            </a:r>
          </a:p>
        </p:txBody>
      </p:sp>
      <p:sp>
        <p:nvSpPr>
          <p:cNvPr id="7" name="">
            <a:extLst xmlns:a="http://schemas.openxmlformats.org/drawingml/2006/main">
              <a:ext uri="{FF2B5EF4-FFF2-40B4-BE49-F238E27FC236}">
                <a16:creationId xmlns:a16="http://schemas.microsoft.com/office/drawing/2014/main" id="{0742E452-F530-4042-83D0-49CACDD4A115}"/>
              </a:ext>
            </a:extLst>
          </p:cNvPr>
          <p:cNvSpPr>
            <a:spLocks xmlns:a="http://schemas.openxmlformats.org/drawingml/2006/main" noGrp="1"/>
          </p:cNvSpPr>
          <p:nvPr/>
        </p:nvSpPr>
        <p:spPr>
          <a:xfrm xmlns:a="http://schemas.openxmlformats.org/drawingml/2006/main">
            <a:off x="800100" y="27241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1DDCC6-436C-4826-B15E-97EB82276801}"/>
              </a:ext>
            </a:extLst>
          </p:cNvPr>
          <p:cNvSpPr>
            <a:spLocks xmlns:a="http://schemas.openxmlformats.org/drawingml/2006/main" noGrp="1"/>
          </p:cNvSpPr>
          <p:nvPr/>
        </p:nvSpPr>
        <p:spPr>
          <a:xfrm xmlns:a="http://schemas.openxmlformats.org/drawingml/2006/main">
            <a:off x="800100" y="2933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Representation</a:t>
            </a:r>
          </a:p>
        </p:txBody>
      </p:sp>
      <p:sp>
        <p:nvSpPr>
          <p:cNvPr id="9" name="">
            <a:extLst xmlns:a="http://schemas.openxmlformats.org/drawingml/2006/main">
              <a:ext uri="{FF2B5EF4-FFF2-40B4-BE49-F238E27FC236}">
                <a16:creationId xmlns:a16="http://schemas.microsoft.com/office/drawing/2014/main" id="{1E3697F3-5CD7-489E-9D1F-2510A3642185}"/>
              </a:ext>
            </a:extLst>
          </p:cNvPr>
          <p:cNvSpPr>
            <a:spLocks xmlns:a="http://schemas.openxmlformats.org/drawingml/2006/main" noGrp="1"/>
          </p:cNvSpPr>
          <p:nvPr/>
        </p:nvSpPr>
        <p:spPr>
          <a:xfrm xmlns:a="http://schemas.openxmlformats.org/drawingml/2006/main">
            <a:off x="4095750" y="29337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What information improves the prediction?</a:t>
            </a:r>
          </a:p>
        </p:txBody>
      </p:sp>
      <p:sp>
        <p:nvSpPr>
          <p:cNvPr id="10" name="">
            <a:extLst xmlns:a="http://schemas.openxmlformats.org/drawingml/2006/main">
              <a:ext uri="{FF2B5EF4-FFF2-40B4-BE49-F238E27FC236}">
                <a16:creationId xmlns:a16="http://schemas.microsoft.com/office/drawing/2014/main" id="{7ADC0FF0-4ADD-496C-8A3D-E662CD0DDE6F}"/>
              </a:ext>
            </a:extLst>
          </p:cNvPr>
          <p:cNvSpPr>
            <a:spLocks xmlns:a="http://schemas.openxmlformats.org/drawingml/2006/main" noGrp="1"/>
          </p:cNvSpPr>
          <p:nvPr/>
        </p:nvSpPr>
        <p:spPr>
          <a:xfrm xmlns:a="http://schemas.openxmlformats.org/drawingml/2006/main">
            <a:off x="800100" y="35623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15EA0A0-9F7F-4F7A-9991-80B34F6D9BAC}"/>
              </a:ext>
            </a:extLst>
          </p:cNvPr>
          <p:cNvSpPr>
            <a:spLocks xmlns:a="http://schemas.openxmlformats.org/drawingml/2006/main" noGrp="1"/>
          </p:cNvSpPr>
          <p:nvPr/>
        </p:nvSpPr>
        <p:spPr>
          <a:xfrm xmlns:a="http://schemas.openxmlformats.org/drawingml/2006/main">
            <a:off x="800100" y="3771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0EB22F5D-B013-4BB4-A432-8890B0F633E5}"/>
              </a:ext>
            </a:extLst>
          </p:cNvPr>
          <p:cNvSpPr>
            <a:spLocks xmlns:a="http://schemas.openxmlformats.org/drawingml/2006/main" noGrp="1"/>
          </p:cNvSpPr>
          <p:nvPr/>
        </p:nvSpPr>
        <p:spPr>
          <a:xfrm xmlns:a="http://schemas.openxmlformats.org/drawingml/2006/main">
            <a:off x="4095750" y="37719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Which counterfactuals follow from that information?</a:t>
            </a:r>
          </a:p>
        </p:txBody>
      </p:sp>
      <p:sp>
        <p:nvSpPr>
          <p:cNvPr id="13" name="">
            <a:extLst xmlns:a="http://schemas.openxmlformats.org/drawingml/2006/main">
              <a:ext uri="{FF2B5EF4-FFF2-40B4-BE49-F238E27FC236}">
                <a16:creationId xmlns:a16="http://schemas.microsoft.com/office/drawing/2014/main" id="{9997994C-7D6F-4AE8-AAAE-5329B4AC2036}"/>
              </a:ext>
            </a:extLst>
          </p:cNvPr>
          <p:cNvSpPr>
            <a:spLocks xmlns:a="http://schemas.openxmlformats.org/drawingml/2006/main" noGrp="1"/>
          </p:cNvSpPr>
          <p:nvPr/>
        </p:nvSpPr>
        <p:spPr>
          <a:xfrm xmlns:a="http://schemas.openxmlformats.org/drawingml/2006/main">
            <a:off x="800100" y="44005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C424ACC-2FE2-4D9E-9596-D63B5C3CD1E0}"/>
              </a:ext>
            </a:extLst>
          </p:cNvPr>
          <p:cNvSpPr>
            <a:spLocks xmlns:a="http://schemas.openxmlformats.org/drawingml/2006/main" noGrp="1"/>
          </p:cNvSpPr>
          <p:nvPr/>
        </p:nvSpPr>
        <p:spPr>
          <a:xfrm xmlns:a="http://schemas.openxmlformats.org/drawingml/2006/main">
            <a:off x="800100" y="4610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A3B35"/>
                </a:solidFill>
                <a:latin typeface="Arial"/>
                <a:ea typeface="Arial"/>
                <a:cs typeface="Arial"/>
              </a:defRPr>
            </a:pPr>
            <a:r>
              <a:rPr sz="1650" b="1" i="0">
                <a:solidFill>
                  <a:srgbClr val="8A3B3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7D9E72B-7283-4EBA-A03A-7505BDDBE174}"/>
              </a:ext>
            </a:extLst>
          </p:cNvPr>
          <p:cNvSpPr>
            <a:spLocks xmlns:a="http://schemas.openxmlformats.org/drawingml/2006/main" noGrp="1"/>
          </p:cNvSpPr>
          <p:nvPr/>
        </p:nvSpPr>
        <p:spPr>
          <a:xfrm xmlns:a="http://schemas.openxmlformats.org/drawingml/2006/main">
            <a:off x="4095750" y="461010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Which executable process survives diagnostic trials?</a:t>
            </a:r>
          </a:p>
        </p:txBody>
      </p:sp>
      <p:sp>
        <p:nvSpPr>
          <p:cNvPr id="16" name="">
            <a:extLst xmlns:a="http://schemas.openxmlformats.org/drawingml/2006/main">
              <a:ext uri="{FF2B5EF4-FFF2-40B4-BE49-F238E27FC236}">
                <a16:creationId xmlns:a16="http://schemas.microsoft.com/office/drawing/2014/main" id="{7938E7B4-8B42-4FDC-9B2B-F9511355E414}"/>
              </a:ext>
            </a:extLst>
          </p:cNvPr>
          <p:cNvSpPr>
            <a:spLocks xmlns:a="http://schemas.openxmlformats.org/drawingml/2006/main" noGrp="1"/>
          </p:cNvSpPr>
          <p:nvPr/>
        </p:nvSpPr>
        <p:spPr>
          <a:xfrm xmlns:a="http://schemas.openxmlformats.org/drawingml/2006/main">
            <a:off x="800100" y="52387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2137974-38D8-4CF0-8AFE-93B84DAE302E}"/>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40990BC-E03B-4736-8CE2-5A9DB59816EE}"/>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technical ladder comes first; stronger scientific claims require stronger evidence.</a:t>
            </a:r>
          </a:p>
        </p:txBody>
      </p:sp>
    </p:spTree>
    <p:extLst>
      <p:ext uri="{BB962C8B-B14F-4D97-AF65-F5344CB8AC3E}">
        <p14:creationId xmlns:p14="http://schemas.microsoft.com/office/powerpoint/2010/main" val="658561546"/>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B0CA3E0-28F8-478D-858F-8C5666F6566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Four ideas to take back to your research</a:t>
            </a:r>
          </a:p>
        </p:txBody>
      </p:sp>
      <p:sp>
        <p:nvSpPr>
          <p:cNvPr id="2" name="">
            <a:extLst xmlns:a="http://schemas.openxmlformats.org/drawingml/2006/main">
              <a:ext uri="{FF2B5EF4-FFF2-40B4-BE49-F238E27FC236}">
                <a16:creationId xmlns:a16="http://schemas.microsoft.com/office/drawing/2014/main" id="{6A3B7DF5-FE64-4828-A8AC-50F6E883A0D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Take-home messages</a:t>
            </a:r>
          </a:p>
        </p:txBody>
      </p:sp>
      <p:sp>
        <p:nvSpPr>
          <p:cNvPr id="3" name="">
            <a:extLst xmlns:a="http://schemas.openxmlformats.org/drawingml/2006/main">
              <a:ext uri="{FF2B5EF4-FFF2-40B4-BE49-F238E27FC236}">
                <a16:creationId xmlns:a16="http://schemas.microsoft.com/office/drawing/2014/main" id="{9E164C0C-10CF-4B11-8B96-8511F746525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8C0AD1-2AD1-4AC4-93FC-8CC7914625F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71</a:t>
            </a:r>
          </a:p>
        </p:txBody>
      </p:sp>
      <p:sp>
        <p:nvSpPr>
          <p:cNvPr id="5" name="">
            <a:extLst xmlns:a="http://schemas.openxmlformats.org/drawingml/2006/main">
              <a:ext uri="{FF2B5EF4-FFF2-40B4-BE49-F238E27FC236}">
                <a16:creationId xmlns:a16="http://schemas.microsoft.com/office/drawing/2014/main" id="{7E6427DA-96E4-4376-AE50-7342DAE510A9}"/>
              </a:ext>
            </a:extLst>
          </p:cNvPr>
          <p:cNvSpPr>
            <a:spLocks xmlns:a="http://schemas.openxmlformats.org/drawingml/2006/main" noGrp="1"/>
          </p:cNvSpPr>
          <p:nvPr/>
        </p:nvSpPr>
        <p:spPr>
          <a:xfrm xmlns:a="http://schemas.openxmlformats.org/drawingml/2006/main">
            <a:off x="800100" y="211455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E747B4CB-EB5D-4248-B8DF-1B00B1A512E3}"/>
              </a:ext>
            </a:extLst>
          </p:cNvPr>
          <p:cNvSpPr>
            <a:spLocks xmlns:a="http://schemas.openxmlformats.org/drawingml/2006/main" noGrp="1"/>
          </p:cNvSpPr>
          <p:nvPr/>
        </p:nvSpPr>
        <p:spPr>
          <a:xfrm xmlns:a="http://schemas.openxmlformats.org/drawingml/2006/main">
            <a:off x="1581150" y="213360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Define prediction by its observation set, output labels, and held-out split.</a:t>
            </a:r>
          </a:p>
        </p:txBody>
      </p:sp>
      <p:sp>
        <p:nvSpPr>
          <p:cNvPr id="7" name="">
            <a:extLst xmlns:a="http://schemas.openxmlformats.org/drawingml/2006/main">
              <a:ext uri="{FF2B5EF4-FFF2-40B4-BE49-F238E27FC236}">
                <a16:creationId xmlns:a16="http://schemas.microsoft.com/office/drawing/2014/main" id="{63071747-EA24-47E4-9D3F-7CD2324CE47C}"/>
              </a:ext>
            </a:extLst>
          </p:cNvPr>
          <p:cNvSpPr>
            <a:spLocks xmlns:a="http://schemas.openxmlformats.org/drawingml/2006/main" noGrp="1"/>
          </p:cNvSpPr>
          <p:nvPr/>
        </p:nvSpPr>
        <p:spPr>
          <a:xfrm xmlns:a="http://schemas.openxmlformats.org/drawingml/2006/main">
            <a:off x="1581150" y="278130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845DF5-CC14-4AF6-84EC-F63BD5C727E9}"/>
              </a:ext>
            </a:extLst>
          </p:cNvPr>
          <p:cNvSpPr>
            <a:spLocks xmlns:a="http://schemas.openxmlformats.org/drawingml/2006/main" noGrp="1"/>
          </p:cNvSpPr>
          <p:nvPr/>
        </p:nvSpPr>
        <p:spPr>
          <a:xfrm xmlns:a="http://schemas.openxmlformats.org/drawingml/2006/main">
            <a:off x="800100" y="29718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309091BE-BBF5-4BD2-852E-CB8ED4E6A0A8}"/>
              </a:ext>
            </a:extLst>
          </p:cNvPr>
          <p:cNvSpPr>
            <a:spLocks xmlns:a="http://schemas.openxmlformats.org/drawingml/2006/main" noGrp="1"/>
          </p:cNvSpPr>
          <p:nvPr/>
        </p:nvSpPr>
        <p:spPr>
          <a:xfrm xmlns:a="http://schemas.openxmlformats.org/drawingml/2006/main">
            <a:off x="1581150" y="299085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52"/>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Improve prediction in a controlled order: current trial, participant history, then fine-tuning.</a:t>
            </a:r>
          </a:p>
        </p:txBody>
      </p:sp>
      <p:sp>
        <p:nvSpPr>
          <p:cNvPr id="10" name="">
            <a:extLst xmlns:a="http://schemas.openxmlformats.org/drawingml/2006/main">
              <a:ext uri="{FF2B5EF4-FFF2-40B4-BE49-F238E27FC236}">
                <a16:creationId xmlns:a16="http://schemas.microsoft.com/office/drawing/2014/main" id="{250F5B31-7FE7-4862-BD04-C7009793F30F}"/>
              </a:ext>
            </a:extLst>
          </p:cNvPr>
          <p:cNvSpPr>
            <a:spLocks xmlns:a="http://schemas.openxmlformats.org/drawingml/2006/main" noGrp="1"/>
          </p:cNvSpPr>
          <p:nvPr/>
        </p:nvSpPr>
        <p:spPr>
          <a:xfrm xmlns:a="http://schemas.openxmlformats.org/drawingml/2006/main">
            <a:off x="1581150" y="363855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A907EC8-F5B4-461F-ACC1-4F1E2BF05431}"/>
              </a:ext>
            </a:extLst>
          </p:cNvPr>
          <p:cNvSpPr>
            <a:spLocks xmlns:a="http://schemas.openxmlformats.org/drawingml/2006/main" noGrp="1"/>
          </p:cNvSpPr>
          <p:nvPr/>
        </p:nvSpPr>
        <p:spPr>
          <a:xfrm xmlns:a="http://schemas.openxmlformats.org/drawingml/2006/main">
            <a:off x="800100" y="382905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6D675670-5B69-41BC-AD74-504F4273D281}"/>
              </a:ext>
            </a:extLst>
          </p:cNvPr>
          <p:cNvSpPr>
            <a:spLocks xmlns:a="http://schemas.openxmlformats.org/drawingml/2006/main" noGrp="1"/>
          </p:cNvSpPr>
          <p:nvPr/>
        </p:nvSpPr>
        <p:spPr>
          <a:xfrm xmlns:a="http://schemas.openxmlformats.org/drawingml/2006/main">
            <a:off x="1581150" y="384810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Use representations and explanations only when they support external tests.</a:t>
            </a:r>
          </a:p>
        </p:txBody>
      </p:sp>
      <p:sp>
        <p:nvSpPr>
          <p:cNvPr id="13" name="">
            <a:extLst xmlns:a="http://schemas.openxmlformats.org/drawingml/2006/main">
              <a:ext uri="{FF2B5EF4-FFF2-40B4-BE49-F238E27FC236}">
                <a16:creationId xmlns:a16="http://schemas.microsoft.com/office/drawing/2014/main" id="{E10ECEC4-D84D-48E3-8F35-D20D88324012}"/>
              </a:ext>
            </a:extLst>
          </p:cNvPr>
          <p:cNvSpPr>
            <a:spLocks xmlns:a="http://schemas.openxmlformats.org/drawingml/2006/main" noGrp="1"/>
          </p:cNvSpPr>
          <p:nvPr/>
        </p:nvSpPr>
        <p:spPr>
          <a:xfrm xmlns:a="http://schemas.openxmlformats.org/drawingml/2006/main">
            <a:off x="1581150" y="449580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FF22662-3ECA-4F67-BFB0-68A1FCCDE7A2}"/>
              </a:ext>
            </a:extLst>
          </p:cNvPr>
          <p:cNvSpPr>
            <a:spLocks xmlns:a="http://schemas.openxmlformats.org/drawingml/2006/main" noGrp="1"/>
          </p:cNvSpPr>
          <p:nvPr/>
        </p:nvSpPr>
        <p:spPr>
          <a:xfrm xmlns:a="http://schemas.openxmlformats.org/drawingml/2006/main">
            <a:off x="800100" y="46863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48A0C572-93D8-4479-AFA1-DE85DB43C406}"/>
              </a:ext>
            </a:extLst>
          </p:cNvPr>
          <p:cNvSpPr>
            <a:spLocks xmlns:a="http://schemas.openxmlformats.org/drawingml/2006/main" noGrp="1"/>
          </p:cNvSpPr>
          <p:nvPr/>
        </p:nvSpPr>
        <p:spPr>
          <a:xfrm xmlns:a="http://schemas.openxmlformats.org/drawingml/2006/main">
            <a:off x="1581150" y="470535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Use model discovery to separate mechanisms, not to bypass identifiability.</a:t>
            </a:r>
          </a:p>
        </p:txBody>
      </p:sp>
    </p:spTree>
    <p:extLst>
      <p:ext uri="{BB962C8B-B14F-4D97-AF65-F5344CB8AC3E}">
        <p14:creationId xmlns:p14="http://schemas.microsoft.com/office/powerpoint/2010/main" val="1050195245"/>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F1E8AA-BDED-41A7-8899-98ACA926E9B6}"/>
              </a:ext>
            </a:extLst>
          </p:cNvPr>
          <p:cNvSpPr>
            <a:spLocks xmlns:a="http://schemas.openxmlformats.org/drawingml/2006/main" noGrp="1"/>
          </p:cNvSpPr>
          <p:nvPr/>
        </p:nvSpPr>
        <p:spPr>
          <a:xfrm xmlns:a="http://schemas.openxmlformats.org/drawingml/2006/main">
            <a:off x="1524000" y="2000250"/>
            <a:ext cx="914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2850" b="1" i="0">
                <a:solidFill>
                  <a:srgbClr val="111827"/>
                </a:solidFill>
                <a:latin typeface="Arial"/>
                <a:ea typeface="Arial"/>
                <a:cs typeface="Arial"/>
              </a:defRPr>
            </a:pPr>
            <a:r>
              <a:rPr sz="2850" b="1" i="0">
                <a:solidFill>
                  <a:srgbClr val="111827"/>
                </a:solidFill>
                <a:latin typeface="Arial"/>
                <a:ea typeface="Arial"/>
                <a:cs typeface="Arial"/>
              </a:rPr>
              <a:t>What additional evidence would convince you</a:t>
            </a:r>
          </a:p>
        </p:txBody>
      </p:sp>
      <p:sp>
        <p:nvSpPr>
          <p:cNvPr id="2" name="">
            <a:extLst xmlns:a="http://schemas.openxmlformats.org/drawingml/2006/main">
              <a:ext uri="{FF2B5EF4-FFF2-40B4-BE49-F238E27FC236}">
                <a16:creationId xmlns:a16="http://schemas.microsoft.com/office/drawing/2014/main" id="{C1853FA0-ED4E-428F-84EC-4362E8699A38}"/>
              </a:ext>
            </a:extLst>
          </p:cNvPr>
          <p:cNvSpPr>
            <a:spLocks xmlns:a="http://schemas.openxmlformats.org/drawingml/2006/main" noGrp="1"/>
          </p:cNvSpPr>
          <p:nvPr/>
        </p:nvSpPr>
        <p:spPr>
          <a:xfrm xmlns:a="http://schemas.openxmlformats.org/drawingml/2006/main">
            <a:off x="1809750" y="2990850"/>
            <a:ext cx="8572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86"/>
          </a:bodyPr>
          <a:lstStyle xmlns:a="http://schemas.openxmlformats.org/drawingml/2006/main"/>
          <a:p xmlns:a="http://schemas.openxmlformats.org/drawingml/2006/main">
            <a:pPr algn="ctr">
              <a:lnSpc>
                <a:spcPct val="102000"/>
              </a:lnSpc>
              <a:buNone/>
              <a:defRPr sz="2925" b="1" i="0">
                <a:solidFill>
                  <a:srgbClr val="315F63"/>
                </a:solidFill>
                <a:latin typeface="Arial"/>
                <a:ea typeface="Arial"/>
                <a:cs typeface="Arial"/>
              </a:defRPr>
            </a:pPr>
            <a:r>
              <a:rPr sz="2925" b="1" i="0">
                <a:solidFill>
                  <a:srgbClr val="315F63"/>
                </a:solidFill>
                <a:latin typeface="Arial"/>
                <a:ea typeface="Arial"/>
                <a:cs typeface="Arial"/>
              </a:rPr>
              <a:t>that a language model had discovered a real human</a:t>
            </a:r>
          </a:p>
          <a:p xmlns:a="http://schemas.openxmlformats.org/drawingml/2006/main">
            <a:pPr algn="ctr">
              <a:lnSpc>
                <a:spcPct val="102000"/>
              </a:lnSpc>
              <a:buNone/>
              <a:defRPr sz="2925" b="1" i="0">
                <a:solidFill>
                  <a:srgbClr val="315F63"/>
                </a:solidFill>
                <a:latin typeface="Arial"/>
                <a:ea typeface="Arial"/>
                <a:cs typeface="Arial"/>
              </a:defRPr>
            </a:pPr>
            <a:r>
              <a:rPr sz="2925" b="1" i="0">
                <a:solidFill>
                  <a:srgbClr val="315F63"/>
                </a:solidFill>
                <a:latin typeface="Arial"/>
                <a:ea typeface="Arial"/>
                <a:cs typeface="Arial"/>
              </a:rPr>
              <a:t>decision mechanism?</a:t>
            </a:r>
          </a:p>
        </p:txBody>
      </p:sp>
      <p:sp>
        <p:nvSpPr>
          <p:cNvPr id="3" name="">
            <a:extLst xmlns:a="http://schemas.openxmlformats.org/drawingml/2006/main">
              <a:ext uri="{FF2B5EF4-FFF2-40B4-BE49-F238E27FC236}">
                <a16:creationId xmlns:a16="http://schemas.microsoft.com/office/drawing/2014/main" id="{796F5FE0-844C-4F26-B0AE-769784284DFC}"/>
              </a:ext>
            </a:extLst>
          </p:cNvPr>
          <p:cNvSpPr>
            <a:spLocks xmlns:a="http://schemas.openxmlformats.org/drawingml/2006/main" noGrp="1"/>
          </p:cNvSpPr>
          <p:nvPr/>
        </p:nvSpPr>
        <p:spPr>
          <a:xfrm xmlns:a="http://schemas.openxmlformats.org/drawingml/2006/main">
            <a:off x="5143500" y="4648200"/>
            <a:ext cx="1905000" cy="381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16BBE2A-EE36-4D51-82DD-4B3ACA497A35}"/>
              </a:ext>
            </a:extLst>
          </p:cNvPr>
          <p:cNvSpPr>
            <a:spLocks xmlns:a="http://schemas.openxmlformats.org/drawingml/2006/main" noGrp="1"/>
          </p:cNvSpPr>
          <p:nvPr/>
        </p:nvSpPr>
        <p:spPr>
          <a:xfrm xmlns:a="http://schemas.openxmlformats.org/drawingml/2006/main">
            <a:off x="3333750" y="514350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667085"/>
                </a:solidFill>
                <a:latin typeface="Arial"/>
                <a:ea typeface="Arial"/>
                <a:cs typeface="Arial"/>
              </a:defRPr>
            </a:pPr>
            <a:r>
              <a:rPr sz="1575" b="0" i="0">
                <a:solidFill>
                  <a:srgbClr val="667085"/>
                </a:solidFill>
                <a:latin typeface="Arial"/>
                <a:ea typeface="Arial"/>
                <a:cs typeface="Arial"/>
              </a:rPr>
              <a:t>Discussion / Questions / Applications</a:t>
            </a:r>
          </a:p>
        </p:txBody>
      </p:sp>
    </p:spTree>
    <p:extLst>
      <p:ext uri="{BB962C8B-B14F-4D97-AF65-F5344CB8AC3E}">
        <p14:creationId xmlns:p14="http://schemas.microsoft.com/office/powerpoint/2010/main" val="137076515"/>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9BEAF56-970A-4A1E-B1FB-933A225263C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Selected references</a:t>
            </a:r>
          </a:p>
        </p:txBody>
      </p:sp>
      <p:sp>
        <p:nvSpPr>
          <p:cNvPr id="2" name="">
            <a:extLst xmlns:a="http://schemas.openxmlformats.org/drawingml/2006/main">
              <a:ext uri="{FF2B5EF4-FFF2-40B4-BE49-F238E27FC236}">
                <a16:creationId xmlns:a16="http://schemas.microsoft.com/office/drawing/2014/main" id="{D7E9873E-3823-4788-9430-0AD22D7A84C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2A638441-D748-4A55-9FAE-0DE8F3A8035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41C2D5-F310-48BD-9EC7-BC3192E0391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73</a:t>
            </a:r>
          </a:p>
        </p:txBody>
      </p:sp>
      <p:sp>
        <p:nvSpPr>
          <p:cNvPr id="5" name="">
            <a:extLst xmlns:a="http://schemas.openxmlformats.org/drawingml/2006/main">
              <a:ext uri="{FF2B5EF4-FFF2-40B4-BE49-F238E27FC236}">
                <a16:creationId xmlns:a16="http://schemas.microsoft.com/office/drawing/2014/main" id="{30D4AA4E-AE01-4260-B7A8-DD6198545C62}"/>
              </a:ext>
            </a:extLst>
          </p:cNvPr>
          <p:cNvSpPr>
            <a:spLocks xmlns:a="http://schemas.openxmlformats.org/drawingml/2006/main" noGrp="1"/>
          </p:cNvSpPr>
          <p:nvPr/>
        </p:nvSpPr>
        <p:spPr>
          <a:xfrm xmlns:a="http://schemas.openxmlformats.org/drawingml/2006/main">
            <a:off x="800100" y="1924050"/>
            <a:ext cx="10477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Vaswani et al. (2017). Attention Is All You Need. arXiv:1706.03762</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Brown et al. (2020). Language Models are Few-Shot Learners. arXiv:2005.14165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Ouyang et al. (2022). Training language models to follow instructions with human feedback. arXiv:2203.02155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Aher, Arriaga, &amp; Kalai (2023). Using LLMs to Simulate Multiple Humans. arXiv:2208.10264</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Argyle et al. (2023). Out of One, Many. Political Analysis, 31(3), 337-351</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Binz &amp; Schulz (2023). Using cognitive psychology to understand GPT-3. PNAS, 120(6)</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Li et al. (2024). Automated Statistical Model Discovery with Language Models. PMLR 235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Xie, Xiong, &amp; Wilson (2023). Text2Decision. NeurIPS 2023 AI for Science Workshop</a:t>
            </a:r>
          </a:p>
        </p:txBody>
      </p:sp>
    </p:spTree>
    <p:extLst>
      <p:ext uri="{BB962C8B-B14F-4D97-AF65-F5344CB8AC3E}">
        <p14:creationId xmlns:p14="http://schemas.microsoft.com/office/powerpoint/2010/main" val="10928086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2026-08-02T22:21:48.0760000Z</dcterms:created>
  <dcterms:modified xsi:type="dcterms:W3CDTF">2026-08-02T22:21:48.0760000Z</dcterms:modified>
</coreProperties>
</file>